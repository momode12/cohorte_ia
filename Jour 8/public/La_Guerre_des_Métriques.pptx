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12192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g9oyu3aogC0H/liJ84kMczxfJR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6.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Roboto-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Courbe ROC — TPR vs FPR</a:t>
            </a:r>
          </a:p>
        </c:rich>
      </c:tx>
      <c:layout/>
      <c:overlay val="0"/>
    </c:title>
    <c:autoTitleDeleted val="0"/>
    <c:plotArea>
      <c:layout/>
      <c:lineChart>
        <c:varyColors val="0"/>
        <c:ser>
          <c:idx val="0"/>
          <c:order val="0"/>
          <c:tx>
            <c:strRef>
              <c:f>Sheet1!$B$1</c:f>
              <c:strCache>
                <c:ptCount val="1"/>
                <c:pt idx="0">
                  <c:v>Modèle (TPR)</c:v>
                </c:pt>
              </c:strCache>
            </c:strRef>
          </c:tx>
          <c:spPr>
            <a:solidFill>
              <a:srgbClr val="1652D9"/>
            </a:solidFill>
            <a:ln w="31750" cap="flat">
              <a:solidFill>
                <a:srgbClr val="1652D9"/>
              </a:solidFill>
              <a:prstDash val="solid"/>
              <a:round/>
            </a:ln>
            <a:effectLst/>
          </c:spPr>
          <c:invertIfNegative val="0"/>
          <c:dLbls>
            <c:numFmt formatCode="#,##0" sourceLinked="0"/>
            <c:txPr>
              <a:bodyPr/>
              <a:lstStyle/>
              <a:p>
                <a:pPr>
                  <a:defRPr b="0" i="0" strike="noStrike" sz="1200" u="none">
                    <a:solidFill>
                      <a:srgbClr val="1F2937"/>
                    </a:solidFill>
                    <a:latin typeface="Arial"/>
                  </a:defRPr>
                </a:pPr>
              </a:p>
            </c:txPr>
            <c:showLegendKey val="0"/>
            <c:showVal val="0"/>
            <c:showCatName val="0"/>
            <c:showSerName val="0"/>
            <c:showPercent val="0"/>
            <c:showBubbleSize val="0"/>
            <c:showLeaderLines val="0"/>
          </c:dLbls>
          <c:marker>
            <c:symbol val="none"/>
            <c:size val="6"/>
            <c:spPr>
              <a:solidFill>
                <a:srgbClr val="1652D9"/>
              </a:solidFill>
              <a:ln w="9525" cap="flat">
                <a:solidFill>
                  <a:srgbClr val="1652D9"/>
                </a:solidFill>
                <a:prstDash val="solid"/>
                <a:round/>
              </a:ln>
              <a:effectLst/>
            </c:spPr>
          </c:marker>
          <c:cat>
            <c:multiLvlStrRef>
              <c:f>Sheet1!$A$2:$A$12</c:f>
              <c:multiLvlStrCache>
                <c:ptCount val="11"/>
                <c:lvl>
                  <c:pt idx="0">
                    <c:v>0</c:v>
                  </c:pt>
                  <c:pt idx="1">
                    <c:v>0.1</c:v>
                  </c:pt>
                  <c:pt idx="2">
                    <c:v>0.2</c:v>
                  </c:pt>
                  <c:pt idx="3">
                    <c:v>0.3</c:v>
                  </c:pt>
                  <c:pt idx="4">
                    <c:v>0.4</c:v>
                  </c:pt>
                  <c:pt idx="5">
                    <c:v>0.5</c:v>
                  </c:pt>
                  <c:pt idx="6">
                    <c:v>0.6</c:v>
                  </c:pt>
                  <c:pt idx="7">
                    <c:v>0.7</c:v>
                  </c:pt>
                  <c:pt idx="8">
                    <c:v>0.8</c:v>
                  </c:pt>
                  <c:pt idx="9">
                    <c:v>0.9</c:v>
                  </c:pt>
                  <c:pt idx="10">
                    <c:v>1.0</c:v>
                  </c:pt>
                </c:lvl>
              </c:multiLvlStrCache>
            </c:multiLvlStrRef>
          </c:cat>
          <c:val>
            <c:numRef>
              <c:f>Sheet1!$B$2:$B$12</c:f>
              <c:numCache>
                <c:formatCode>General</c:formatCode>
                <c:ptCount val="11"/>
                <c:pt idx="0">
                  <c:v>0</c:v>
                </c:pt>
                <c:pt idx="1">
                  <c:v>0.42</c:v>
                </c:pt>
                <c:pt idx="2">
                  <c:v>0.58</c:v>
                </c:pt>
                <c:pt idx="3">
                  <c:v>0.7</c:v>
                </c:pt>
                <c:pt idx="4">
                  <c:v>0.78</c:v>
                </c:pt>
                <c:pt idx="5">
                  <c:v>0.84</c:v>
                </c:pt>
                <c:pt idx="6">
                  <c:v>0.885</c:v>
                </c:pt>
                <c:pt idx="7">
                  <c:v>0.925</c:v>
                </c:pt>
                <c:pt idx="8">
                  <c:v>0.955</c:v>
                </c:pt>
                <c:pt idx="9">
                  <c:v>0.98</c:v>
                </c:pt>
                <c:pt idx="10">
                  <c:v>1</c:v>
                </c:pt>
              </c:numCache>
            </c:numRef>
          </c:val>
          <c:smooth val="0"/>
        </c:ser>
        <c:ser>
          <c:idx val="1"/>
          <c:order val="1"/>
          <c:tx>
            <c:strRef>
              <c:f>Sheet1!$C$1</c:f>
              <c:strCache>
                <c:ptCount val="1"/>
                <c:pt idx="0">
                  <c:v>Hasard</c:v>
                </c:pt>
              </c:strCache>
            </c:strRef>
          </c:tx>
          <c:spPr>
            <a:solidFill>
              <a:srgbClr val="C7CEDD"/>
            </a:solidFill>
            <a:ln w="31750" cap="flat">
              <a:solidFill>
                <a:srgbClr val="C7CEDD"/>
              </a:solidFill>
              <a:prstDash val="solid"/>
              <a:round/>
            </a:ln>
            <a:effectLst/>
          </c:spPr>
          <c:invertIfNegative val="0"/>
          <c:dLbls>
            <c:numFmt formatCode="#,##0" sourceLinked="0"/>
            <c:txPr>
              <a:bodyPr/>
              <a:lstStyle/>
              <a:p>
                <a:pPr>
                  <a:defRPr b="0" i="0" strike="noStrike" sz="1200" u="none">
                    <a:solidFill>
                      <a:srgbClr val="1F2937"/>
                    </a:solidFill>
                    <a:latin typeface="Arial"/>
                  </a:defRPr>
                </a:pPr>
              </a:p>
            </c:txPr>
            <c:showLegendKey val="0"/>
            <c:showVal val="0"/>
            <c:showCatName val="0"/>
            <c:showSerName val="0"/>
            <c:showPercent val="0"/>
            <c:showBubbleSize val="0"/>
            <c:showLeaderLines val="0"/>
          </c:dLbls>
          <c:marker>
            <c:symbol val="none"/>
            <c:size val="6"/>
            <c:spPr>
              <a:solidFill>
                <a:srgbClr val="C7CEDD"/>
              </a:solidFill>
              <a:ln w="9525" cap="flat">
                <a:solidFill>
                  <a:srgbClr val="C7CEDD"/>
                </a:solidFill>
                <a:prstDash val="solid"/>
                <a:round/>
              </a:ln>
              <a:effectLst/>
            </c:spPr>
          </c:marker>
          <c:cat>
            <c:multiLvlStrRef>
              <c:f>Sheet1!$A$2:$A$12</c:f>
              <c:multiLvlStrCache>
                <c:ptCount val="11"/>
                <c:lvl>
                  <c:pt idx="0">
                    <c:v>0</c:v>
                  </c:pt>
                  <c:pt idx="1">
                    <c:v>0.1</c:v>
                  </c:pt>
                  <c:pt idx="2">
                    <c:v>0.2</c:v>
                  </c:pt>
                  <c:pt idx="3">
                    <c:v>0.3</c:v>
                  </c:pt>
                  <c:pt idx="4">
                    <c:v>0.4</c:v>
                  </c:pt>
                  <c:pt idx="5">
                    <c:v>0.5</c:v>
                  </c:pt>
                  <c:pt idx="6">
                    <c:v>0.6</c:v>
                  </c:pt>
                  <c:pt idx="7">
                    <c:v>0.7</c:v>
                  </c:pt>
                  <c:pt idx="8">
                    <c:v>0.8</c:v>
                  </c:pt>
                  <c:pt idx="9">
                    <c:v>0.9</c:v>
                  </c:pt>
                  <c:pt idx="10">
                    <c:v>1.0</c:v>
                  </c:pt>
                </c:lvl>
              </c:multiLvlStrCache>
            </c:multiLvlStrRef>
          </c:cat>
          <c:val>
            <c:numRef>
              <c:f>Sheet1!$C$2:$C$12</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val>
          <c:smooth val="0"/>
        </c:ser>
        <c:dLbls>
          <c:numFmt formatCode="#,##0" sourceLinked="0"/>
          <c:txPr>
            <a:bodyPr/>
            <a:lstStyle/>
            <a:p>
              <a:pPr>
                <a:defRPr b="0" i="0" strike="noStrike" sz="1200" u="none">
                  <a:solidFill>
                    <a:srgbClr val="1F2937"/>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Taux de Faux Positifs (FPR)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A93A6"/>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DEFF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Taux de Vrais Positifs (TPR)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3A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Courbe Precision-Recall</a:t>
            </a:r>
          </a:p>
        </c:rich>
      </c:tx>
      <c:layout/>
      <c:overlay val="0"/>
    </c:title>
    <c:autoTitleDeleted val="0"/>
    <c:plotArea>
      <c:layout/>
      <c:lineChart>
        <c:varyColors val="0"/>
        <c:ser>
          <c:idx val="0"/>
          <c:order val="0"/>
          <c:tx>
            <c:strRef>
              <c:f>Sheet1!$B$1</c:f>
              <c:strCache>
                <c:ptCount val="1"/>
                <c:pt idx="0">
                  <c:v>Précision</c:v>
                </c:pt>
              </c:strCache>
            </c:strRef>
          </c:tx>
          <c:spPr>
            <a:solidFill>
              <a:srgbClr val="E8952F"/>
            </a:solidFill>
            <a:ln w="31750" cap="flat">
              <a:solidFill>
                <a:srgbClr val="E895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952F"/>
              </a:solidFill>
              <a:ln w="9525" cap="flat">
                <a:solidFill>
                  <a:srgbClr val="E8952F"/>
                </a:solidFill>
                <a:prstDash val="solid"/>
                <a:round/>
              </a:ln>
              <a:effectLst/>
            </c:spPr>
          </c:marker>
          <c:cat>
            <c:multiLvlStrRef>
              <c:f>Sheet1!$A$2:$A$12</c:f>
              <c:multiLvlStrCache>
                <c:ptCount val="11"/>
                <c:lvl>
                  <c:pt idx="0">
                    <c:v>0</c:v>
                  </c:pt>
                  <c:pt idx="1">
                    <c:v>0.1</c:v>
                  </c:pt>
                  <c:pt idx="2">
                    <c:v>0.2</c:v>
                  </c:pt>
                  <c:pt idx="3">
                    <c:v>0.3</c:v>
                  </c:pt>
                  <c:pt idx="4">
                    <c:v>0.4</c:v>
                  </c:pt>
                  <c:pt idx="5">
                    <c:v>0.5</c:v>
                  </c:pt>
                  <c:pt idx="6">
                    <c:v>0.6</c:v>
                  </c:pt>
                  <c:pt idx="7">
                    <c:v>0.7</c:v>
                  </c:pt>
                  <c:pt idx="8">
                    <c:v>0.8</c:v>
                  </c:pt>
                  <c:pt idx="9">
                    <c:v>0.9</c:v>
                  </c:pt>
                  <c:pt idx="10">
                    <c:v>1.0</c:v>
                  </c:pt>
                </c:lvl>
              </c:multiLvlStrCache>
            </c:multiLvlStrRef>
          </c:cat>
          <c:val>
            <c:numRef>
              <c:f>Sheet1!$B$2:$B$12</c:f>
              <c:numCache>
                <c:formatCode>General</c:formatCode>
                <c:ptCount val="11"/>
                <c:pt idx="0">
                  <c:v>1</c:v>
                </c:pt>
                <c:pt idx="1">
                  <c:v>0.97</c:v>
                </c:pt>
                <c:pt idx="2">
                  <c:v>0.94</c:v>
                </c:pt>
                <c:pt idx="3">
                  <c:v>0.9</c:v>
                </c:pt>
                <c:pt idx="4">
                  <c:v>0.85</c:v>
                </c:pt>
                <c:pt idx="5">
                  <c:v>0.78</c:v>
                </c:pt>
                <c:pt idx="6">
                  <c:v>0.7</c:v>
                </c:pt>
                <c:pt idx="7">
                  <c:v>0.6</c:v>
                </c:pt>
                <c:pt idx="8">
                  <c:v>0.48</c:v>
                </c:pt>
                <c:pt idx="9">
                  <c:v>0.35</c:v>
                </c:pt>
                <c:pt idx="10">
                  <c:v>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Rappel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A93A6"/>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DEFF5"/>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Précision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3A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050">
              <a:solidFill>
                <a:srgbClr val="1F1F1F"/>
              </a:solidFill>
              <a:highlight>
                <a:srgbClr val="FFFFFF"/>
              </a:highlight>
              <a:latin typeface="Roboto"/>
              <a:ea typeface="Roboto"/>
              <a:cs typeface="Roboto"/>
              <a:sym typeface="Roboto"/>
            </a:endParaRPr>
          </a:p>
        </p:txBody>
      </p:sp>
      <p:sp>
        <p:nvSpPr>
          <p:cNvPr id="85" name="Google Shape;8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332" name="Google Shape;3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354" name="Google Shape;35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377" name="Google Shape;3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414" name="Google Shape;41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439" name="Google Shape;43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464" name="Google Shape;46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513" name="Google Shape;51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535" name="Google Shape;53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685" name="Google Shape;6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.-----Slide 30 : Introduction au Module 8</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Titre : Gouvernance &amp; Éthique de l'Évaluation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Accroche :</a:t>
            </a:r>
            <a:r>
              <a:rPr lang="en-US" sz="1100">
                <a:latin typeface="Arial"/>
                <a:ea typeface="Arial"/>
                <a:cs typeface="Arial"/>
                <a:sym typeface="Arial"/>
              </a:rPr>
              <a:t> "Nous avons optimisé nos modèles pour la précision, le rappel et la rentabilité financière. Mais une question demeure : est-ce que ce que nous avons construit est </a:t>
            </a:r>
            <a:r>
              <a:rPr i="1" lang="en-US" sz="1100">
                <a:latin typeface="Arial"/>
                <a:ea typeface="Arial"/>
                <a:cs typeface="Arial"/>
                <a:sym typeface="Arial"/>
              </a:rPr>
              <a:t>juste</a:t>
            </a:r>
            <a:r>
              <a:rPr lang="en-US" sz="1100">
                <a:latin typeface="Arial"/>
                <a:ea typeface="Arial"/>
                <a:cs typeface="Arial"/>
                <a:sym typeface="Arial"/>
              </a:rPr>
              <a:t> ?"</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Message clé :</a:t>
            </a:r>
            <a:r>
              <a:rPr lang="en-US" sz="1100">
                <a:latin typeface="Arial"/>
                <a:ea typeface="Arial"/>
                <a:cs typeface="Arial"/>
                <a:sym typeface="Arial"/>
              </a:rPr>
              <a:t> "Une métrique n'est jamais neutre. Choisir de privilégier un indicateur plutôt qu'un autre, c'est choisir quels types d'erreurs nous acceptons de faire porter aux utilisateurs. Ce dernier module est le garde-fou."</a:t>
            </a:r>
            <a:endParaRPr sz="1100">
              <a:latin typeface="Arial"/>
              <a:ea typeface="Arial"/>
              <a:cs typeface="Arial"/>
              <a:sym typeface="Arial"/>
            </a:endParaRPr>
          </a:p>
          <a:p>
            <a:pPr indent="0" lvl="0" marL="4572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752" name="Google Shape;75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Clr>
                <a:schemeClr val="dk1"/>
              </a:buClr>
              <a:buSzPts val="1100"/>
              <a:buChar char="●"/>
            </a:pPr>
            <a:r>
              <a:t/>
            </a:r>
            <a:endParaRPr/>
          </a:p>
        </p:txBody>
      </p:sp>
      <p:sp>
        <p:nvSpPr>
          <p:cNvPr id="769" name="Google Shape;76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792" name="Google Shape;79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819" name="Google Shape;81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843" name="Google Shape;84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1200"/>
              </a:spcBef>
              <a:spcAft>
                <a:spcPts val="1200"/>
              </a:spcAft>
              <a:buNone/>
            </a:pPr>
            <a:r>
              <a:t/>
            </a:r>
            <a:endParaRPr/>
          </a:p>
        </p:txBody>
      </p:sp>
      <p:sp>
        <p:nvSpPr>
          <p:cNvPr id="866" name="Google Shape;86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31.png"/><Relationship Id="rId11" Type="http://schemas.openxmlformats.org/officeDocument/2006/relationships/image" Target="../media/image13.png"/><Relationship Id="rId10" Type="http://schemas.openxmlformats.org/officeDocument/2006/relationships/image" Target="../media/image25.png"/><Relationship Id="rId9"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31.png"/><Relationship Id="rId5" Type="http://schemas.openxmlformats.org/officeDocument/2006/relationships/image" Target="../media/image8.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9.png"/><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1.png"/><Relationship Id="rId6" Type="http://schemas.openxmlformats.org/officeDocument/2006/relationships/image" Target="../media/image27.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9.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51.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51.png"/><Relationship Id="rId6" Type="http://schemas.openxmlformats.org/officeDocument/2006/relationships/image" Target="../media/image8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chart" Target="../charts/chart1.xml"/><Relationship Id="rId6"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27.png"/><Relationship Id="rId7"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72.png"/><Relationship Id="rId5" Type="http://schemas.openxmlformats.org/officeDocument/2006/relationships/image" Target="../media/image76.png"/><Relationship Id="rId6" Type="http://schemas.openxmlformats.org/officeDocument/2006/relationships/image" Target="../media/image78.png"/><Relationship Id="rId7" Type="http://schemas.openxmlformats.org/officeDocument/2006/relationships/image" Target="../media/image7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75.png"/><Relationship Id="rId5" Type="http://schemas.openxmlformats.org/officeDocument/2006/relationships/image" Target="../media/image8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8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700"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 name="Google Shape;17;p1"/>
          <p:cNvCxnSpPr/>
          <p:nvPr/>
        </p:nvCxnSpPr>
        <p:spPr>
          <a:xfrm>
            <a:off x="457200" y="566928"/>
            <a:ext cx="11277300"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18" name="Google Shape;18;p1"/>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19" name="Google Shape;19;p1"/>
          <p:cNvSpPr/>
          <p:nvPr/>
        </p:nvSpPr>
        <p:spPr>
          <a:xfrm>
            <a:off x="4267048" y="182880"/>
            <a:ext cx="3657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20" name="Google Shape;20;p1"/>
          <p:cNvSpPr/>
          <p:nvPr/>
        </p:nvSpPr>
        <p:spPr>
          <a:xfrm>
            <a:off x="10180015" y="182880"/>
            <a:ext cx="15546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457200" y="6355080"/>
            <a:ext cx="11277300" cy="0"/>
          </a:xfrm>
          <a:prstGeom prst="straightConnector1">
            <a:avLst/>
          </a:prstGeom>
          <a:noFill/>
          <a:ln cap="flat" cmpd="sng" w="9525">
            <a:solidFill>
              <a:srgbClr val="2B3A6B"/>
            </a:solidFill>
            <a:prstDash val="solid"/>
            <a:round/>
            <a:headEnd len="sm" w="sm" type="none"/>
            <a:tailEnd len="sm" w="sm" type="none"/>
          </a:ln>
        </p:spPr>
      </p:cxnSp>
      <p:sp>
        <p:nvSpPr>
          <p:cNvPr id="22" name="Google Shape;22;p1"/>
          <p:cNvSpPr/>
          <p:nvPr/>
        </p:nvSpPr>
        <p:spPr>
          <a:xfrm>
            <a:off x="457200" y="6473952"/>
            <a:ext cx="2743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8991295" y="6473952"/>
            <a:ext cx="27432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1 / 35</a:t>
            </a:r>
            <a:endParaRPr b="0" i="0" sz="900" u="none" cap="none" strike="noStrike">
              <a:solidFill>
                <a:schemeClr val="dk1"/>
              </a:solidFill>
              <a:latin typeface="Calibri"/>
              <a:ea typeface="Calibri"/>
              <a:cs typeface="Calibri"/>
              <a:sym typeface="Calibri"/>
            </a:endParaRPr>
          </a:p>
        </p:txBody>
      </p:sp>
      <p:grpSp>
        <p:nvGrpSpPr>
          <p:cNvPr id="24" name="Google Shape;24;p1"/>
          <p:cNvGrpSpPr/>
          <p:nvPr/>
        </p:nvGrpSpPr>
        <p:grpSpPr>
          <a:xfrm>
            <a:off x="0" y="0"/>
            <a:ext cx="9144000" cy="5143500"/>
            <a:chOff x="0" y="0"/>
            <a:chExt cx="9144000" cy="5143500"/>
          </a:xfrm>
        </p:grpSpPr>
        <p:pic>
          <p:nvPicPr>
            <p:cNvPr id="25" name="Google Shape;25;p1"/>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26" name="Google Shape;26;p1"/>
            <p:cNvSpPr/>
            <p:nvPr/>
          </p:nvSpPr>
          <p:spPr>
            <a:xfrm>
              <a:off x="1143000" y="2143125"/>
              <a:ext cx="57300" cy="2381400"/>
            </a:xfrm>
            <a:prstGeom prst="roundRect">
              <a:avLst>
                <a:gd fmla="val 50000" name="adj"/>
              </a:avLst>
            </a:prstGeom>
            <a:solidFill>
              <a:srgbClr val="E895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 name="Google Shape;27;p1"/>
          <p:cNvSpPr txBox="1"/>
          <p:nvPr/>
        </p:nvSpPr>
        <p:spPr>
          <a:xfrm>
            <a:off x="1485900" y="2000250"/>
            <a:ext cx="9753600" cy="26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E8952F"/>
                </a:solidFill>
                <a:latin typeface="Arial"/>
                <a:ea typeface="Arial"/>
                <a:cs typeface="Arial"/>
                <a:sym typeface="Arial"/>
              </a:rPr>
              <a:t>R&amp;I Academy</a:t>
            </a:r>
            <a:endParaRPr b="1" sz="1400">
              <a:solidFill>
                <a:srgbClr val="E8952F"/>
              </a:solidFill>
              <a:latin typeface="Arial"/>
              <a:ea typeface="Arial"/>
              <a:cs typeface="Arial"/>
              <a:sym typeface="Arial"/>
            </a:endParaRPr>
          </a:p>
          <a:p>
            <a:pPr indent="0" lvl="0" marL="0" rtl="0" algn="l">
              <a:spcBef>
                <a:spcPts val="900"/>
              </a:spcBef>
              <a:spcAft>
                <a:spcPts val="0"/>
              </a:spcAft>
              <a:buNone/>
            </a:pPr>
            <a:r>
              <a:rPr b="0" lang="en-US" sz="5600">
                <a:solidFill>
                  <a:srgbClr val="FFFFFF"/>
                </a:solidFill>
                <a:latin typeface="Arial"/>
                <a:ea typeface="Arial"/>
                <a:cs typeface="Arial"/>
                <a:sym typeface="Arial"/>
              </a:rPr>
              <a:t>La Guerre des Métriques</a:t>
            </a:r>
            <a:endParaRPr b="0" sz="5600">
              <a:solidFill>
                <a:srgbClr val="FFFFFF"/>
              </a:solidFill>
              <a:latin typeface="Arial"/>
              <a:ea typeface="Arial"/>
              <a:cs typeface="Arial"/>
              <a:sym typeface="Arial"/>
            </a:endParaRPr>
          </a:p>
          <a:p>
            <a:pPr indent="0" lvl="0" marL="0" rtl="0" algn="l">
              <a:spcBef>
                <a:spcPts val="1500"/>
              </a:spcBef>
              <a:spcAft>
                <a:spcPts val="0"/>
              </a:spcAft>
              <a:buNone/>
            </a:pPr>
            <a:r>
              <a:rPr b="0" lang="en-US" sz="1800">
                <a:solidFill>
                  <a:srgbClr val="AEB9D6"/>
                </a:solidFill>
                <a:latin typeface="Arial"/>
                <a:ea typeface="Arial"/>
                <a:cs typeface="Arial"/>
                <a:sym typeface="Arial"/>
              </a:rPr>
              <a:t>L'art de choisir et d'interpréter les critères d'évaluation en Machine Learning</a:t>
            </a:r>
            <a:endParaRPr b="0" sz="1800">
              <a:solidFill>
                <a:srgbClr val="AEB9D6"/>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cxnSp>
        <p:nvCxnSpPr>
          <p:cNvPr id="33" name="Google Shape;33;p2"/>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34" name="Google Shape;34;p2"/>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35" name="Google Shape;35;p2"/>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36" name="Google Shape;36;p2"/>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37" name="Google Shape;37;p2"/>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38" name="Google Shape;38;p2"/>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39" name="Google Shape;39;p2"/>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 / 35</a:t>
            </a:r>
            <a:endParaRPr b="0" i="0" sz="900" u="none" cap="none" strike="noStrike">
              <a:solidFill>
                <a:schemeClr val="dk1"/>
              </a:solidFill>
              <a:latin typeface="Calibri"/>
              <a:ea typeface="Calibri"/>
              <a:cs typeface="Calibri"/>
              <a:sym typeface="Calibri"/>
            </a:endParaRPr>
          </a:p>
        </p:txBody>
      </p:sp>
      <p:pic>
        <p:nvPicPr>
          <p:cNvPr descr="icons/compass.png" id="40" name="Google Shape;40;p2"/>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41" name="Google Shape;41;p2"/>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Programme du Cours — 8 Modules</a:t>
            </a:r>
            <a:endParaRPr b="0" i="0" sz="2400" u="none" cap="none" strike="noStrike">
              <a:solidFill>
                <a:schemeClr val="dk1"/>
              </a:solidFill>
              <a:latin typeface="Calibri"/>
              <a:ea typeface="Calibri"/>
              <a:cs typeface="Calibri"/>
              <a:sym typeface="Calibri"/>
            </a:endParaRPr>
          </a:p>
        </p:txBody>
      </p:sp>
      <p:sp>
        <p:nvSpPr>
          <p:cNvPr id="42" name="Google Shape;42;p2"/>
          <p:cNvSpPr/>
          <p:nvPr/>
        </p:nvSpPr>
        <p:spPr>
          <a:xfrm>
            <a:off x="457200" y="1280160"/>
            <a:ext cx="11277295" cy="530352"/>
          </a:xfrm>
          <a:prstGeom prst="roundRect">
            <a:avLst>
              <a:gd fmla="val 12069"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58368" y="134416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58368" y="134416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pic>
        <p:nvPicPr>
          <p:cNvPr descr="icons/compass.png" id="45" name="Google Shape;45;p2"/>
          <p:cNvPicPr preferRelativeResize="0"/>
          <p:nvPr/>
        </p:nvPicPr>
        <p:blipFill rotWithShape="1">
          <a:blip r:embed="rId4">
            <a:alphaModFix/>
          </a:blip>
          <a:srcRect b="0" l="0" r="0" t="0"/>
          <a:stretch/>
        </p:blipFill>
        <p:spPr>
          <a:xfrm>
            <a:off x="1280160" y="1371600"/>
            <a:ext cx="347472" cy="347472"/>
          </a:xfrm>
          <a:prstGeom prst="rect">
            <a:avLst/>
          </a:prstGeom>
          <a:noFill/>
          <a:ln>
            <a:noFill/>
          </a:ln>
        </p:spPr>
      </p:pic>
      <p:sp>
        <p:nvSpPr>
          <p:cNvPr id="46" name="Google Shape;46;p2"/>
          <p:cNvSpPr/>
          <p:nvPr/>
        </p:nvSpPr>
        <p:spPr>
          <a:xfrm>
            <a:off x="1783080" y="128016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Fondations de l'évaluation</a:t>
            </a:r>
            <a:endParaRPr b="0" i="0" sz="1600" u="none" cap="none" strike="noStrike">
              <a:solidFill>
                <a:schemeClr val="dk1"/>
              </a:solidFill>
              <a:latin typeface="Calibri"/>
              <a:ea typeface="Calibri"/>
              <a:cs typeface="Calibri"/>
              <a:sym typeface="Calibri"/>
            </a:endParaRPr>
          </a:p>
        </p:txBody>
      </p:sp>
      <p:sp>
        <p:nvSpPr>
          <p:cNvPr id="47" name="Google Shape;47;p2"/>
          <p:cNvSpPr/>
          <p:nvPr/>
        </p:nvSpPr>
        <p:spPr>
          <a:xfrm>
            <a:off x="457200" y="1874520"/>
            <a:ext cx="11277295" cy="530352"/>
          </a:xfrm>
          <a:prstGeom prst="roundRect">
            <a:avLst>
              <a:gd fmla="val 1206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58368" y="193852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58368" y="193852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pic>
        <p:nvPicPr>
          <p:cNvPr descr="icons/layergroup.png" id="50" name="Google Shape;50;p2"/>
          <p:cNvPicPr preferRelativeResize="0"/>
          <p:nvPr/>
        </p:nvPicPr>
        <p:blipFill rotWithShape="1">
          <a:blip r:embed="rId5">
            <a:alphaModFix/>
          </a:blip>
          <a:srcRect b="0" l="0" r="0" t="0"/>
          <a:stretch/>
        </p:blipFill>
        <p:spPr>
          <a:xfrm>
            <a:off x="1280160" y="1965960"/>
            <a:ext cx="347472" cy="347472"/>
          </a:xfrm>
          <a:prstGeom prst="rect">
            <a:avLst/>
          </a:prstGeom>
          <a:noFill/>
          <a:ln>
            <a:noFill/>
          </a:ln>
        </p:spPr>
      </p:pic>
      <p:sp>
        <p:nvSpPr>
          <p:cNvPr id="51" name="Google Shape;51;p2"/>
          <p:cNvSpPr/>
          <p:nvPr/>
        </p:nvSpPr>
        <p:spPr>
          <a:xfrm>
            <a:off x="1783080" y="187452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La matrice de confusion</a:t>
            </a:r>
            <a:endParaRPr b="0" i="0" sz="1600" u="none" cap="none" strike="noStrike">
              <a:solidFill>
                <a:schemeClr val="dk1"/>
              </a:solidFill>
              <a:latin typeface="Calibri"/>
              <a:ea typeface="Calibri"/>
              <a:cs typeface="Calibri"/>
              <a:sym typeface="Calibri"/>
            </a:endParaRPr>
          </a:p>
        </p:txBody>
      </p:sp>
      <p:sp>
        <p:nvSpPr>
          <p:cNvPr id="52" name="Google Shape;52;p2"/>
          <p:cNvSpPr/>
          <p:nvPr/>
        </p:nvSpPr>
        <p:spPr>
          <a:xfrm>
            <a:off x="457200" y="2468880"/>
            <a:ext cx="11277295" cy="530352"/>
          </a:xfrm>
          <a:prstGeom prst="roundRect">
            <a:avLst>
              <a:gd fmla="val 12069"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58368" y="253288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58368" y="253288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pic>
        <p:nvPicPr>
          <p:cNvPr descr="icons/triangle.png" id="55" name="Google Shape;55;p2"/>
          <p:cNvPicPr preferRelativeResize="0"/>
          <p:nvPr/>
        </p:nvPicPr>
        <p:blipFill rotWithShape="1">
          <a:blip r:embed="rId6">
            <a:alphaModFix/>
          </a:blip>
          <a:srcRect b="0" l="0" r="0" t="0"/>
          <a:stretch/>
        </p:blipFill>
        <p:spPr>
          <a:xfrm>
            <a:off x="1280160" y="2560320"/>
            <a:ext cx="347472" cy="347472"/>
          </a:xfrm>
          <a:prstGeom prst="rect">
            <a:avLst/>
          </a:prstGeom>
          <a:noFill/>
          <a:ln>
            <a:noFill/>
          </a:ln>
        </p:spPr>
      </p:pic>
      <p:sp>
        <p:nvSpPr>
          <p:cNvPr id="56" name="Google Shape;56;p2"/>
          <p:cNvSpPr/>
          <p:nvPr/>
        </p:nvSpPr>
        <p:spPr>
          <a:xfrm>
            <a:off x="1783080" y="246888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L'Accuracy Trap</a:t>
            </a:r>
            <a:endParaRPr b="0" i="0" sz="1600" u="none" cap="none" strike="noStrike">
              <a:solidFill>
                <a:schemeClr val="dk1"/>
              </a:solidFill>
              <a:latin typeface="Calibri"/>
              <a:ea typeface="Calibri"/>
              <a:cs typeface="Calibri"/>
              <a:sym typeface="Calibri"/>
            </a:endParaRPr>
          </a:p>
        </p:txBody>
      </p:sp>
      <p:sp>
        <p:nvSpPr>
          <p:cNvPr id="57" name="Google Shape;57;p2"/>
          <p:cNvSpPr/>
          <p:nvPr/>
        </p:nvSpPr>
        <p:spPr>
          <a:xfrm>
            <a:off x="457200" y="3063240"/>
            <a:ext cx="11277295" cy="530352"/>
          </a:xfrm>
          <a:prstGeom prst="roundRect">
            <a:avLst>
              <a:gd fmla="val 1206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58368" y="312724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58368" y="312724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pic>
        <p:nvPicPr>
          <p:cNvPr descr="icons/balance.png" id="60" name="Google Shape;60;p2"/>
          <p:cNvPicPr preferRelativeResize="0"/>
          <p:nvPr/>
        </p:nvPicPr>
        <p:blipFill rotWithShape="1">
          <a:blip r:embed="rId7">
            <a:alphaModFix/>
          </a:blip>
          <a:srcRect b="0" l="0" r="0" t="0"/>
          <a:stretch/>
        </p:blipFill>
        <p:spPr>
          <a:xfrm>
            <a:off x="1280160" y="3154680"/>
            <a:ext cx="347472" cy="347472"/>
          </a:xfrm>
          <a:prstGeom prst="rect">
            <a:avLst/>
          </a:prstGeom>
          <a:noFill/>
          <a:ln>
            <a:noFill/>
          </a:ln>
        </p:spPr>
      </p:pic>
      <p:sp>
        <p:nvSpPr>
          <p:cNvPr id="61" name="Google Shape;61;p2"/>
          <p:cNvSpPr/>
          <p:nvPr/>
        </p:nvSpPr>
        <p:spPr>
          <a:xfrm>
            <a:off x="1783080" y="306324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Précision vs Rappel</a:t>
            </a:r>
            <a:endParaRPr b="0" i="0" sz="1600" u="none" cap="none" strike="noStrike">
              <a:solidFill>
                <a:schemeClr val="dk1"/>
              </a:solidFill>
              <a:latin typeface="Calibri"/>
              <a:ea typeface="Calibri"/>
              <a:cs typeface="Calibri"/>
              <a:sym typeface="Calibri"/>
            </a:endParaRPr>
          </a:p>
        </p:txBody>
      </p:sp>
      <p:sp>
        <p:nvSpPr>
          <p:cNvPr id="62" name="Google Shape;62;p2"/>
          <p:cNvSpPr/>
          <p:nvPr/>
        </p:nvSpPr>
        <p:spPr>
          <a:xfrm>
            <a:off x="457200" y="3657600"/>
            <a:ext cx="11277295" cy="530352"/>
          </a:xfrm>
          <a:prstGeom prst="roundRect">
            <a:avLst>
              <a:gd fmla="val 12069"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58368" y="372160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58368" y="372160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pic>
        <p:nvPicPr>
          <p:cNvPr descr="icons/calculator.png" id="65" name="Google Shape;65;p2"/>
          <p:cNvPicPr preferRelativeResize="0"/>
          <p:nvPr/>
        </p:nvPicPr>
        <p:blipFill rotWithShape="1">
          <a:blip r:embed="rId8">
            <a:alphaModFix/>
          </a:blip>
          <a:srcRect b="0" l="0" r="0" t="0"/>
          <a:stretch/>
        </p:blipFill>
        <p:spPr>
          <a:xfrm>
            <a:off x="1280160" y="3749040"/>
            <a:ext cx="347472" cy="347472"/>
          </a:xfrm>
          <a:prstGeom prst="rect">
            <a:avLst/>
          </a:prstGeom>
          <a:noFill/>
          <a:ln>
            <a:noFill/>
          </a:ln>
        </p:spPr>
      </p:pic>
      <p:sp>
        <p:nvSpPr>
          <p:cNvPr id="66" name="Google Shape;66;p2"/>
          <p:cNvSpPr/>
          <p:nvPr/>
        </p:nvSpPr>
        <p:spPr>
          <a:xfrm>
            <a:off x="1783080" y="365760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F1-Score &amp; F-Beta</a:t>
            </a:r>
            <a:endParaRPr b="0" i="0" sz="1600" u="none" cap="none" strike="noStrike">
              <a:solidFill>
                <a:schemeClr val="dk1"/>
              </a:solidFill>
              <a:latin typeface="Calibri"/>
              <a:ea typeface="Calibri"/>
              <a:cs typeface="Calibri"/>
              <a:sym typeface="Calibri"/>
            </a:endParaRPr>
          </a:p>
        </p:txBody>
      </p:sp>
      <p:sp>
        <p:nvSpPr>
          <p:cNvPr id="67" name="Google Shape;67;p2"/>
          <p:cNvSpPr/>
          <p:nvPr/>
        </p:nvSpPr>
        <p:spPr>
          <a:xfrm>
            <a:off x="457200" y="4251960"/>
            <a:ext cx="11277295" cy="530352"/>
          </a:xfrm>
          <a:prstGeom prst="roundRect">
            <a:avLst>
              <a:gd fmla="val 1206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58368" y="431596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58368" y="431596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6</a:t>
            </a:r>
            <a:endParaRPr b="0" i="0" sz="1600" u="none" cap="none" strike="noStrike">
              <a:solidFill>
                <a:schemeClr val="dk1"/>
              </a:solidFill>
              <a:latin typeface="Calibri"/>
              <a:ea typeface="Calibri"/>
              <a:cs typeface="Calibri"/>
              <a:sym typeface="Calibri"/>
            </a:endParaRPr>
          </a:p>
        </p:txBody>
      </p:sp>
      <p:pic>
        <p:nvPicPr>
          <p:cNvPr descr="icons/chartline.png" id="70" name="Google Shape;70;p2"/>
          <p:cNvPicPr preferRelativeResize="0"/>
          <p:nvPr/>
        </p:nvPicPr>
        <p:blipFill rotWithShape="1">
          <a:blip r:embed="rId9">
            <a:alphaModFix/>
          </a:blip>
          <a:srcRect b="0" l="0" r="0" t="0"/>
          <a:stretch/>
        </p:blipFill>
        <p:spPr>
          <a:xfrm>
            <a:off x="1280160" y="4343400"/>
            <a:ext cx="347472" cy="347472"/>
          </a:xfrm>
          <a:prstGeom prst="rect">
            <a:avLst/>
          </a:prstGeom>
          <a:noFill/>
          <a:ln>
            <a:noFill/>
          </a:ln>
        </p:spPr>
      </p:pic>
      <p:sp>
        <p:nvSpPr>
          <p:cNvPr id="71" name="Google Shape;71;p2"/>
          <p:cNvSpPr/>
          <p:nvPr/>
        </p:nvSpPr>
        <p:spPr>
          <a:xfrm>
            <a:off x="1783080" y="425196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Seuils, ROC &amp; PR</a:t>
            </a:r>
            <a:endParaRPr b="0" i="0" sz="1600" u="none" cap="none" strike="noStrike">
              <a:solidFill>
                <a:schemeClr val="dk1"/>
              </a:solidFill>
              <a:latin typeface="Calibri"/>
              <a:ea typeface="Calibri"/>
              <a:cs typeface="Calibri"/>
              <a:sym typeface="Calibri"/>
            </a:endParaRPr>
          </a:p>
        </p:txBody>
      </p:sp>
      <p:sp>
        <p:nvSpPr>
          <p:cNvPr id="72" name="Google Shape;72;p2"/>
          <p:cNvSpPr/>
          <p:nvPr/>
        </p:nvSpPr>
        <p:spPr>
          <a:xfrm>
            <a:off x="457200" y="4846320"/>
            <a:ext cx="11277295" cy="530352"/>
          </a:xfrm>
          <a:prstGeom prst="roundRect">
            <a:avLst>
              <a:gd fmla="val 12069"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58368" y="491032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58368" y="491032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pic>
        <p:nvPicPr>
          <p:cNvPr descr="icons/moneybill.png" id="75" name="Google Shape;75;p2"/>
          <p:cNvPicPr preferRelativeResize="0"/>
          <p:nvPr/>
        </p:nvPicPr>
        <p:blipFill rotWithShape="1">
          <a:blip r:embed="rId10">
            <a:alphaModFix/>
          </a:blip>
          <a:srcRect b="0" l="0" r="0" t="0"/>
          <a:stretch/>
        </p:blipFill>
        <p:spPr>
          <a:xfrm>
            <a:off x="1280160" y="4937760"/>
            <a:ext cx="347472" cy="347472"/>
          </a:xfrm>
          <a:prstGeom prst="rect">
            <a:avLst/>
          </a:prstGeom>
          <a:noFill/>
          <a:ln>
            <a:noFill/>
          </a:ln>
        </p:spPr>
      </p:pic>
      <p:sp>
        <p:nvSpPr>
          <p:cNvPr id="76" name="Google Shape;76;p2"/>
          <p:cNvSpPr/>
          <p:nvPr/>
        </p:nvSpPr>
        <p:spPr>
          <a:xfrm>
            <a:off x="1783080" y="484632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Extensions &amp; synthèse métier</a:t>
            </a:r>
            <a:endParaRPr b="0" i="0" sz="1600" u="none" cap="none" strike="noStrike">
              <a:solidFill>
                <a:schemeClr val="dk1"/>
              </a:solidFill>
              <a:latin typeface="Calibri"/>
              <a:ea typeface="Calibri"/>
              <a:cs typeface="Calibri"/>
              <a:sym typeface="Calibri"/>
            </a:endParaRPr>
          </a:p>
        </p:txBody>
      </p:sp>
      <p:sp>
        <p:nvSpPr>
          <p:cNvPr id="77" name="Google Shape;77;p2"/>
          <p:cNvSpPr/>
          <p:nvPr/>
        </p:nvSpPr>
        <p:spPr>
          <a:xfrm>
            <a:off x="457200" y="5440680"/>
            <a:ext cx="11277295" cy="530352"/>
          </a:xfrm>
          <a:prstGeom prst="roundRect">
            <a:avLst>
              <a:gd fmla="val 1206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658368" y="5504688"/>
            <a:ext cx="402336" cy="402336"/>
          </a:xfrm>
          <a:prstGeom prst="ellipse">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58368" y="550468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8</a:t>
            </a:r>
            <a:endParaRPr b="0" i="0" sz="1600" u="none" cap="none" strike="noStrike">
              <a:solidFill>
                <a:schemeClr val="dk1"/>
              </a:solidFill>
              <a:latin typeface="Calibri"/>
              <a:ea typeface="Calibri"/>
              <a:cs typeface="Calibri"/>
              <a:sym typeface="Calibri"/>
            </a:endParaRPr>
          </a:p>
        </p:txBody>
      </p:sp>
      <p:pic>
        <p:nvPicPr>
          <p:cNvPr descr="icons/usershield.png" id="80" name="Google Shape;80;p2"/>
          <p:cNvPicPr preferRelativeResize="0"/>
          <p:nvPr/>
        </p:nvPicPr>
        <p:blipFill rotWithShape="1">
          <a:blip r:embed="rId11">
            <a:alphaModFix/>
          </a:blip>
          <a:srcRect b="0" l="0" r="0" t="0"/>
          <a:stretch/>
        </p:blipFill>
        <p:spPr>
          <a:xfrm>
            <a:off x="1280160" y="5532120"/>
            <a:ext cx="347472" cy="347472"/>
          </a:xfrm>
          <a:prstGeom prst="rect">
            <a:avLst/>
          </a:prstGeom>
          <a:noFill/>
          <a:ln>
            <a:noFill/>
          </a:ln>
        </p:spPr>
      </p:pic>
      <p:sp>
        <p:nvSpPr>
          <p:cNvPr id="81" name="Google Shape;81;p2"/>
          <p:cNvSpPr/>
          <p:nvPr/>
        </p:nvSpPr>
        <p:spPr>
          <a:xfrm>
            <a:off x="1783080" y="5440680"/>
            <a:ext cx="9814255"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Gouvernance &amp; Éthique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86" name="Shape 86"/>
        <p:cNvGrpSpPr/>
        <p:nvPr/>
      </p:nvGrpSpPr>
      <p:grpSpPr>
        <a:xfrm>
          <a:off x="0" y="0"/>
          <a:ext cx="0" cy="0"/>
          <a:chOff x="0" y="0"/>
          <a:chExt cx="0" cy="0"/>
        </a:xfrm>
      </p:grpSpPr>
      <p:sp>
        <p:nvSpPr>
          <p:cNvPr id="87" name="Google Shape;87;p3"/>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3"/>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89" name="Google Shape;89;p3"/>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90" name="Google Shape;90;p3"/>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91" name="Google Shape;91;p3"/>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92" name="Google Shape;92;p3"/>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93" name="Google Shape;93;p3"/>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94" name="Google Shape;94;p3"/>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3 / 35</a:t>
            </a:r>
            <a:endParaRPr b="0" i="0" sz="900" u="none" cap="none" strike="noStrike">
              <a:solidFill>
                <a:schemeClr val="dk1"/>
              </a:solidFill>
              <a:latin typeface="Calibri"/>
              <a:ea typeface="Calibri"/>
              <a:cs typeface="Calibri"/>
              <a:sym typeface="Calibri"/>
            </a:endParaRPr>
          </a:p>
        </p:txBody>
      </p:sp>
      <p:sp>
        <p:nvSpPr>
          <p:cNvPr id="95" name="Google Shape;95;p3"/>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1</a:t>
            </a:r>
            <a:endParaRPr b="0" i="0" sz="1200" u="none" cap="none" strike="noStrike">
              <a:solidFill>
                <a:schemeClr val="dk1"/>
              </a:solidFill>
              <a:latin typeface="Calibri"/>
              <a:ea typeface="Calibri"/>
              <a:cs typeface="Calibri"/>
              <a:sym typeface="Calibri"/>
            </a:endParaRPr>
          </a:p>
        </p:txBody>
      </p:sp>
      <p:sp>
        <p:nvSpPr>
          <p:cNvPr id="97" name="Google Shape;97;p3"/>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Fondations de l'Évaluation</a:t>
            </a:r>
            <a:endParaRPr b="0" i="0" sz="3400" u="none" cap="none" strike="noStrike">
              <a:solidFill>
                <a:schemeClr val="dk1"/>
              </a:solidFill>
              <a:latin typeface="Calibri"/>
              <a:ea typeface="Calibri"/>
              <a:cs typeface="Calibri"/>
              <a:sym typeface="Calibri"/>
            </a:endParaRPr>
          </a:p>
        </p:txBody>
      </p:sp>
      <p:sp>
        <p:nvSpPr>
          <p:cNvPr id="98" name="Google Shape;98;p3"/>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Pourquoi évaluer un modèle ne se résume jamais à un simple chiffre technique.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cxnSp>
        <p:nvCxnSpPr>
          <p:cNvPr id="104" name="Google Shape;104;p4"/>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105" name="Google Shape;105;p4"/>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106" name="Google Shape;106;p4"/>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107" name="Google Shape;107;p4"/>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108" name="Google Shape;108;p4"/>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109" name="Google Shape;109;p4"/>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110" name="Google Shape;110;p4"/>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4 / 35</a:t>
            </a:r>
            <a:endParaRPr b="0" i="0" sz="900" u="none" cap="none" strike="noStrike">
              <a:solidFill>
                <a:schemeClr val="dk1"/>
              </a:solidFill>
              <a:latin typeface="Calibri"/>
              <a:ea typeface="Calibri"/>
              <a:cs typeface="Calibri"/>
              <a:sym typeface="Calibri"/>
            </a:endParaRPr>
          </a:p>
        </p:txBody>
      </p:sp>
      <p:pic>
        <p:nvPicPr>
          <p:cNvPr descr="icons/compass.png" id="111" name="Google Shape;111;p4"/>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112" name="Google Shape;112;p4"/>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Pourquoi Évaluer un Modèle ?</a:t>
            </a:r>
            <a:endParaRPr b="0" i="0" sz="2400" u="none" cap="none" strike="noStrike">
              <a:solidFill>
                <a:schemeClr val="dk1"/>
              </a:solidFill>
              <a:latin typeface="Calibri"/>
              <a:ea typeface="Calibri"/>
              <a:cs typeface="Calibri"/>
              <a:sym typeface="Calibri"/>
            </a:endParaRPr>
          </a:p>
        </p:txBody>
      </p:sp>
      <p:sp>
        <p:nvSpPr>
          <p:cNvPr id="113" name="Google Shape;113;p4"/>
          <p:cNvSpPr/>
          <p:nvPr/>
        </p:nvSpPr>
        <p:spPr>
          <a:xfrm>
            <a:off x="457200" y="1508760"/>
            <a:ext cx="5501488" cy="4206240"/>
          </a:xfrm>
          <a:prstGeom prst="roundRect">
            <a:avLst>
              <a:gd fmla="val 1739"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rtline.png" id="114" name="Google Shape;114;p4"/>
          <p:cNvPicPr preferRelativeResize="0"/>
          <p:nvPr/>
        </p:nvPicPr>
        <p:blipFill rotWithShape="1">
          <a:blip r:embed="rId5">
            <a:alphaModFix/>
          </a:blip>
          <a:srcRect b="0" l="0" r="0" t="0"/>
          <a:stretch/>
        </p:blipFill>
        <p:spPr>
          <a:xfrm>
            <a:off x="685800" y="1783080"/>
            <a:ext cx="502920" cy="502920"/>
          </a:xfrm>
          <a:prstGeom prst="rect">
            <a:avLst/>
          </a:prstGeom>
          <a:noFill/>
          <a:ln>
            <a:noFill/>
          </a:ln>
        </p:spPr>
      </p:pic>
      <p:sp>
        <p:nvSpPr>
          <p:cNvPr id="115" name="Google Shape;115;p4"/>
          <p:cNvSpPr/>
          <p:nvPr/>
        </p:nvSpPr>
        <p:spPr>
          <a:xfrm>
            <a:off x="685800" y="2423160"/>
            <a:ext cx="504428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Piloter l'apprentissage</a:t>
            </a:r>
            <a:endParaRPr b="0" i="0" sz="1800" u="none" cap="none" strike="noStrike">
              <a:solidFill>
                <a:schemeClr val="dk1"/>
              </a:solidFill>
              <a:latin typeface="Calibri"/>
              <a:ea typeface="Calibri"/>
              <a:cs typeface="Calibri"/>
              <a:sym typeface="Calibri"/>
            </a:endParaRPr>
          </a:p>
        </p:txBody>
      </p:sp>
      <p:sp>
        <p:nvSpPr>
          <p:cNvPr id="116" name="Google Shape;116;p4"/>
          <p:cNvSpPr/>
          <p:nvPr/>
        </p:nvSpPr>
        <p:spPr>
          <a:xfrm>
            <a:off x="685800" y="2926080"/>
            <a:ext cx="4998568"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25000"/>
              </a:lnSpc>
              <a:spcBef>
                <a:spcPts val="0"/>
              </a:spcBef>
              <a:spcAft>
                <a:spcPts val="0"/>
              </a:spcAft>
              <a:buClr>
                <a:srgbClr val="3A4658"/>
              </a:buClr>
              <a:buSzPts val="1400"/>
              <a:buFont typeface="Arial"/>
              <a:buChar char="•"/>
            </a:pPr>
            <a:r>
              <a:rPr b="0" i="0" lang="en-US" sz="1400" u="none" cap="none" strike="noStrike">
                <a:solidFill>
                  <a:srgbClr val="3A4658"/>
                </a:solidFill>
                <a:latin typeface="Arial"/>
                <a:ea typeface="Arial"/>
                <a:cs typeface="Arial"/>
                <a:sym typeface="Arial"/>
              </a:rPr>
              <a:t>Les fonctions de perte guident l'entraînement.</a:t>
            </a:r>
            <a:endParaRPr b="0" i="0" sz="14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400"/>
              <a:buFont typeface="Arial"/>
              <a:buChar char="•"/>
            </a:pPr>
            <a:r>
              <a:rPr b="0" i="0" lang="en-US" sz="1400" u="none" cap="none" strike="noStrike">
                <a:solidFill>
                  <a:srgbClr val="3A4658"/>
                </a:solidFill>
                <a:latin typeface="Arial"/>
                <a:ea typeface="Arial"/>
                <a:cs typeface="Arial"/>
                <a:sym typeface="Arial"/>
              </a:rPr>
              <a:t>Les métriques valident l'utilité réelle sur des données jamais vues.</a:t>
            </a:r>
            <a:endParaRPr b="0" i="0" sz="14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400"/>
              <a:buFont typeface="Arial"/>
              <a:buChar char="•"/>
            </a:pPr>
            <a:r>
              <a:rPr b="0" i="0" lang="en-US" sz="1400" u="none" cap="none" strike="noStrike">
                <a:solidFill>
                  <a:srgbClr val="3A4658"/>
                </a:solidFill>
                <a:latin typeface="Arial"/>
                <a:ea typeface="Arial"/>
                <a:cs typeface="Arial"/>
                <a:sym typeface="Arial"/>
              </a:rPr>
              <a:t>Elles permettent de comparer deux modèles objectivement et de détecter le surapprentissage.</a:t>
            </a:r>
            <a:endParaRPr b="0" i="0" sz="1400" u="none" cap="none" strike="noStrike">
              <a:solidFill>
                <a:schemeClr val="dk1"/>
              </a:solidFill>
              <a:latin typeface="Calibri"/>
              <a:ea typeface="Calibri"/>
              <a:cs typeface="Calibri"/>
              <a:sym typeface="Calibri"/>
            </a:endParaRPr>
          </a:p>
        </p:txBody>
      </p:sp>
      <p:sp>
        <p:nvSpPr>
          <p:cNvPr id="117" name="Google Shape;117;p4"/>
          <p:cNvSpPr/>
          <p:nvPr/>
        </p:nvSpPr>
        <p:spPr>
          <a:xfrm>
            <a:off x="6233008" y="1508760"/>
            <a:ext cx="5501488" cy="4206240"/>
          </a:xfrm>
          <a:prstGeom prst="roundRect">
            <a:avLst>
              <a:gd fmla="val 1739"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ins.png" id="118" name="Google Shape;118;p4"/>
          <p:cNvPicPr preferRelativeResize="0"/>
          <p:nvPr/>
        </p:nvPicPr>
        <p:blipFill rotWithShape="1">
          <a:blip r:embed="rId6">
            <a:alphaModFix/>
          </a:blip>
          <a:srcRect b="0" l="0" r="0" t="0"/>
          <a:stretch/>
        </p:blipFill>
        <p:spPr>
          <a:xfrm>
            <a:off x="6461608" y="1783080"/>
            <a:ext cx="502920" cy="502920"/>
          </a:xfrm>
          <a:prstGeom prst="rect">
            <a:avLst/>
          </a:prstGeom>
          <a:noFill/>
          <a:ln>
            <a:noFill/>
          </a:ln>
        </p:spPr>
      </p:pic>
      <p:sp>
        <p:nvSpPr>
          <p:cNvPr id="119" name="Google Shape;119;p4"/>
          <p:cNvSpPr/>
          <p:nvPr/>
        </p:nvSpPr>
        <p:spPr>
          <a:xfrm>
            <a:off x="6461608" y="2423160"/>
            <a:ext cx="504428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S'aligner avec le métier</a:t>
            </a:r>
            <a:endParaRPr b="0" i="0" sz="1800" u="none" cap="none" strike="noStrike">
              <a:solidFill>
                <a:schemeClr val="dk1"/>
              </a:solidFill>
              <a:latin typeface="Calibri"/>
              <a:ea typeface="Calibri"/>
              <a:cs typeface="Calibri"/>
              <a:sym typeface="Calibri"/>
            </a:endParaRPr>
          </a:p>
        </p:txBody>
      </p:sp>
      <p:sp>
        <p:nvSpPr>
          <p:cNvPr id="120" name="Google Shape;120;p4"/>
          <p:cNvSpPr/>
          <p:nvPr/>
        </p:nvSpPr>
        <p:spPr>
          <a:xfrm>
            <a:off x="6461608" y="2926080"/>
            <a:ext cx="4998568"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25000"/>
              </a:lnSpc>
              <a:spcBef>
                <a:spcPts val="0"/>
              </a:spcBef>
              <a:spcAft>
                <a:spcPts val="0"/>
              </a:spcAft>
              <a:buClr>
                <a:srgbClr val="3A4658"/>
              </a:buClr>
              <a:buSzPts val="1400"/>
              <a:buFont typeface="Arial"/>
              <a:buChar char="•"/>
            </a:pPr>
            <a:r>
              <a:rPr b="0" i="0" lang="en-US" sz="1400" u="none" cap="none" strike="noStrike">
                <a:solidFill>
                  <a:srgbClr val="3A4658"/>
                </a:solidFill>
                <a:latin typeface="Arial"/>
                <a:ea typeface="Arial"/>
                <a:cs typeface="Arial"/>
                <a:sym typeface="Arial"/>
              </a:rPr>
              <a:t>Une métrique doit avoir un sens métier concret (financier, sécuritaire, médical).</a:t>
            </a:r>
            <a:endParaRPr b="0" i="0" sz="14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400"/>
              <a:buFont typeface="Arial"/>
              <a:buChar char="•"/>
            </a:pPr>
            <a:r>
              <a:rPr b="0" i="0" lang="en-US" sz="1400" u="none" cap="none" strike="noStrike">
                <a:solidFill>
                  <a:srgbClr val="3A4658"/>
                </a:solidFill>
                <a:latin typeface="Arial"/>
                <a:ea typeface="Arial"/>
                <a:cs typeface="Arial"/>
                <a:sym typeface="Arial"/>
              </a:rPr>
              <a:t>Elle évite les modèles “performants sur le papier” mais catastrophiques en production.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cxnSp>
        <p:nvCxnSpPr>
          <p:cNvPr id="126" name="Google Shape;126;p5"/>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127" name="Google Shape;127;p5"/>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128" name="Google Shape;128;p5"/>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129" name="Google Shape;129;p5"/>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130" name="Google Shape;130;p5"/>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131" name="Google Shape;131;p5"/>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132" name="Google Shape;132;p5"/>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5 / 35</a:t>
            </a:r>
            <a:endParaRPr b="0" i="0" sz="900" u="none" cap="none" strike="noStrike">
              <a:solidFill>
                <a:schemeClr val="dk1"/>
              </a:solidFill>
              <a:latin typeface="Calibri"/>
              <a:ea typeface="Calibri"/>
              <a:cs typeface="Calibri"/>
              <a:sym typeface="Calibri"/>
            </a:endParaRPr>
          </a:p>
        </p:txBody>
      </p:sp>
      <p:pic>
        <p:nvPicPr>
          <p:cNvPr descr="icons/layergroup.png" id="133" name="Google Shape;133;p5"/>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134" name="Google Shape;134;p5"/>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Trois Familles de Problèmes de Classification</a:t>
            </a:r>
            <a:endParaRPr b="0" i="0" sz="2400" u="none" cap="none" strike="noStrike">
              <a:solidFill>
                <a:schemeClr val="dk1"/>
              </a:solidFill>
              <a:latin typeface="Calibri"/>
              <a:ea typeface="Calibri"/>
              <a:cs typeface="Calibri"/>
              <a:sym typeface="Calibri"/>
            </a:endParaRPr>
          </a:p>
        </p:txBody>
      </p:sp>
      <p:sp>
        <p:nvSpPr>
          <p:cNvPr id="135" name="Google Shape;135;p5"/>
          <p:cNvSpPr/>
          <p:nvPr/>
        </p:nvSpPr>
        <p:spPr>
          <a:xfrm>
            <a:off x="457200" y="1554480"/>
            <a:ext cx="3637178" cy="3566160"/>
          </a:xfrm>
          <a:prstGeom prst="roundRect">
            <a:avLst>
              <a:gd fmla="val 2051"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ullseye.png" id="136" name="Google Shape;136;p5"/>
          <p:cNvPicPr preferRelativeResize="0"/>
          <p:nvPr/>
        </p:nvPicPr>
        <p:blipFill rotWithShape="1">
          <a:blip r:embed="rId5">
            <a:alphaModFix/>
          </a:blip>
          <a:srcRect b="0" l="0" r="0" t="0"/>
          <a:stretch/>
        </p:blipFill>
        <p:spPr>
          <a:xfrm>
            <a:off x="1955749" y="1874520"/>
            <a:ext cx="640080" cy="640080"/>
          </a:xfrm>
          <a:prstGeom prst="rect">
            <a:avLst/>
          </a:prstGeom>
          <a:noFill/>
          <a:ln>
            <a:noFill/>
          </a:ln>
        </p:spPr>
      </p:pic>
      <p:sp>
        <p:nvSpPr>
          <p:cNvPr id="137" name="Google Shape;137;p5"/>
          <p:cNvSpPr/>
          <p:nvPr/>
        </p:nvSpPr>
        <p:spPr>
          <a:xfrm>
            <a:off x="457200" y="2651760"/>
            <a:ext cx="363717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Binaire</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685800" y="3154680"/>
            <a:ext cx="3179978"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2 classes mutuellement exclusives.</a:t>
            </a:r>
            <a:endParaRPr b="0" i="0" sz="1300" u="none" cap="none" strike="noStrike">
              <a:solidFill>
                <a:schemeClr val="dk1"/>
              </a:solidFill>
              <a:latin typeface="Calibri"/>
              <a:ea typeface="Calibri"/>
              <a:cs typeface="Calibri"/>
              <a:sym typeface="Calibri"/>
            </a:endParaRPr>
          </a:p>
        </p:txBody>
      </p:sp>
      <p:sp>
        <p:nvSpPr>
          <p:cNvPr id="139" name="Google Shape;139;p5"/>
          <p:cNvSpPr/>
          <p:nvPr/>
        </p:nvSpPr>
        <p:spPr>
          <a:xfrm>
            <a:off x="685800" y="4160520"/>
            <a:ext cx="3179978" cy="777240"/>
          </a:xfrm>
          <a:prstGeom prst="roundRect">
            <a:avLst>
              <a:gd fmla="val 705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777240" y="4206240"/>
            <a:ext cx="2997098"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150"/>
              <a:buFont typeface="Arial"/>
              <a:buNone/>
            </a:pPr>
            <a:r>
              <a:rPr b="0" i="1" lang="en-US" sz="1150" u="none" cap="none" strike="noStrike">
                <a:solidFill>
                  <a:srgbClr val="1F2937"/>
                </a:solidFill>
                <a:latin typeface="Arial"/>
                <a:ea typeface="Arial"/>
                <a:cs typeface="Arial"/>
                <a:sym typeface="Arial"/>
              </a:rPr>
              <a:t>Sain / Malade — Fraude / Légitime</a:t>
            </a:r>
            <a:endParaRPr b="0" i="0" sz="1150" u="none" cap="none" strike="noStrike">
              <a:solidFill>
                <a:schemeClr val="dk1"/>
              </a:solidFill>
              <a:latin typeface="Calibri"/>
              <a:ea typeface="Calibri"/>
              <a:cs typeface="Calibri"/>
              <a:sym typeface="Calibri"/>
            </a:endParaRPr>
          </a:p>
        </p:txBody>
      </p:sp>
      <p:sp>
        <p:nvSpPr>
          <p:cNvPr id="141" name="Google Shape;141;p5"/>
          <p:cNvSpPr/>
          <p:nvPr/>
        </p:nvSpPr>
        <p:spPr>
          <a:xfrm>
            <a:off x="4277258" y="1554480"/>
            <a:ext cx="3637178" cy="3566160"/>
          </a:xfrm>
          <a:prstGeom prst="roundRect">
            <a:avLst>
              <a:gd fmla="val 2051"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layergroup.png" id="142" name="Google Shape;142;p5"/>
          <p:cNvPicPr preferRelativeResize="0"/>
          <p:nvPr/>
        </p:nvPicPr>
        <p:blipFill rotWithShape="1">
          <a:blip r:embed="rId4">
            <a:alphaModFix/>
          </a:blip>
          <a:srcRect b="0" l="0" r="0" t="0"/>
          <a:stretch/>
        </p:blipFill>
        <p:spPr>
          <a:xfrm>
            <a:off x="5775808" y="1874520"/>
            <a:ext cx="640080" cy="640080"/>
          </a:xfrm>
          <a:prstGeom prst="rect">
            <a:avLst/>
          </a:prstGeom>
          <a:noFill/>
          <a:ln>
            <a:noFill/>
          </a:ln>
        </p:spPr>
      </p:pic>
      <p:sp>
        <p:nvSpPr>
          <p:cNvPr id="143" name="Google Shape;143;p5"/>
          <p:cNvSpPr/>
          <p:nvPr/>
        </p:nvSpPr>
        <p:spPr>
          <a:xfrm>
            <a:off x="4277258" y="2651760"/>
            <a:ext cx="363717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Multiclasse</a:t>
            </a:r>
            <a:endParaRPr b="0" i="0" sz="1800" u="none" cap="none" strike="noStrike">
              <a:solidFill>
                <a:schemeClr val="dk1"/>
              </a:solidFill>
              <a:latin typeface="Calibri"/>
              <a:ea typeface="Calibri"/>
              <a:cs typeface="Calibri"/>
              <a:sym typeface="Calibri"/>
            </a:endParaRPr>
          </a:p>
        </p:txBody>
      </p:sp>
      <p:sp>
        <p:nvSpPr>
          <p:cNvPr id="144" name="Google Shape;144;p5"/>
          <p:cNvSpPr/>
          <p:nvPr/>
        </p:nvSpPr>
        <p:spPr>
          <a:xfrm>
            <a:off x="4505858" y="3154680"/>
            <a:ext cx="3179978"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N classes exclusives : une seule étiquette par instance.</a:t>
            </a:r>
            <a:endParaRPr b="0" i="0" sz="1300" u="none" cap="none" strike="noStrike">
              <a:solidFill>
                <a:schemeClr val="dk1"/>
              </a:solidFill>
              <a:latin typeface="Calibri"/>
              <a:ea typeface="Calibri"/>
              <a:cs typeface="Calibri"/>
              <a:sym typeface="Calibri"/>
            </a:endParaRPr>
          </a:p>
        </p:txBody>
      </p:sp>
      <p:sp>
        <p:nvSpPr>
          <p:cNvPr id="145" name="Google Shape;145;p5"/>
          <p:cNvSpPr/>
          <p:nvPr/>
        </p:nvSpPr>
        <p:spPr>
          <a:xfrm>
            <a:off x="4505858" y="4160520"/>
            <a:ext cx="3179978" cy="777240"/>
          </a:xfrm>
          <a:prstGeom prst="roundRect">
            <a:avLst>
              <a:gd fmla="val 705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4597298" y="4206240"/>
            <a:ext cx="2997098"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150"/>
              <a:buFont typeface="Arial"/>
              <a:buNone/>
            </a:pPr>
            <a:r>
              <a:rPr b="0" i="1" lang="en-US" sz="1150" u="none" cap="none" strike="noStrike">
                <a:solidFill>
                  <a:srgbClr val="1F2937"/>
                </a:solidFill>
                <a:latin typeface="Arial"/>
                <a:ea typeface="Arial"/>
                <a:cs typeface="Arial"/>
                <a:sym typeface="Arial"/>
              </a:rPr>
              <a:t>Chien, Chat, Oiseau…</a:t>
            </a:r>
            <a:endParaRPr b="0" i="0" sz="1150" u="none" cap="none" strike="noStrike">
              <a:solidFill>
                <a:schemeClr val="dk1"/>
              </a:solidFill>
              <a:latin typeface="Calibri"/>
              <a:ea typeface="Calibri"/>
              <a:cs typeface="Calibri"/>
              <a:sym typeface="Calibri"/>
            </a:endParaRPr>
          </a:p>
        </p:txBody>
      </p:sp>
      <p:sp>
        <p:nvSpPr>
          <p:cNvPr id="147" name="Google Shape;147;p5"/>
          <p:cNvSpPr/>
          <p:nvPr/>
        </p:nvSpPr>
        <p:spPr>
          <a:xfrm>
            <a:off x="8097317" y="1554480"/>
            <a:ext cx="3637178" cy="3566160"/>
          </a:xfrm>
          <a:prstGeom prst="roundRect">
            <a:avLst>
              <a:gd fmla="val 2051" name="adj"/>
            </a:avLst>
          </a:prstGeom>
          <a:solidFill>
            <a:srgbClr val="F5F8FE"/>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ags.png" id="148" name="Google Shape;148;p5"/>
          <p:cNvPicPr preferRelativeResize="0"/>
          <p:nvPr/>
        </p:nvPicPr>
        <p:blipFill rotWithShape="1">
          <a:blip r:embed="rId6">
            <a:alphaModFix/>
          </a:blip>
          <a:srcRect b="0" l="0" r="0" t="0"/>
          <a:stretch/>
        </p:blipFill>
        <p:spPr>
          <a:xfrm>
            <a:off x="9595866" y="1874520"/>
            <a:ext cx="640080" cy="640080"/>
          </a:xfrm>
          <a:prstGeom prst="rect">
            <a:avLst/>
          </a:prstGeom>
          <a:noFill/>
          <a:ln>
            <a:noFill/>
          </a:ln>
        </p:spPr>
      </p:pic>
      <p:sp>
        <p:nvSpPr>
          <p:cNvPr id="149" name="Google Shape;149;p5"/>
          <p:cNvSpPr/>
          <p:nvPr/>
        </p:nvSpPr>
        <p:spPr>
          <a:xfrm>
            <a:off x="8097317" y="2651760"/>
            <a:ext cx="363717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Multilabel</a:t>
            </a:r>
            <a:endParaRPr b="0" i="0" sz="1800" u="none" cap="none" strike="noStrike">
              <a:solidFill>
                <a:schemeClr val="dk1"/>
              </a:solidFill>
              <a:latin typeface="Calibri"/>
              <a:ea typeface="Calibri"/>
              <a:cs typeface="Calibri"/>
              <a:sym typeface="Calibri"/>
            </a:endParaRPr>
          </a:p>
        </p:txBody>
      </p:sp>
      <p:sp>
        <p:nvSpPr>
          <p:cNvPr id="150" name="Google Shape;150;p5"/>
          <p:cNvSpPr/>
          <p:nvPr/>
        </p:nvSpPr>
        <p:spPr>
          <a:xfrm>
            <a:off x="8325917" y="3154680"/>
            <a:ext cx="3179978"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Plusieurs étiquettes possibles simultanément.</a:t>
            </a:r>
            <a:endParaRPr b="0" i="0" sz="1300" u="none" cap="none" strike="noStrike">
              <a:solidFill>
                <a:schemeClr val="dk1"/>
              </a:solidFill>
              <a:latin typeface="Calibri"/>
              <a:ea typeface="Calibri"/>
              <a:cs typeface="Calibri"/>
              <a:sym typeface="Calibri"/>
            </a:endParaRPr>
          </a:p>
        </p:txBody>
      </p:sp>
      <p:sp>
        <p:nvSpPr>
          <p:cNvPr id="151" name="Google Shape;151;p5"/>
          <p:cNvSpPr/>
          <p:nvPr/>
        </p:nvSpPr>
        <p:spPr>
          <a:xfrm>
            <a:off x="8325917" y="4160520"/>
            <a:ext cx="3179978" cy="777240"/>
          </a:xfrm>
          <a:prstGeom prst="roundRect">
            <a:avLst>
              <a:gd fmla="val 7059"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8417357" y="4206240"/>
            <a:ext cx="2997098"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150"/>
              <a:buFont typeface="Arial"/>
              <a:buNone/>
            </a:pPr>
            <a:r>
              <a:rPr b="0" i="1" lang="en-US" sz="1150" u="none" cap="none" strike="noStrike">
                <a:solidFill>
                  <a:srgbClr val="1F2937"/>
                </a:solidFill>
                <a:latin typeface="Arial"/>
                <a:ea typeface="Arial"/>
                <a:cs typeface="Arial"/>
                <a:sym typeface="Arial"/>
              </a:rPr>
              <a:t>Tags d'un article, symptômes d'un patient</a:t>
            </a:r>
            <a:endParaRPr b="0" i="0" sz="1150" u="none" cap="none" strike="noStrike">
              <a:solidFill>
                <a:schemeClr val="dk1"/>
              </a:solidFill>
              <a:latin typeface="Calibri"/>
              <a:ea typeface="Calibri"/>
              <a:cs typeface="Calibri"/>
              <a:sym typeface="Calibri"/>
            </a:endParaRPr>
          </a:p>
        </p:txBody>
      </p:sp>
      <p:sp>
        <p:nvSpPr>
          <p:cNvPr id="153" name="Google Shape;153;p5"/>
          <p:cNvSpPr/>
          <p:nvPr/>
        </p:nvSpPr>
        <p:spPr>
          <a:xfrm>
            <a:off x="457200" y="5303520"/>
            <a:ext cx="11277295"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3A6"/>
              </a:buClr>
              <a:buSzPts val="1300"/>
              <a:buFont typeface="Arial"/>
              <a:buNone/>
            </a:pPr>
            <a:r>
              <a:rPr b="0" i="1" lang="en-US" sz="1300" u="none" cap="none" strike="noStrike">
                <a:solidFill>
                  <a:srgbClr val="8A93A6"/>
                </a:solidFill>
                <a:latin typeface="Arial"/>
                <a:ea typeface="Arial"/>
                <a:cs typeface="Arial"/>
                <a:sym typeface="Arial"/>
              </a:rPr>
              <a:t>C'est le socle théorique de toutes les métriques d'évaluation qui suivent.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cxnSp>
        <p:nvCxnSpPr>
          <p:cNvPr id="159" name="Google Shape;159;p6"/>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160" name="Google Shape;160;p6"/>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161" name="Google Shape;161;p6"/>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162" name="Google Shape;162;p6"/>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163" name="Google Shape;163;p6"/>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164" name="Google Shape;164;p6"/>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165" name="Google Shape;165;p6"/>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6 / 35</a:t>
            </a:r>
            <a:endParaRPr b="0" i="0" sz="900" u="none" cap="none" strike="noStrike">
              <a:solidFill>
                <a:schemeClr val="dk1"/>
              </a:solidFill>
              <a:latin typeface="Calibri"/>
              <a:ea typeface="Calibri"/>
              <a:cs typeface="Calibri"/>
              <a:sym typeface="Calibri"/>
            </a:endParaRPr>
          </a:p>
        </p:txBody>
      </p:sp>
      <p:pic>
        <p:nvPicPr>
          <p:cNvPr descr="icons/sliders.png" id="166" name="Google Shape;166;p6"/>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167" name="Google Shape;167;p6"/>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De la Probabilité à la Décision</a:t>
            </a:r>
            <a:endParaRPr b="0" i="0" sz="2400" u="none" cap="none" strike="noStrike">
              <a:solidFill>
                <a:schemeClr val="dk1"/>
              </a:solidFill>
              <a:latin typeface="Calibri"/>
              <a:ea typeface="Calibri"/>
              <a:cs typeface="Calibri"/>
              <a:sym typeface="Calibri"/>
            </a:endParaRPr>
          </a:p>
        </p:txBody>
      </p:sp>
      <p:sp>
        <p:nvSpPr>
          <p:cNvPr id="168" name="Google Shape;168;p6"/>
          <p:cNvSpPr/>
          <p:nvPr/>
        </p:nvSpPr>
        <p:spPr>
          <a:xfrm>
            <a:off x="457200" y="1417320"/>
            <a:ext cx="11277295"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400"/>
              <a:buFont typeface="Arial"/>
              <a:buNone/>
            </a:pPr>
            <a:r>
              <a:rPr b="0" i="0" lang="en-US" sz="1400" u="none" cap="none" strike="noStrike">
                <a:solidFill>
                  <a:srgbClr val="3A4658"/>
                </a:solidFill>
                <a:latin typeface="Arial"/>
                <a:ea typeface="Arial"/>
                <a:cs typeface="Arial"/>
                <a:sym typeface="Arial"/>
              </a:rPr>
              <a:t>La plupart des modèles (régression logistique, XGBoost, réseaux de neurones) ne prédisent pas une classe : ils prédisent une probabilité continue entre 0 et 1.</a:t>
            </a:r>
            <a:endParaRPr b="0" i="0" sz="1400" u="none" cap="none" strike="noStrike">
              <a:solidFill>
                <a:schemeClr val="dk1"/>
              </a:solidFill>
              <a:latin typeface="Calibri"/>
              <a:ea typeface="Calibri"/>
              <a:cs typeface="Calibri"/>
              <a:sym typeface="Calibri"/>
            </a:endParaRPr>
          </a:p>
        </p:txBody>
      </p:sp>
      <p:sp>
        <p:nvSpPr>
          <p:cNvPr id="169" name="Google Shape;169;p6"/>
          <p:cNvSpPr/>
          <p:nvPr/>
        </p:nvSpPr>
        <p:spPr>
          <a:xfrm>
            <a:off x="1097280" y="2468880"/>
            <a:ext cx="9997135" cy="502920"/>
          </a:xfrm>
          <a:prstGeom prst="roundRect">
            <a:avLst>
              <a:gd fmla="val 49091" name="adj"/>
            </a:avLst>
          </a:prstGeom>
          <a:solidFill>
            <a:srgbClr val="EDEF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1097280" y="2468880"/>
            <a:ext cx="4998568" cy="502920"/>
          </a:xfrm>
          <a:prstGeom prst="roundRect">
            <a:avLst>
              <a:gd fmla="val 49091" name="adj"/>
            </a:avLst>
          </a:prstGeom>
          <a:solidFill>
            <a:srgbClr val="AFC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6095848" y="2468880"/>
            <a:ext cx="4998568" cy="502920"/>
          </a:xfrm>
          <a:prstGeom prst="roundRect">
            <a:avLst>
              <a:gd fmla="val 16667"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6077560" y="2331720"/>
            <a:ext cx="36576" cy="777240"/>
          </a:xfrm>
          <a:prstGeom prst="rect">
            <a:avLst/>
          </a:prstGeom>
          <a:solidFill>
            <a:srgbClr val="D94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410048" y="3035808"/>
            <a:ext cx="1371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463A"/>
              </a:buClr>
              <a:buSzPts val="1100"/>
              <a:buFont typeface="Arial"/>
              <a:buNone/>
            </a:pPr>
            <a:r>
              <a:rPr b="1" i="0" lang="en-US" sz="1100" u="none" cap="none" strike="noStrike">
                <a:solidFill>
                  <a:srgbClr val="D9463A"/>
                </a:solidFill>
                <a:latin typeface="Arial"/>
                <a:ea typeface="Arial"/>
                <a:cs typeface="Arial"/>
                <a:sym typeface="Arial"/>
              </a:rPr>
              <a:t>Seuil = 0.5</a:t>
            </a:r>
            <a:endParaRPr b="0" i="0" sz="1100" u="none" cap="none" strike="noStrike">
              <a:solidFill>
                <a:schemeClr val="dk1"/>
              </a:solidFill>
              <a:latin typeface="Calibri"/>
              <a:ea typeface="Calibri"/>
              <a:cs typeface="Calibri"/>
              <a:sym typeface="Calibri"/>
            </a:endParaRPr>
          </a:p>
        </p:txBody>
      </p:sp>
      <p:sp>
        <p:nvSpPr>
          <p:cNvPr id="174" name="Google Shape;174;p6"/>
          <p:cNvSpPr/>
          <p:nvPr/>
        </p:nvSpPr>
        <p:spPr>
          <a:xfrm>
            <a:off x="1097280" y="2084832"/>
            <a:ext cx="2743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A6"/>
              </a:buClr>
              <a:buSzPts val="1100"/>
              <a:buFont typeface="Arial"/>
              <a:buNone/>
            </a:pPr>
            <a:r>
              <a:rPr b="0" i="0" lang="en-US" sz="1100" u="none" cap="none" strike="noStrike">
                <a:solidFill>
                  <a:srgbClr val="8A93A6"/>
                </a:solidFill>
                <a:latin typeface="Arial"/>
                <a:ea typeface="Arial"/>
                <a:cs typeface="Arial"/>
                <a:sym typeface="Arial"/>
              </a:rPr>
              <a:t>0.0 — probabilité faible</a:t>
            </a:r>
            <a:endParaRPr b="0" i="0" sz="1100" u="none" cap="none" strike="noStrike">
              <a:solidFill>
                <a:schemeClr val="dk1"/>
              </a:solidFill>
              <a:latin typeface="Calibri"/>
              <a:ea typeface="Calibri"/>
              <a:cs typeface="Calibri"/>
              <a:sym typeface="Calibri"/>
            </a:endParaRPr>
          </a:p>
        </p:txBody>
      </p:sp>
      <p:sp>
        <p:nvSpPr>
          <p:cNvPr id="175" name="Google Shape;175;p6"/>
          <p:cNvSpPr/>
          <p:nvPr/>
        </p:nvSpPr>
        <p:spPr>
          <a:xfrm>
            <a:off x="8351215" y="2084832"/>
            <a:ext cx="2743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3A6"/>
              </a:buClr>
              <a:buSzPts val="1100"/>
              <a:buFont typeface="Arial"/>
              <a:buNone/>
            </a:pPr>
            <a:r>
              <a:rPr b="0" i="0" lang="en-US" sz="1100" u="none" cap="none" strike="noStrike">
                <a:solidFill>
                  <a:srgbClr val="8A93A6"/>
                </a:solidFill>
                <a:latin typeface="Arial"/>
                <a:ea typeface="Arial"/>
                <a:cs typeface="Arial"/>
                <a:sym typeface="Arial"/>
              </a:rPr>
              <a:t>1.0 — probabilité forte</a:t>
            </a:r>
            <a:endParaRPr b="0" i="0" sz="1100" u="none" cap="none" strike="noStrike">
              <a:solidFill>
                <a:schemeClr val="dk1"/>
              </a:solidFill>
              <a:latin typeface="Calibri"/>
              <a:ea typeface="Calibri"/>
              <a:cs typeface="Calibri"/>
              <a:sym typeface="Calibri"/>
            </a:endParaRPr>
          </a:p>
        </p:txBody>
      </p:sp>
      <p:sp>
        <p:nvSpPr>
          <p:cNvPr id="176" name="Google Shape;176;p6"/>
          <p:cNvSpPr/>
          <p:nvPr/>
        </p:nvSpPr>
        <p:spPr>
          <a:xfrm>
            <a:off x="457200" y="3474720"/>
            <a:ext cx="5501488" cy="2103120"/>
          </a:xfrm>
          <a:prstGeom prst="roundRect">
            <a:avLst>
              <a:gd fmla="val 3478"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685800" y="365760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Ground Truth</a:t>
            </a:r>
            <a:endParaRPr b="0" i="0" sz="1500" u="none" cap="none" strike="noStrike">
              <a:solidFill>
                <a:schemeClr val="dk1"/>
              </a:solidFill>
              <a:latin typeface="Calibri"/>
              <a:ea typeface="Calibri"/>
              <a:cs typeface="Calibri"/>
              <a:sym typeface="Calibri"/>
            </a:endParaRPr>
          </a:p>
        </p:txBody>
      </p:sp>
      <p:sp>
        <p:nvSpPr>
          <p:cNvPr id="178" name="Google Shape;178;p6"/>
          <p:cNvSpPr/>
          <p:nvPr/>
        </p:nvSpPr>
        <p:spPr>
          <a:xfrm>
            <a:off x="685800" y="4069080"/>
            <a:ext cx="5044288"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La valeur réelle constatée : la référence absolue à laquelle on compare chaque prédiction. Elle peut elle-même contenir du bruit (erreurs d'annotation, délais de révélation).</a:t>
            </a:r>
            <a:endParaRPr b="0" i="0" sz="1250" u="none" cap="none" strike="noStrike">
              <a:solidFill>
                <a:schemeClr val="dk1"/>
              </a:solidFill>
              <a:latin typeface="Calibri"/>
              <a:ea typeface="Calibri"/>
              <a:cs typeface="Calibri"/>
              <a:sym typeface="Calibri"/>
            </a:endParaRPr>
          </a:p>
        </p:txBody>
      </p:sp>
      <p:sp>
        <p:nvSpPr>
          <p:cNvPr id="179" name="Google Shape;179;p6"/>
          <p:cNvSpPr/>
          <p:nvPr/>
        </p:nvSpPr>
        <p:spPr>
          <a:xfrm>
            <a:off x="6233008" y="3474720"/>
            <a:ext cx="5501488" cy="2103120"/>
          </a:xfrm>
          <a:prstGeom prst="roundRect">
            <a:avLst>
              <a:gd fmla="val 3478"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6461608" y="365760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Le rôle du seuil</a:t>
            </a:r>
            <a:endParaRPr b="0" i="0" sz="1500" u="none" cap="none" strike="noStrike">
              <a:solidFill>
                <a:schemeClr val="dk1"/>
              </a:solidFill>
              <a:latin typeface="Calibri"/>
              <a:ea typeface="Calibri"/>
              <a:cs typeface="Calibri"/>
              <a:sym typeface="Calibri"/>
            </a:endParaRPr>
          </a:p>
        </p:txBody>
      </p:sp>
      <p:sp>
        <p:nvSpPr>
          <p:cNvPr id="181" name="Google Shape;181;p6"/>
          <p:cNvSpPr/>
          <p:nvPr/>
        </p:nvSpPr>
        <p:spPr>
          <a:xfrm>
            <a:off x="6461608" y="4069080"/>
            <a:ext cx="5044288"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Faire varier le curseur modifie dynamiquement toute la matrice de confusion — sans changer d'algorithme. C'est un levier d'optimisation à part entière.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186" name="Shape 186"/>
        <p:cNvGrpSpPr/>
        <p:nvPr/>
      </p:nvGrpSpPr>
      <p:grpSpPr>
        <a:xfrm>
          <a:off x="0" y="0"/>
          <a:ext cx="0" cy="0"/>
          <a:chOff x="0" y="0"/>
          <a:chExt cx="0" cy="0"/>
        </a:xfrm>
      </p:grpSpPr>
      <p:sp>
        <p:nvSpPr>
          <p:cNvPr id="187" name="Google Shape;187;p7"/>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 name="Google Shape;188;p7"/>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189" name="Google Shape;189;p7"/>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190" name="Google Shape;190;p7"/>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191" name="Google Shape;191;p7"/>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192" name="Google Shape;192;p7"/>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193" name="Google Shape;193;p7"/>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194" name="Google Shape;194;p7"/>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7 / 35</a:t>
            </a:r>
            <a:endParaRPr b="0" i="0" sz="900" u="none" cap="none" strike="noStrike">
              <a:solidFill>
                <a:schemeClr val="dk1"/>
              </a:solidFill>
              <a:latin typeface="Calibri"/>
              <a:ea typeface="Calibri"/>
              <a:cs typeface="Calibri"/>
              <a:sym typeface="Calibri"/>
            </a:endParaRPr>
          </a:p>
        </p:txBody>
      </p:sp>
      <p:sp>
        <p:nvSpPr>
          <p:cNvPr id="195" name="Google Shape;195;p7"/>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2</a:t>
            </a:r>
            <a:endParaRPr b="0" i="0" sz="1200" u="none" cap="none" strike="noStrike">
              <a:solidFill>
                <a:schemeClr val="dk1"/>
              </a:solidFill>
              <a:latin typeface="Calibri"/>
              <a:ea typeface="Calibri"/>
              <a:cs typeface="Calibri"/>
              <a:sym typeface="Calibri"/>
            </a:endParaRPr>
          </a:p>
        </p:txBody>
      </p:sp>
      <p:sp>
        <p:nvSpPr>
          <p:cNvPr id="197" name="Google Shape;197;p7"/>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La Matrice de Confusion</a:t>
            </a:r>
            <a:endParaRPr b="0" i="0" sz="3400" u="none" cap="none" strike="noStrike">
              <a:solidFill>
                <a:schemeClr val="dk1"/>
              </a:solidFill>
              <a:latin typeface="Calibri"/>
              <a:ea typeface="Calibri"/>
              <a:cs typeface="Calibri"/>
              <a:sym typeface="Calibri"/>
            </a:endParaRPr>
          </a:p>
        </p:txBody>
      </p:sp>
      <p:sp>
        <p:nvSpPr>
          <p:cNvPr id="198" name="Google Shape;198;p7"/>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L'anatomie du jugement : les 4 sous-ensembles fondamentaux de la décision binaire.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cxnSp>
        <p:nvCxnSpPr>
          <p:cNvPr id="204" name="Google Shape;204;p8"/>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205" name="Google Shape;205;p8"/>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206" name="Google Shape;206;p8"/>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207" name="Google Shape;207;p8"/>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208" name="Google Shape;208;p8"/>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209" name="Google Shape;209;p8"/>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210" name="Google Shape;210;p8"/>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8 / 35</a:t>
            </a:r>
            <a:endParaRPr b="0" i="0" sz="900" u="none" cap="none" strike="noStrike">
              <a:solidFill>
                <a:schemeClr val="dk1"/>
              </a:solidFill>
              <a:latin typeface="Calibri"/>
              <a:ea typeface="Calibri"/>
              <a:cs typeface="Calibri"/>
              <a:sym typeface="Calibri"/>
            </a:endParaRPr>
          </a:p>
        </p:txBody>
      </p:sp>
      <p:pic>
        <p:nvPicPr>
          <p:cNvPr descr="icons/layergroup.png" id="211" name="Google Shape;211;p8"/>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212" name="Google Shape;212;p8"/>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La Matrice de Confusion : Anatomie Visuelle</a:t>
            </a:r>
            <a:endParaRPr b="0" i="0" sz="2400" u="none" cap="none" strike="noStrike">
              <a:solidFill>
                <a:schemeClr val="dk1"/>
              </a:solidFill>
              <a:latin typeface="Calibri"/>
              <a:ea typeface="Calibri"/>
              <a:cs typeface="Calibri"/>
              <a:sym typeface="Calibri"/>
            </a:endParaRPr>
          </a:p>
        </p:txBody>
      </p:sp>
      <p:sp>
        <p:nvSpPr>
          <p:cNvPr id="213" name="Google Shape;213;p8"/>
          <p:cNvSpPr/>
          <p:nvPr/>
        </p:nvSpPr>
        <p:spPr>
          <a:xfrm>
            <a:off x="2468880" y="1051560"/>
            <a:ext cx="4206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Réel Positif</a:t>
            </a:r>
            <a:endParaRPr b="0" i="0" sz="1300" u="none" cap="none" strike="noStrike">
              <a:solidFill>
                <a:schemeClr val="dk1"/>
              </a:solidFill>
              <a:latin typeface="Calibri"/>
              <a:ea typeface="Calibri"/>
              <a:cs typeface="Calibri"/>
              <a:sym typeface="Calibri"/>
            </a:endParaRPr>
          </a:p>
        </p:txBody>
      </p:sp>
      <p:sp>
        <p:nvSpPr>
          <p:cNvPr id="214" name="Google Shape;214;p8"/>
          <p:cNvSpPr/>
          <p:nvPr/>
        </p:nvSpPr>
        <p:spPr>
          <a:xfrm>
            <a:off x="6812280" y="1051560"/>
            <a:ext cx="4206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Réel Négatif</a:t>
            </a:r>
            <a:endParaRPr b="0" i="0" sz="1300" u="none" cap="none" strike="noStrike">
              <a:solidFill>
                <a:schemeClr val="dk1"/>
              </a:solidFill>
              <a:latin typeface="Calibri"/>
              <a:ea typeface="Calibri"/>
              <a:cs typeface="Calibri"/>
              <a:sym typeface="Calibri"/>
            </a:endParaRPr>
          </a:p>
        </p:txBody>
      </p:sp>
      <p:sp>
        <p:nvSpPr>
          <p:cNvPr id="215" name="Google Shape;215;p8"/>
          <p:cNvSpPr/>
          <p:nvPr/>
        </p:nvSpPr>
        <p:spPr>
          <a:xfrm>
            <a:off x="457200" y="1508760"/>
            <a:ext cx="1828800" cy="1965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Prédit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Positif</a:t>
            </a:r>
            <a:endParaRPr b="0" i="0" sz="1300" u="none" cap="none" strike="noStrike">
              <a:solidFill>
                <a:schemeClr val="dk1"/>
              </a:solidFill>
              <a:latin typeface="Calibri"/>
              <a:ea typeface="Calibri"/>
              <a:cs typeface="Calibri"/>
              <a:sym typeface="Calibri"/>
            </a:endParaRPr>
          </a:p>
        </p:txBody>
      </p:sp>
      <p:sp>
        <p:nvSpPr>
          <p:cNvPr id="216" name="Google Shape;216;p8"/>
          <p:cNvSpPr/>
          <p:nvPr/>
        </p:nvSpPr>
        <p:spPr>
          <a:xfrm>
            <a:off x="457200" y="3611880"/>
            <a:ext cx="1828800" cy="1965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Prédit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2937"/>
              </a:buClr>
              <a:buSzPts val="1300"/>
              <a:buFont typeface="Arial"/>
              <a:buNone/>
            </a:pPr>
            <a:r>
              <a:rPr b="1" i="0" lang="en-US" sz="1300" u="none" cap="none" strike="noStrike">
                <a:solidFill>
                  <a:srgbClr val="1F2937"/>
                </a:solidFill>
                <a:latin typeface="Arial"/>
                <a:ea typeface="Arial"/>
                <a:cs typeface="Arial"/>
                <a:sym typeface="Arial"/>
              </a:rPr>
              <a:t>Négatif</a:t>
            </a:r>
            <a:endParaRPr b="0" i="0" sz="1300" u="none" cap="none" strike="noStrike">
              <a:solidFill>
                <a:schemeClr val="dk1"/>
              </a:solidFill>
              <a:latin typeface="Calibri"/>
              <a:ea typeface="Calibri"/>
              <a:cs typeface="Calibri"/>
              <a:sym typeface="Calibri"/>
            </a:endParaRPr>
          </a:p>
        </p:txBody>
      </p:sp>
      <p:sp>
        <p:nvSpPr>
          <p:cNvPr id="217" name="Google Shape;217;p8"/>
          <p:cNvSpPr/>
          <p:nvPr/>
        </p:nvSpPr>
        <p:spPr>
          <a:xfrm>
            <a:off x="2468880" y="1508760"/>
            <a:ext cx="4206240" cy="1965960"/>
          </a:xfrm>
          <a:prstGeom prst="roundRect">
            <a:avLst>
              <a:gd fmla="val 3721" name="adj"/>
            </a:avLst>
          </a:prstGeom>
          <a:solidFill>
            <a:srgbClr val="E8F7EF"/>
          </a:solidFill>
          <a:ln cap="flat" cmpd="sng" w="2540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png" id="218" name="Google Shape;218;p8"/>
          <p:cNvPicPr preferRelativeResize="0"/>
          <p:nvPr/>
        </p:nvPicPr>
        <p:blipFill rotWithShape="1">
          <a:blip r:embed="rId5">
            <a:alphaModFix/>
          </a:blip>
          <a:srcRect b="0" l="0" r="0" t="0"/>
          <a:stretch/>
        </p:blipFill>
        <p:spPr>
          <a:xfrm>
            <a:off x="2697480" y="1737360"/>
            <a:ext cx="457200" cy="457200"/>
          </a:xfrm>
          <a:prstGeom prst="rect">
            <a:avLst/>
          </a:prstGeom>
          <a:noFill/>
          <a:ln>
            <a:noFill/>
          </a:ln>
        </p:spPr>
      </p:pic>
      <p:sp>
        <p:nvSpPr>
          <p:cNvPr id="219" name="Google Shape;219;p8"/>
          <p:cNvSpPr/>
          <p:nvPr/>
        </p:nvSpPr>
        <p:spPr>
          <a:xfrm>
            <a:off x="3291840" y="1709928"/>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Vrais Positifs (VP)</a:t>
            </a:r>
            <a:endParaRPr b="0" i="0" sz="1500" u="none" cap="none" strike="noStrike">
              <a:solidFill>
                <a:schemeClr val="dk1"/>
              </a:solidFill>
              <a:latin typeface="Calibri"/>
              <a:ea typeface="Calibri"/>
              <a:cs typeface="Calibri"/>
              <a:sym typeface="Calibri"/>
            </a:endParaRPr>
          </a:p>
        </p:txBody>
      </p:sp>
      <p:sp>
        <p:nvSpPr>
          <p:cNvPr id="220" name="Google Shape;220;p8"/>
          <p:cNvSpPr/>
          <p:nvPr/>
        </p:nvSpPr>
        <p:spPr>
          <a:xfrm>
            <a:off x="2743200" y="2377440"/>
            <a:ext cx="36576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Détection réussie de l'événement cible.</a:t>
            </a:r>
            <a:endParaRPr b="0" i="0" sz="1250" u="none" cap="none" strike="noStrike">
              <a:solidFill>
                <a:schemeClr val="dk1"/>
              </a:solidFill>
              <a:latin typeface="Calibri"/>
              <a:ea typeface="Calibri"/>
              <a:cs typeface="Calibri"/>
              <a:sym typeface="Calibri"/>
            </a:endParaRPr>
          </a:p>
        </p:txBody>
      </p:sp>
      <p:sp>
        <p:nvSpPr>
          <p:cNvPr id="221" name="Google Shape;221;p8"/>
          <p:cNvSpPr/>
          <p:nvPr/>
        </p:nvSpPr>
        <p:spPr>
          <a:xfrm>
            <a:off x="6812280" y="1508760"/>
            <a:ext cx="4206240" cy="1965960"/>
          </a:xfrm>
          <a:prstGeom prst="roundRect">
            <a:avLst>
              <a:gd fmla="val 3721" name="adj"/>
            </a:avLst>
          </a:prstGeom>
          <a:solidFill>
            <a:srgbClr val="FCEAE8"/>
          </a:solidFill>
          <a:ln cap="flat" cmpd="sng" w="2540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ll.png" id="222" name="Google Shape;222;p8"/>
          <p:cNvPicPr preferRelativeResize="0"/>
          <p:nvPr/>
        </p:nvPicPr>
        <p:blipFill rotWithShape="1">
          <a:blip r:embed="rId6">
            <a:alphaModFix/>
          </a:blip>
          <a:srcRect b="0" l="0" r="0" t="0"/>
          <a:stretch/>
        </p:blipFill>
        <p:spPr>
          <a:xfrm>
            <a:off x="7040880" y="1737360"/>
            <a:ext cx="457200" cy="457200"/>
          </a:xfrm>
          <a:prstGeom prst="rect">
            <a:avLst/>
          </a:prstGeom>
          <a:noFill/>
          <a:ln>
            <a:noFill/>
          </a:ln>
        </p:spPr>
      </p:pic>
      <p:sp>
        <p:nvSpPr>
          <p:cNvPr id="223" name="Google Shape;223;p8"/>
          <p:cNvSpPr/>
          <p:nvPr/>
        </p:nvSpPr>
        <p:spPr>
          <a:xfrm>
            <a:off x="7635240" y="1709928"/>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Faux Positifs (FP)</a:t>
            </a:r>
            <a:endParaRPr b="0" i="0" sz="1500" u="none" cap="none" strike="noStrike">
              <a:solidFill>
                <a:schemeClr val="dk1"/>
              </a:solidFill>
              <a:latin typeface="Calibri"/>
              <a:ea typeface="Calibri"/>
              <a:cs typeface="Calibri"/>
              <a:sym typeface="Calibri"/>
            </a:endParaRPr>
          </a:p>
        </p:txBody>
      </p:sp>
      <p:sp>
        <p:nvSpPr>
          <p:cNvPr id="224" name="Google Shape;224;p8"/>
          <p:cNvSpPr/>
          <p:nvPr/>
        </p:nvSpPr>
        <p:spPr>
          <a:xfrm>
            <a:off x="7086600" y="2377440"/>
            <a:ext cx="36576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Erreur Type I — fausse alerte.</a:t>
            </a:r>
            <a:endParaRPr b="0" i="0" sz="1250" u="none" cap="none" strike="noStrike">
              <a:solidFill>
                <a:schemeClr val="dk1"/>
              </a:solidFill>
              <a:latin typeface="Calibri"/>
              <a:ea typeface="Calibri"/>
              <a:cs typeface="Calibri"/>
              <a:sym typeface="Calibri"/>
            </a:endParaRPr>
          </a:p>
        </p:txBody>
      </p:sp>
      <p:sp>
        <p:nvSpPr>
          <p:cNvPr id="225" name="Google Shape;225;p8"/>
          <p:cNvSpPr/>
          <p:nvPr/>
        </p:nvSpPr>
        <p:spPr>
          <a:xfrm>
            <a:off x="2468880" y="3611880"/>
            <a:ext cx="4206240" cy="1965960"/>
          </a:xfrm>
          <a:prstGeom prst="roundRect">
            <a:avLst>
              <a:gd fmla="val 3721" name="adj"/>
            </a:avLst>
          </a:prstGeom>
          <a:solidFill>
            <a:srgbClr val="FCEAE8"/>
          </a:solidFill>
          <a:ln cap="flat" cmpd="sng" w="2540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iangle.png" id="226" name="Google Shape;226;p8"/>
          <p:cNvPicPr preferRelativeResize="0"/>
          <p:nvPr/>
        </p:nvPicPr>
        <p:blipFill rotWithShape="1">
          <a:blip r:embed="rId7">
            <a:alphaModFix/>
          </a:blip>
          <a:srcRect b="0" l="0" r="0" t="0"/>
          <a:stretch/>
        </p:blipFill>
        <p:spPr>
          <a:xfrm>
            <a:off x="2697480" y="3840480"/>
            <a:ext cx="457200" cy="457200"/>
          </a:xfrm>
          <a:prstGeom prst="rect">
            <a:avLst/>
          </a:prstGeom>
          <a:noFill/>
          <a:ln>
            <a:noFill/>
          </a:ln>
        </p:spPr>
      </p:pic>
      <p:sp>
        <p:nvSpPr>
          <p:cNvPr id="227" name="Google Shape;227;p8"/>
          <p:cNvSpPr/>
          <p:nvPr/>
        </p:nvSpPr>
        <p:spPr>
          <a:xfrm>
            <a:off x="3291840" y="3813048"/>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Faux Négatifs (FN)</a:t>
            </a:r>
            <a:endParaRPr b="0" i="0" sz="1500" u="none" cap="none" strike="noStrike">
              <a:solidFill>
                <a:schemeClr val="dk1"/>
              </a:solidFill>
              <a:latin typeface="Calibri"/>
              <a:ea typeface="Calibri"/>
              <a:cs typeface="Calibri"/>
              <a:sym typeface="Calibri"/>
            </a:endParaRPr>
          </a:p>
        </p:txBody>
      </p:sp>
      <p:sp>
        <p:nvSpPr>
          <p:cNvPr id="228" name="Google Shape;228;p8"/>
          <p:cNvSpPr/>
          <p:nvPr/>
        </p:nvSpPr>
        <p:spPr>
          <a:xfrm>
            <a:off x="2743200" y="4480560"/>
            <a:ext cx="36576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Erreur Type II — raté critique.</a:t>
            </a:r>
            <a:endParaRPr b="0" i="0" sz="1250" u="none" cap="none" strike="noStrike">
              <a:solidFill>
                <a:schemeClr val="dk1"/>
              </a:solidFill>
              <a:latin typeface="Calibri"/>
              <a:ea typeface="Calibri"/>
              <a:cs typeface="Calibri"/>
              <a:sym typeface="Calibri"/>
            </a:endParaRPr>
          </a:p>
        </p:txBody>
      </p:sp>
      <p:sp>
        <p:nvSpPr>
          <p:cNvPr id="229" name="Google Shape;229;p8"/>
          <p:cNvSpPr/>
          <p:nvPr/>
        </p:nvSpPr>
        <p:spPr>
          <a:xfrm>
            <a:off x="6812280" y="3611880"/>
            <a:ext cx="4206240" cy="1965960"/>
          </a:xfrm>
          <a:prstGeom prst="roundRect">
            <a:avLst>
              <a:gd fmla="val 3721" name="adj"/>
            </a:avLst>
          </a:prstGeom>
          <a:solidFill>
            <a:srgbClr val="E8F7EF"/>
          </a:solidFill>
          <a:ln cap="flat" cmpd="sng" w="2540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png" id="230" name="Google Shape;230;p8"/>
          <p:cNvPicPr preferRelativeResize="0"/>
          <p:nvPr/>
        </p:nvPicPr>
        <p:blipFill rotWithShape="1">
          <a:blip r:embed="rId5">
            <a:alphaModFix/>
          </a:blip>
          <a:srcRect b="0" l="0" r="0" t="0"/>
          <a:stretch/>
        </p:blipFill>
        <p:spPr>
          <a:xfrm>
            <a:off x="7040880" y="3840480"/>
            <a:ext cx="457200" cy="457200"/>
          </a:xfrm>
          <a:prstGeom prst="rect">
            <a:avLst/>
          </a:prstGeom>
          <a:noFill/>
          <a:ln>
            <a:noFill/>
          </a:ln>
        </p:spPr>
      </p:pic>
      <p:sp>
        <p:nvSpPr>
          <p:cNvPr id="231" name="Google Shape;231;p8"/>
          <p:cNvSpPr/>
          <p:nvPr/>
        </p:nvSpPr>
        <p:spPr>
          <a:xfrm>
            <a:off x="7635240" y="3813048"/>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Vrais Négatifs (VN)</a:t>
            </a:r>
            <a:endParaRPr b="0" i="0" sz="1500" u="none" cap="none" strike="noStrike">
              <a:solidFill>
                <a:schemeClr val="dk1"/>
              </a:solidFill>
              <a:latin typeface="Calibri"/>
              <a:ea typeface="Calibri"/>
              <a:cs typeface="Calibri"/>
              <a:sym typeface="Calibri"/>
            </a:endParaRPr>
          </a:p>
        </p:txBody>
      </p:sp>
      <p:sp>
        <p:nvSpPr>
          <p:cNvPr id="232" name="Google Shape;232;p8"/>
          <p:cNvSpPr/>
          <p:nvPr/>
        </p:nvSpPr>
        <p:spPr>
          <a:xfrm>
            <a:off x="7086600" y="4480560"/>
            <a:ext cx="36576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Rejet correct d'une absence d'événement.</a:t>
            </a:r>
            <a:endParaRPr b="0" i="0" sz="1250" u="none" cap="none" strike="noStrike">
              <a:solidFill>
                <a:schemeClr val="dk1"/>
              </a:solidFill>
              <a:latin typeface="Calibri"/>
              <a:ea typeface="Calibri"/>
              <a:cs typeface="Calibri"/>
              <a:sym typeface="Calibri"/>
            </a:endParaRPr>
          </a:p>
        </p:txBody>
      </p:sp>
      <p:sp>
        <p:nvSpPr>
          <p:cNvPr id="233" name="Google Shape;233;p8"/>
          <p:cNvSpPr/>
          <p:nvPr/>
        </p:nvSpPr>
        <p:spPr>
          <a:xfrm>
            <a:off x="457200" y="5806440"/>
            <a:ext cx="11277295"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3A6"/>
              </a:buClr>
              <a:buSzPts val="1250"/>
              <a:buFont typeface="Arial"/>
              <a:buNone/>
            </a:pPr>
            <a:r>
              <a:rPr b="0" i="1" lang="en-US" sz="1250" u="none" cap="none" strike="noStrike">
                <a:solidFill>
                  <a:srgbClr val="8A93A6"/>
                </a:solidFill>
                <a:latin typeface="Arial"/>
                <a:ea typeface="Arial"/>
                <a:cs typeface="Arial"/>
                <a:sym typeface="Arial"/>
              </a:rPr>
              <a:t>Cette matrice est le réservoir de données brut à partir duquel TOUTES les métriques sont calculées.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cxnSp>
        <p:nvCxnSpPr>
          <p:cNvPr id="239" name="Google Shape;239;p9"/>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240" name="Google Shape;240;p9"/>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241" name="Google Shape;241;p9"/>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242" name="Google Shape;242;p9"/>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243" name="Google Shape;243;p9"/>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244" name="Google Shape;244;p9"/>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245" name="Google Shape;245;p9"/>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9 / 35</a:t>
            </a:r>
            <a:endParaRPr b="0" i="0" sz="900" u="none" cap="none" strike="noStrike">
              <a:solidFill>
                <a:schemeClr val="dk1"/>
              </a:solidFill>
              <a:latin typeface="Calibri"/>
              <a:ea typeface="Calibri"/>
              <a:cs typeface="Calibri"/>
              <a:sym typeface="Calibri"/>
            </a:endParaRPr>
          </a:p>
        </p:txBody>
      </p:sp>
      <p:pic>
        <p:nvPicPr>
          <p:cNvPr descr="icons/triangle.png" id="246" name="Google Shape;246;p9"/>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247" name="Google Shape;247;p9"/>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Faux Positifs vs Faux Négatifs : Quel Danger ?</a:t>
            </a:r>
            <a:endParaRPr b="0" i="0" sz="2400" u="none" cap="none" strike="noStrike">
              <a:solidFill>
                <a:schemeClr val="dk1"/>
              </a:solidFill>
              <a:latin typeface="Calibri"/>
              <a:ea typeface="Calibri"/>
              <a:cs typeface="Calibri"/>
              <a:sym typeface="Calibri"/>
            </a:endParaRPr>
          </a:p>
        </p:txBody>
      </p:sp>
      <p:sp>
        <p:nvSpPr>
          <p:cNvPr id="248" name="Google Shape;248;p9"/>
          <p:cNvSpPr/>
          <p:nvPr/>
        </p:nvSpPr>
        <p:spPr>
          <a:xfrm>
            <a:off x="457200" y="1508760"/>
            <a:ext cx="5501488" cy="4160520"/>
          </a:xfrm>
          <a:prstGeom prst="roundRect">
            <a:avLst>
              <a:gd fmla="val 1758" name="adj"/>
            </a:avLst>
          </a:prstGeom>
          <a:solidFill>
            <a:srgbClr val="FFF6EC"/>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ll.png" id="249" name="Google Shape;249;p9"/>
          <p:cNvPicPr preferRelativeResize="0"/>
          <p:nvPr/>
        </p:nvPicPr>
        <p:blipFill rotWithShape="1">
          <a:blip r:embed="rId5">
            <a:alphaModFix/>
          </a:blip>
          <a:srcRect b="0" l="0" r="0" t="0"/>
          <a:stretch/>
        </p:blipFill>
        <p:spPr>
          <a:xfrm>
            <a:off x="685800" y="1783080"/>
            <a:ext cx="502920" cy="502920"/>
          </a:xfrm>
          <a:prstGeom prst="rect">
            <a:avLst/>
          </a:prstGeom>
          <a:noFill/>
          <a:ln>
            <a:noFill/>
          </a:ln>
        </p:spPr>
      </p:pic>
      <p:sp>
        <p:nvSpPr>
          <p:cNvPr id="250" name="Google Shape;250;p9"/>
          <p:cNvSpPr/>
          <p:nvPr/>
        </p:nvSpPr>
        <p:spPr>
          <a:xfrm>
            <a:off x="1325880" y="1828800"/>
            <a:ext cx="403844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FP — Erreur de Type I</a:t>
            </a:r>
            <a:endParaRPr b="0" i="0" sz="1600" u="none" cap="none" strike="noStrike">
              <a:solidFill>
                <a:schemeClr val="dk1"/>
              </a:solidFill>
              <a:latin typeface="Calibri"/>
              <a:ea typeface="Calibri"/>
              <a:cs typeface="Calibri"/>
              <a:sym typeface="Calibri"/>
            </a:endParaRPr>
          </a:p>
        </p:txBody>
      </p:sp>
      <p:sp>
        <p:nvSpPr>
          <p:cNvPr id="251" name="Google Shape;251;p9"/>
          <p:cNvSpPr/>
          <p:nvPr/>
        </p:nvSpPr>
        <p:spPr>
          <a:xfrm>
            <a:off x="685800" y="2423160"/>
            <a:ext cx="50442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952F"/>
              </a:buClr>
              <a:buSzPts val="1300"/>
              <a:buFont typeface="Arial"/>
              <a:buNone/>
            </a:pPr>
            <a:r>
              <a:rPr b="0" i="1" lang="en-US" sz="1300" u="none" cap="none" strike="noStrike">
                <a:solidFill>
                  <a:srgbClr val="E8952F"/>
                </a:solidFill>
                <a:latin typeface="Arial"/>
                <a:ea typeface="Arial"/>
                <a:cs typeface="Arial"/>
                <a:sym typeface="Arial"/>
              </a:rPr>
              <a:t>La fausse alerte</a:t>
            </a:r>
            <a:endParaRPr b="0" i="0" sz="1300" u="none" cap="none" strike="noStrike">
              <a:solidFill>
                <a:schemeClr val="dk1"/>
              </a:solidFill>
              <a:latin typeface="Calibri"/>
              <a:ea typeface="Calibri"/>
              <a:cs typeface="Calibri"/>
              <a:sym typeface="Calibri"/>
            </a:endParaRPr>
          </a:p>
        </p:txBody>
      </p:sp>
      <p:sp>
        <p:nvSpPr>
          <p:cNvPr id="252" name="Google Shape;252;p9"/>
          <p:cNvSpPr/>
          <p:nvPr/>
        </p:nvSpPr>
        <p:spPr>
          <a:xfrm>
            <a:off x="685800" y="2880360"/>
            <a:ext cx="4998568" cy="237744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25000"/>
              </a:lnSpc>
              <a:spcBef>
                <a:spcPts val="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Inspection manuelle d'une transaction saine.</a:t>
            </a:r>
            <a:endParaRPr b="0" i="0" sz="13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Carte bleue bloquée à tort — client frustré.</a:t>
            </a:r>
            <a:endParaRPr b="0" i="0" sz="13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Email légitime envoyé par erreur dans les spams.</a:t>
            </a:r>
            <a:endParaRPr b="0" i="0" sz="1300" u="none" cap="none" strike="noStrike">
              <a:solidFill>
                <a:schemeClr val="dk1"/>
              </a:solidFill>
              <a:latin typeface="Calibri"/>
              <a:ea typeface="Calibri"/>
              <a:cs typeface="Calibri"/>
              <a:sym typeface="Calibri"/>
            </a:endParaRPr>
          </a:p>
        </p:txBody>
      </p:sp>
      <p:sp>
        <p:nvSpPr>
          <p:cNvPr id="253" name="Google Shape;253;p9"/>
          <p:cNvSpPr/>
          <p:nvPr/>
        </p:nvSpPr>
        <p:spPr>
          <a:xfrm>
            <a:off x="6233008" y="1508760"/>
            <a:ext cx="5501488" cy="4160520"/>
          </a:xfrm>
          <a:prstGeom prst="roundRect">
            <a:avLst>
              <a:gd fmla="val 1758"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iangle.png" id="254" name="Google Shape;254;p9"/>
          <p:cNvPicPr preferRelativeResize="0"/>
          <p:nvPr/>
        </p:nvPicPr>
        <p:blipFill rotWithShape="1">
          <a:blip r:embed="rId4">
            <a:alphaModFix/>
          </a:blip>
          <a:srcRect b="0" l="0" r="0" t="0"/>
          <a:stretch/>
        </p:blipFill>
        <p:spPr>
          <a:xfrm>
            <a:off x="6461608" y="1783080"/>
            <a:ext cx="502920" cy="502920"/>
          </a:xfrm>
          <a:prstGeom prst="rect">
            <a:avLst/>
          </a:prstGeom>
          <a:noFill/>
          <a:ln>
            <a:noFill/>
          </a:ln>
        </p:spPr>
      </p:pic>
      <p:sp>
        <p:nvSpPr>
          <p:cNvPr id="255" name="Google Shape;255;p9"/>
          <p:cNvSpPr/>
          <p:nvPr/>
        </p:nvSpPr>
        <p:spPr>
          <a:xfrm>
            <a:off x="7101688" y="1828800"/>
            <a:ext cx="403844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FN — Erreur de Type II</a:t>
            </a:r>
            <a:endParaRPr b="0" i="0" sz="1600" u="none" cap="none" strike="noStrike">
              <a:solidFill>
                <a:schemeClr val="dk1"/>
              </a:solidFill>
              <a:latin typeface="Calibri"/>
              <a:ea typeface="Calibri"/>
              <a:cs typeface="Calibri"/>
              <a:sym typeface="Calibri"/>
            </a:endParaRPr>
          </a:p>
        </p:txBody>
      </p:sp>
      <p:sp>
        <p:nvSpPr>
          <p:cNvPr id="256" name="Google Shape;256;p9"/>
          <p:cNvSpPr/>
          <p:nvPr/>
        </p:nvSpPr>
        <p:spPr>
          <a:xfrm>
            <a:off x="6461608" y="2423160"/>
            <a:ext cx="504428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300"/>
              <a:buFont typeface="Arial"/>
              <a:buNone/>
            </a:pPr>
            <a:r>
              <a:rPr b="0" i="1" lang="en-US" sz="1300" u="none" cap="none" strike="noStrike">
                <a:solidFill>
                  <a:srgbClr val="D9463A"/>
                </a:solidFill>
                <a:latin typeface="Arial"/>
                <a:ea typeface="Arial"/>
                <a:cs typeface="Arial"/>
                <a:sym typeface="Arial"/>
              </a:rPr>
              <a:t>Le raté critique</a:t>
            </a:r>
            <a:endParaRPr b="0" i="0" sz="1300" u="none" cap="none" strike="noStrike">
              <a:solidFill>
                <a:schemeClr val="dk1"/>
              </a:solidFill>
              <a:latin typeface="Calibri"/>
              <a:ea typeface="Calibri"/>
              <a:cs typeface="Calibri"/>
              <a:sym typeface="Calibri"/>
            </a:endParaRPr>
          </a:p>
        </p:txBody>
      </p:sp>
      <p:sp>
        <p:nvSpPr>
          <p:cNvPr id="257" name="Google Shape;257;p9"/>
          <p:cNvSpPr/>
          <p:nvPr/>
        </p:nvSpPr>
        <p:spPr>
          <a:xfrm>
            <a:off x="6461608" y="2880360"/>
            <a:ext cx="4998568" cy="237744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25000"/>
              </a:lnSpc>
              <a:spcBef>
                <a:spcPts val="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Patient gravement malade déclaré sain, renvoyé sans soins.</a:t>
            </a:r>
            <a:endParaRPr b="0" i="0" sz="13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Fraude financière massive non interceptée.</a:t>
            </a:r>
            <a:endParaRPr b="0" i="0" sz="130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300"/>
              <a:buFont typeface="Arial"/>
              <a:buChar char="•"/>
            </a:pPr>
            <a:r>
              <a:rPr b="0" i="0" lang="en-US" sz="1300" u="none" cap="none" strike="noStrike">
                <a:solidFill>
                  <a:srgbClr val="3A4658"/>
                </a:solidFill>
                <a:latin typeface="Arial"/>
                <a:ea typeface="Arial"/>
                <a:cs typeface="Arial"/>
                <a:sym typeface="Arial"/>
              </a:rPr>
              <a:t>Un danger réel qui passe totalement inaperçu.</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cxnSp>
        <p:nvCxnSpPr>
          <p:cNvPr id="263" name="Google Shape;263;p10"/>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264" name="Google Shape;264;p10"/>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265" name="Google Shape;265;p10"/>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266" name="Google Shape;266;p10"/>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267" name="Google Shape;267;p10"/>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268" name="Google Shape;268;p10"/>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269" name="Google Shape;269;p10"/>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10 / 35</a:t>
            </a:r>
            <a:endParaRPr b="0" i="0" sz="900" u="none" cap="none" strike="noStrike">
              <a:solidFill>
                <a:schemeClr val="dk1"/>
              </a:solidFill>
              <a:latin typeface="Calibri"/>
              <a:ea typeface="Calibri"/>
              <a:cs typeface="Calibri"/>
              <a:sym typeface="Calibri"/>
            </a:endParaRPr>
          </a:p>
        </p:txBody>
      </p:sp>
      <p:pic>
        <p:nvPicPr>
          <p:cNvPr descr="icons/hospital.png" id="270" name="Google Shape;270;p10"/>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271" name="Google Shape;271;p10"/>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Étude de Cas : Diagnostic Médical</a:t>
            </a:r>
            <a:endParaRPr b="0" i="0" sz="2400" u="none" cap="none" strike="noStrike">
              <a:solidFill>
                <a:schemeClr val="dk1"/>
              </a:solidFill>
              <a:latin typeface="Calibri"/>
              <a:ea typeface="Calibri"/>
              <a:cs typeface="Calibri"/>
              <a:sym typeface="Calibri"/>
            </a:endParaRPr>
          </a:p>
        </p:txBody>
      </p:sp>
      <p:sp>
        <p:nvSpPr>
          <p:cNvPr id="272" name="Google Shape;272;p10"/>
          <p:cNvSpPr/>
          <p:nvPr/>
        </p:nvSpPr>
        <p:spPr>
          <a:xfrm>
            <a:off x="457200" y="1600200"/>
            <a:ext cx="914400"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457200" y="1600200"/>
            <a:ext cx="914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4" name="Google Shape;274;p10"/>
          <p:cNvSpPr/>
          <p:nvPr/>
        </p:nvSpPr>
        <p:spPr>
          <a:xfrm>
            <a:off x="1371600" y="1600200"/>
            <a:ext cx="2743200"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1371600" y="1600200"/>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Diagnostic Prédit</a:t>
            </a:r>
            <a:endParaRPr b="0" i="0" sz="1200" u="none" cap="none" strike="noStrike">
              <a:solidFill>
                <a:schemeClr val="dk1"/>
              </a:solidFill>
              <a:latin typeface="Calibri"/>
              <a:ea typeface="Calibri"/>
              <a:cs typeface="Calibri"/>
              <a:sym typeface="Calibri"/>
            </a:endParaRPr>
          </a:p>
        </p:txBody>
      </p:sp>
      <p:sp>
        <p:nvSpPr>
          <p:cNvPr id="276" name="Google Shape;276;p10"/>
          <p:cNvSpPr/>
          <p:nvPr/>
        </p:nvSpPr>
        <p:spPr>
          <a:xfrm>
            <a:off x="4114800" y="1600200"/>
            <a:ext cx="2560320"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4114800" y="1600200"/>
            <a:ext cx="25603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Réalité Patient</a:t>
            </a:r>
            <a:endParaRPr b="0" i="0" sz="1200" u="none" cap="none" strike="noStrike">
              <a:solidFill>
                <a:schemeClr val="dk1"/>
              </a:solidFill>
              <a:latin typeface="Calibri"/>
              <a:ea typeface="Calibri"/>
              <a:cs typeface="Calibri"/>
              <a:sym typeface="Calibri"/>
            </a:endParaRPr>
          </a:p>
        </p:txBody>
      </p:sp>
      <p:sp>
        <p:nvSpPr>
          <p:cNvPr id="278" name="Google Shape;278;p10"/>
          <p:cNvSpPr/>
          <p:nvPr/>
        </p:nvSpPr>
        <p:spPr>
          <a:xfrm>
            <a:off x="6675120" y="1600200"/>
            <a:ext cx="5059375"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6675120" y="1600200"/>
            <a:ext cx="5059375"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Conséquence</a:t>
            </a:r>
            <a:endParaRPr b="0" i="0" sz="1200" u="none" cap="none" strike="noStrike">
              <a:solidFill>
                <a:schemeClr val="dk1"/>
              </a:solidFill>
              <a:latin typeface="Calibri"/>
              <a:ea typeface="Calibri"/>
              <a:cs typeface="Calibri"/>
              <a:sym typeface="Calibri"/>
            </a:endParaRPr>
          </a:p>
        </p:txBody>
      </p:sp>
      <p:sp>
        <p:nvSpPr>
          <p:cNvPr id="280" name="Google Shape;280;p10"/>
          <p:cNvSpPr/>
          <p:nvPr/>
        </p:nvSpPr>
        <p:spPr>
          <a:xfrm>
            <a:off x="457200" y="2103120"/>
            <a:ext cx="914400" cy="685800"/>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548640" y="2103120"/>
            <a:ext cx="73152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250"/>
              <a:buFont typeface="Arial"/>
              <a:buNone/>
            </a:pPr>
            <a:r>
              <a:rPr b="1" i="0" lang="en-US" sz="1250" u="none" cap="none" strike="noStrike">
                <a:solidFill>
                  <a:srgbClr val="1F2937"/>
                </a:solidFill>
                <a:latin typeface="Arial"/>
                <a:ea typeface="Arial"/>
                <a:cs typeface="Arial"/>
                <a:sym typeface="Arial"/>
              </a:rPr>
              <a:t>VP</a:t>
            </a:r>
            <a:endParaRPr b="0" i="0" sz="1250" u="none" cap="none" strike="noStrike">
              <a:solidFill>
                <a:schemeClr val="dk1"/>
              </a:solidFill>
              <a:latin typeface="Calibri"/>
              <a:ea typeface="Calibri"/>
              <a:cs typeface="Calibri"/>
              <a:sym typeface="Calibri"/>
            </a:endParaRPr>
          </a:p>
        </p:txBody>
      </p:sp>
      <p:sp>
        <p:nvSpPr>
          <p:cNvPr id="282" name="Google Shape;282;p10"/>
          <p:cNvSpPr/>
          <p:nvPr/>
        </p:nvSpPr>
        <p:spPr>
          <a:xfrm>
            <a:off x="1371600" y="2103120"/>
            <a:ext cx="2743200" cy="685800"/>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1463040" y="2103120"/>
            <a:ext cx="25603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Malade</a:t>
            </a:r>
            <a:endParaRPr b="0" i="0" sz="1250" u="none" cap="none" strike="noStrike">
              <a:solidFill>
                <a:schemeClr val="dk1"/>
              </a:solidFill>
              <a:latin typeface="Calibri"/>
              <a:ea typeface="Calibri"/>
              <a:cs typeface="Calibri"/>
              <a:sym typeface="Calibri"/>
            </a:endParaRPr>
          </a:p>
        </p:txBody>
      </p:sp>
      <p:sp>
        <p:nvSpPr>
          <p:cNvPr id="284" name="Google Shape;284;p10"/>
          <p:cNvSpPr/>
          <p:nvPr/>
        </p:nvSpPr>
        <p:spPr>
          <a:xfrm>
            <a:off x="4114800" y="2103120"/>
            <a:ext cx="2560320" cy="685800"/>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4206240" y="2103120"/>
            <a:ext cx="23774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Malade</a:t>
            </a:r>
            <a:endParaRPr b="0" i="0" sz="1250" u="none" cap="none" strike="noStrike">
              <a:solidFill>
                <a:schemeClr val="dk1"/>
              </a:solidFill>
              <a:latin typeface="Calibri"/>
              <a:ea typeface="Calibri"/>
              <a:cs typeface="Calibri"/>
              <a:sym typeface="Calibri"/>
            </a:endParaRPr>
          </a:p>
        </p:txBody>
      </p:sp>
      <p:sp>
        <p:nvSpPr>
          <p:cNvPr id="286" name="Google Shape;286;p10"/>
          <p:cNvSpPr/>
          <p:nvPr/>
        </p:nvSpPr>
        <p:spPr>
          <a:xfrm>
            <a:off x="6675120" y="2103120"/>
            <a:ext cx="5059375" cy="685800"/>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a:off x="6766560" y="2103120"/>
            <a:ext cx="4876495"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Traitement précoce initié — succès</a:t>
            </a:r>
            <a:endParaRPr b="0" i="0" sz="1250" u="none" cap="none" strike="noStrike">
              <a:solidFill>
                <a:schemeClr val="dk1"/>
              </a:solidFill>
              <a:latin typeface="Calibri"/>
              <a:ea typeface="Calibri"/>
              <a:cs typeface="Calibri"/>
              <a:sym typeface="Calibri"/>
            </a:endParaRPr>
          </a:p>
        </p:txBody>
      </p:sp>
      <p:sp>
        <p:nvSpPr>
          <p:cNvPr id="288" name="Google Shape;288;p10"/>
          <p:cNvSpPr/>
          <p:nvPr/>
        </p:nvSpPr>
        <p:spPr>
          <a:xfrm>
            <a:off x="457200" y="2788920"/>
            <a:ext cx="914400" cy="685800"/>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548640" y="2788920"/>
            <a:ext cx="73152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250"/>
              <a:buFont typeface="Arial"/>
              <a:buNone/>
            </a:pPr>
            <a:r>
              <a:rPr b="1" i="0" lang="en-US" sz="1250" u="none" cap="none" strike="noStrike">
                <a:solidFill>
                  <a:srgbClr val="1F2937"/>
                </a:solidFill>
                <a:latin typeface="Arial"/>
                <a:ea typeface="Arial"/>
                <a:cs typeface="Arial"/>
                <a:sym typeface="Arial"/>
              </a:rPr>
              <a:t>VN</a:t>
            </a:r>
            <a:endParaRPr b="0" i="0" sz="1250" u="none" cap="none" strike="noStrike">
              <a:solidFill>
                <a:schemeClr val="dk1"/>
              </a:solidFill>
              <a:latin typeface="Calibri"/>
              <a:ea typeface="Calibri"/>
              <a:cs typeface="Calibri"/>
              <a:sym typeface="Calibri"/>
            </a:endParaRPr>
          </a:p>
        </p:txBody>
      </p:sp>
      <p:sp>
        <p:nvSpPr>
          <p:cNvPr id="290" name="Google Shape;290;p10"/>
          <p:cNvSpPr/>
          <p:nvPr/>
        </p:nvSpPr>
        <p:spPr>
          <a:xfrm>
            <a:off x="1371600" y="2788920"/>
            <a:ext cx="2743200" cy="685800"/>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1463040" y="2788920"/>
            <a:ext cx="25603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Sain</a:t>
            </a:r>
            <a:endParaRPr b="0" i="0" sz="1250" u="none" cap="none" strike="noStrike">
              <a:solidFill>
                <a:schemeClr val="dk1"/>
              </a:solidFill>
              <a:latin typeface="Calibri"/>
              <a:ea typeface="Calibri"/>
              <a:cs typeface="Calibri"/>
              <a:sym typeface="Calibri"/>
            </a:endParaRPr>
          </a:p>
        </p:txBody>
      </p:sp>
      <p:sp>
        <p:nvSpPr>
          <p:cNvPr id="292" name="Google Shape;292;p10"/>
          <p:cNvSpPr/>
          <p:nvPr/>
        </p:nvSpPr>
        <p:spPr>
          <a:xfrm>
            <a:off x="4114800" y="2788920"/>
            <a:ext cx="2560320" cy="685800"/>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4206240" y="2788920"/>
            <a:ext cx="23774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Sain</a:t>
            </a:r>
            <a:endParaRPr b="0" i="0" sz="1250" u="none" cap="none" strike="noStrike">
              <a:solidFill>
                <a:schemeClr val="dk1"/>
              </a:solidFill>
              <a:latin typeface="Calibri"/>
              <a:ea typeface="Calibri"/>
              <a:cs typeface="Calibri"/>
              <a:sym typeface="Calibri"/>
            </a:endParaRPr>
          </a:p>
        </p:txBody>
      </p:sp>
      <p:sp>
        <p:nvSpPr>
          <p:cNvPr id="294" name="Google Shape;294;p10"/>
          <p:cNvSpPr/>
          <p:nvPr/>
        </p:nvSpPr>
        <p:spPr>
          <a:xfrm>
            <a:off x="6675120" y="2788920"/>
            <a:ext cx="5059375" cy="685800"/>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6766560" y="2788920"/>
            <a:ext cx="4876495"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Rassurance du patient — succès</a:t>
            </a:r>
            <a:endParaRPr b="0" i="0" sz="1250" u="none" cap="none" strike="noStrike">
              <a:solidFill>
                <a:schemeClr val="dk1"/>
              </a:solidFill>
              <a:latin typeface="Calibri"/>
              <a:ea typeface="Calibri"/>
              <a:cs typeface="Calibri"/>
              <a:sym typeface="Calibri"/>
            </a:endParaRPr>
          </a:p>
        </p:txBody>
      </p:sp>
      <p:sp>
        <p:nvSpPr>
          <p:cNvPr id="296" name="Google Shape;296;p10"/>
          <p:cNvSpPr/>
          <p:nvPr/>
        </p:nvSpPr>
        <p:spPr>
          <a:xfrm>
            <a:off x="457200" y="3474720"/>
            <a:ext cx="914400" cy="685800"/>
          </a:xfrm>
          <a:prstGeom prst="rect">
            <a:avLst/>
          </a:prstGeom>
          <a:solidFill>
            <a:srgbClr val="FFF6EC"/>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548640" y="3474720"/>
            <a:ext cx="73152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250"/>
              <a:buFont typeface="Arial"/>
              <a:buNone/>
            </a:pPr>
            <a:r>
              <a:rPr b="1" i="0" lang="en-US" sz="1250" u="none" cap="none" strike="noStrike">
                <a:solidFill>
                  <a:srgbClr val="1F2937"/>
                </a:solidFill>
                <a:latin typeface="Arial"/>
                <a:ea typeface="Arial"/>
                <a:cs typeface="Arial"/>
                <a:sym typeface="Arial"/>
              </a:rPr>
              <a:t>FP</a:t>
            </a:r>
            <a:endParaRPr b="0" i="0" sz="1250" u="none" cap="none" strike="noStrike">
              <a:solidFill>
                <a:schemeClr val="dk1"/>
              </a:solidFill>
              <a:latin typeface="Calibri"/>
              <a:ea typeface="Calibri"/>
              <a:cs typeface="Calibri"/>
              <a:sym typeface="Calibri"/>
            </a:endParaRPr>
          </a:p>
        </p:txBody>
      </p:sp>
      <p:sp>
        <p:nvSpPr>
          <p:cNvPr id="298" name="Google Shape;298;p10"/>
          <p:cNvSpPr/>
          <p:nvPr/>
        </p:nvSpPr>
        <p:spPr>
          <a:xfrm>
            <a:off x="1371600" y="3474720"/>
            <a:ext cx="2743200" cy="685800"/>
          </a:xfrm>
          <a:prstGeom prst="rect">
            <a:avLst/>
          </a:prstGeom>
          <a:solidFill>
            <a:srgbClr val="FFF6EC"/>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1463040" y="3474720"/>
            <a:ext cx="25603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Malade</a:t>
            </a:r>
            <a:endParaRPr b="0" i="0" sz="1250" u="none" cap="none" strike="noStrike">
              <a:solidFill>
                <a:schemeClr val="dk1"/>
              </a:solidFill>
              <a:latin typeface="Calibri"/>
              <a:ea typeface="Calibri"/>
              <a:cs typeface="Calibri"/>
              <a:sym typeface="Calibri"/>
            </a:endParaRPr>
          </a:p>
        </p:txBody>
      </p:sp>
      <p:sp>
        <p:nvSpPr>
          <p:cNvPr id="300" name="Google Shape;300;p10"/>
          <p:cNvSpPr/>
          <p:nvPr/>
        </p:nvSpPr>
        <p:spPr>
          <a:xfrm>
            <a:off x="4114800" y="3474720"/>
            <a:ext cx="2560320" cy="685800"/>
          </a:xfrm>
          <a:prstGeom prst="rect">
            <a:avLst/>
          </a:prstGeom>
          <a:solidFill>
            <a:srgbClr val="FFF6EC"/>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4206240" y="3474720"/>
            <a:ext cx="23774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Sain</a:t>
            </a:r>
            <a:endParaRPr b="0" i="0" sz="1250" u="none" cap="none" strike="noStrike">
              <a:solidFill>
                <a:schemeClr val="dk1"/>
              </a:solidFill>
              <a:latin typeface="Calibri"/>
              <a:ea typeface="Calibri"/>
              <a:cs typeface="Calibri"/>
              <a:sym typeface="Calibri"/>
            </a:endParaRPr>
          </a:p>
        </p:txBody>
      </p:sp>
      <p:sp>
        <p:nvSpPr>
          <p:cNvPr id="302" name="Google Shape;302;p10"/>
          <p:cNvSpPr/>
          <p:nvPr/>
        </p:nvSpPr>
        <p:spPr>
          <a:xfrm>
            <a:off x="6675120" y="3474720"/>
            <a:ext cx="5059375" cy="685800"/>
          </a:xfrm>
          <a:prstGeom prst="rect">
            <a:avLst/>
          </a:prstGeom>
          <a:solidFill>
            <a:srgbClr val="FFF6EC"/>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6766560" y="3474720"/>
            <a:ext cx="4876495"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50"/>
              <a:buFont typeface="Arial"/>
              <a:buNone/>
            </a:pPr>
            <a:r>
              <a:rPr b="0" i="0" lang="en-US" sz="1250" u="none" cap="none" strike="noStrike">
                <a:solidFill>
                  <a:srgbClr val="1F2937"/>
                </a:solidFill>
                <a:latin typeface="Arial"/>
                <a:ea typeface="Arial"/>
                <a:cs typeface="Arial"/>
                <a:sym typeface="Arial"/>
              </a:rPr>
              <a:t>Anxiété + examens invasifs inutiles</a:t>
            </a:r>
            <a:endParaRPr b="0" i="0" sz="1250" u="none" cap="none" strike="noStrike">
              <a:solidFill>
                <a:schemeClr val="dk1"/>
              </a:solidFill>
              <a:latin typeface="Calibri"/>
              <a:ea typeface="Calibri"/>
              <a:cs typeface="Calibri"/>
              <a:sym typeface="Calibri"/>
            </a:endParaRPr>
          </a:p>
        </p:txBody>
      </p:sp>
      <p:sp>
        <p:nvSpPr>
          <p:cNvPr id="304" name="Google Shape;304;p10"/>
          <p:cNvSpPr/>
          <p:nvPr/>
        </p:nvSpPr>
        <p:spPr>
          <a:xfrm>
            <a:off x="457200" y="4160520"/>
            <a:ext cx="914400" cy="685800"/>
          </a:xfrm>
          <a:prstGeom prst="rect">
            <a:avLst/>
          </a:prstGeom>
          <a:solidFill>
            <a:srgbClr val="FCEAE8"/>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548640" y="4160520"/>
            <a:ext cx="73152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463A"/>
              </a:buClr>
              <a:buSzPts val="1250"/>
              <a:buFont typeface="Arial"/>
              <a:buNone/>
            </a:pPr>
            <a:r>
              <a:rPr b="1" i="0" lang="en-US" sz="1250" u="none" cap="none" strike="noStrike">
                <a:solidFill>
                  <a:srgbClr val="D9463A"/>
                </a:solidFill>
                <a:latin typeface="Arial"/>
                <a:ea typeface="Arial"/>
                <a:cs typeface="Arial"/>
                <a:sym typeface="Arial"/>
              </a:rPr>
              <a:t>FN</a:t>
            </a:r>
            <a:endParaRPr b="0" i="0" sz="1250" u="none" cap="none" strike="noStrike">
              <a:solidFill>
                <a:schemeClr val="dk1"/>
              </a:solidFill>
              <a:latin typeface="Calibri"/>
              <a:ea typeface="Calibri"/>
              <a:cs typeface="Calibri"/>
              <a:sym typeface="Calibri"/>
            </a:endParaRPr>
          </a:p>
        </p:txBody>
      </p:sp>
      <p:sp>
        <p:nvSpPr>
          <p:cNvPr id="306" name="Google Shape;306;p10"/>
          <p:cNvSpPr/>
          <p:nvPr/>
        </p:nvSpPr>
        <p:spPr>
          <a:xfrm>
            <a:off x="1371600" y="4160520"/>
            <a:ext cx="2743200" cy="685800"/>
          </a:xfrm>
          <a:prstGeom prst="rect">
            <a:avLst/>
          </a:prstGeom>
          <a:solidFill>
            <a:srgbClr val="FCEAE8"/>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1463040" y="4160520"/>
            <a:ext cx="25603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250"/>
              <a:buFont typeface="Arial"/>
              <a:buNone/>
            </a:pPr>
            <a:r>
              <a:rPr b="1" i="0" lang="en-US" sz="1250" u="none" cap="none" strike="noStrike">
                <a:solidFill>
                  <a:srgbClr val="D9463A"/>
                </a:solidFill>
                <a:latin typeface="Arial"/>
                <a:ea typeface="Arial"/>
                <a:cs typeface="Arial"/>
                <a:sym typeface="Arial"/>
              </a:rPr>
              <a:t>Sain</a:t>
            </a:r>
            <a:endParaRPr b="0" i="0" sz="1250" u="none" cap="none" strike="noStrike">
              <a:solidFill>
                <a:schemeClr val="dk1"/>
              </a:solidFill>
              <a:latin typeface="Calibri"/>
              <a:ea typeface="Calibri"/>
              <a:cs typeface="Calibri"/>
              <a:sym typeface="Calibri"/>
            </a:endParaRPr>
          </a:p>
        </p:txBody>
      </p:sp>
      <p:sp>
        <p:nvSpPr>
          <p:cNvPr id="308" name="Google Shape;308;p10"/>
          <p:cNvSpPr/>
          <p:nvPr/>
        </p:nvSpPr>
        <p:spPr>
          <a:xfrm>
            <a:off x="4114800" y="4160520"/>
            <a:ext cx="2560320" cy="685800"/>
          </a:xfrm>
          <a:prstGeom prst="rect">
            <a:avLst/>
          </a:prstGeom>
          <a:solidFill>
            <a:srgbClr val="FCEAE8"/>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4206240" y="4160520"/>
            <a:ext cx="23774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250"/>
              <a:buFont typeface="Arial"/>
              <a:buNone/>
            </a:pPr>
            <a:r>
              <a:rPr b="1" i="0" lang="en-US" sz="1250" u="none" cap="none" strike="noStrike">
                <a:solidFill>
                  <a:srgbClr val="D9463A"/>
                </a:solidFill>
                <a:latin typeface="Arial"/>
                <a:ea typeface="Arial"/>
                <a:cs typeface="Arial"/>
                <a:sym typeface="Arial"/>
              </a:rPr>
              <a:t>Malade</a:t>
            </a:r>
            <a:endParaRPr b="0" i="0" sz="1250" u="none" cap="none" strike="noStrike">
              <a:solidFill>
                <a:schemeClr val="dk1"/>
              </a:solidFill>
              <a:latin typeface="Calibri"/>
              <a:ea typeface="Calibri"/>
              <a:cs typeface="Calibri"/>
              <a:sym typeface="Calibri"/>
            </a:endParaRPr>
          </a:p>
        </p:txBody>
      </p:sp>
      <p:sp>
        <p:nvSpPr>
          <p:cNvPr id="310" name="Google Shape;310;p10"/>
          <p:cNvSpPr/>
          <p:nvPr/>
        </p:nvSpPr>
        <p:spPr>
          <a:xfrm>
            <a:off x="6675120" y="4160520"/>
            <a:ext cx="5059375" cy="685800"/>
          </a:xfrm>
          <a:prstGeom prst="rect">
            <a:avLst/>
          </a:prstGeom>
          <a:solidFill>
            <a:srgbClr val="FCEAE8"/>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6766560" y="4160520"/>
            <a:ext cx="4876495"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250"/>
              <a:buFont typeface="Arial"/>
              <a:buNone/>
            </a:pPr>
            <a:r>
              <a:rPr b="1" i="0" lang="en-US" sz="1250" u="none" cap="none" strike="noStrike">
                <a:solidFill>
                  <a:srgbClr val="D9463A"/>
                </a:solidFill>
                <a:latin typeface="Arial"/>
                <a:ea typeface="Arial"/>
                <a:cs typeface="Arial"/>
                <a:sym typeface="Arial"/>
              </a:rPr>
              <a:t>DANGER : perte de chance majeure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316" name="Shape 316"/>
        <p:cNvGrpSpPr/>
        <p:nvPr/>
      </p:nvGrpSpPr>
      <p:grpSpPr>
        <a:xfrm>
          <a:off x="0" y="0"/>
          <a:ext cx="0" cy="0"/>
          <a:chOff x="0" y="0"/>
          <a:chExt cx="0" cy="0"/>
        </a:xfrm>
      </p:grpSpPr>
      <p:sp>
        <p:nvSpPr>
          <p:cNvPr id="317" name="Google Shape;317;p11"/>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11"/>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319" name="Google Shape;319;p11"/>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320" name="Google Shape;320;p11"/>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321" name="Google Shape;321;p11"/>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322" name="Google Shape;322;p11"/>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323" name="Google Shape;323;p11"/>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324" name="Google Shape;324;p11"/>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11 / 35</a:t>
            </a:r>
            <a:endParaRPr b="0" i="0" sz="900" u="none" cap="none" strike="noStrike">
              <a:solidFill>
                <a:schemeClr val="dk1"/>
              </a:solidFill>
              <a:latin typeface="Calibri"/>
              <a:ea typeface="Calibri"/>
              <a:cs typeface="Calibri"/>
              <a:sym typeface="Calibri"/>
            </a:endParaRPr>
          </a:p>
        </p:txBody>
      </p:sp>
      <p:sp>
        <p:nvSpPr>
          <p:cNvPr id="325" name="Google Shape;325;p11"/>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3</a:t>
            </a:r>
            <a:endParaRPr b="0" i="0" sz="1200" u="none" cap="none" strike="noStrike">
              <a:solidFill>
                <a:schemeClr val="dk1"/>
              </a:solidFill>
              <a:latin typeface="Calibri"/>
              <a:ea typeface="Calibri"/>
              <a:cs typeface="Calibri"/>
              <a:sym typeface="Calibri"/>
            </a:endParaRPr>
          </a:p>
        </p:txBody>
      </p:sp>
      <p:sp>
        <p:nvSpPr>
          <p:cNvPr id="327" name="Google Shape;327;p11"/>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L'Accuracy Trap</a:t>
            </a:r>
            <a:endParaRPr b="0" i="0" sz="3400" u="none" cap="none" strike="noStrike">
              <a:solidFill>
                <a:schemeClr val="dk1"/>
              </a:solidFill>
              <a:latin typeface="Calibri"/>
              <a:ea typeface="Calibri"/>
              <a:cs typeface="Calibri"/>
              <a:sym typeface="Calibri"/>
            </a:endParaRPr>
          </a:p>
        </p:txBody>
      </p:sp>
      <p:sp>
        <p:nvSpPr>
          <p:cNvPr id="328" name="Google Shape;328;p11"/>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Pourquoi la métrique la plus intuitive est aussi le piège le plus redoutable en Data Science.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cxnSp>
        <p:nvCxnSpPr>
          <p:cNvPr id="334" name="Google Shape;334;p12"/>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335" name="Google Shape;335;p12"/>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336" name="Google Shape;336;p12"/>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337" name="Google Shape;337;p12"/>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338" name="Google Shape;338;p12"/>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339" name="Google Shape;339;p12"/>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340" name="Google Shape;340;p12"/>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12 / 35</a:t>
            </a:r>
            <a:endParaRPr b="0" i="0" sz="900" u="none" cap="none" strike="noStrike">
              <a:solidFill>
                <a:schemeClr val="dk1"/>
              </a:solidFill>
              <a:latin typeface="Calibri"/>
              <a:ea typeface="Calibri"/>
              <a:cs typeface="Calibri"/>
              <a:sym typeface="Calibri"/>
            </a:endParaRPr>
          </a:p>
        </p:txBody>
      </p:sp>
      <p:pic>
        <p:nvPicPr>
          <p:cNvPr descr="icons/percentage.png" id="341" name="Google Shape;341;p12"/>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342" name="Google Shape;342;p12"/>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L'Accuracy : Simple mais Trompeuse</a:t>
            </a:r>
            <a:endParaRPr b="0" i="0" sz="2400" u="none" cap="none" strike="noStrike">
              <a:solidFill>
                <a:schemeClr val="dk1"/>
              </a:solidFill>
              <a:latin typeface="Calibri"/>
              <a:ea typeface="Calibri"/>
              <a:cs typeface="Calibri"/>
              <a:sym typeface="Calibri"/>
            </a:endParaRPr>
          </a:p>
        </p:txBody>
      </p:sp>
      <p:sp>
        <p:nvSpPr>
          <p:cNvPr id="343" name="Google Shape;343;p12"/>
          <p:cNvSpPr/>
          <p:nvPr/>
        </p:nvSpPr>
        <p:spPr>
          <a:xfrm>
            <a:off x="457200" y="1463040"/>
            <a:ext cx="11277295" cy="868680"/>
          </a:xfrm>
          <a:prstGeom prst="roundRect">
            <a:avLst>
              <a:gd fmla="val 8421"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457200" y="1463040"/>
            <a:ext cx="11277295"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2000"/>
              <a:buFont typeface="Arial"/>
              <a:buNone/>
            </a:pPr>
            <a:r>
              <a:rPr b="1" i="0" lang="en-US" sz="2000" u="none" cap="none" strike="noStrike">
                <a:solidFill>
                  <a:srgbClr val="1F2937"/>
                </a:solidFill>
                <a:latin typeface="Arial"/>
                <a:ea typeface="Arial"/>
                <a:cs typeface="Arial"/>
                <a:sym typeface="Arial"/>
              </a:rPr>
              <a:t>Accuracy = </a:t>
            </a:r>
            <a:r>
              <a:rPr b="1" i="0" lang="en-US" sz="2000" u="none" cap="none" strike="noStrike">
                <a:solidFill>
                  <a:srgbClr val="1652D9"/>
                </a:solidFill>
                <a:latin typeface="Arial"/>
                <a:ea typeface="Arial"/>
                <a:cs typeface="Arial"/>
                <a:sym typeface="Arial"/>
              </a:rPr>
              <a:t>(VP + VN) / Total</a:t>
            </a:r>
            <a:endParaRPr b="0" i="0" sz="2000" u="none" cap="none" strike="noStrike">
              <a:solidFill>
                <a:schemeClr val="dk1"/>
              </a:solidFill>
              <a:latin typeface="Calibri"/>
              <a:ea typeface="Calibri"/>
              <a:cs typeface="Calibri"/>
              <a:sym typeface="Calibri"/>
            </a:endParaRPr>
          </a:p>
        </p:txBody>
      </p:sp>
      <p:sp>
        <p:nvSpPr>
          <p:cNvPr id="345" name="Google Shape;345;p12"/>
          <p:cNvSpPr/>
          <p:nvPr/>
        </p:nvSpPr>
        <p:spPr>
          <a:xfrm>
            <a:off x="457200" y="2606040"/>
            <a:ext cx="5501488" cy="3108960"/>
          </a:xfrm>
          <a:prstGeom prst="roundRect">
            <a:avLst>
              <a:gd fmla="val 2353"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2"/>
          <p:cNvSpPr/>
          <p:nvPr/>
        </p:nvSpPr>
        <p:spPr>
          <a:xfrm>
            <a:off x="685800" y="27889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Pourquoi elle séduit</a:t>
            </a:r>
            <a:endParaRPr b="0" i="0" sz="1500" u="none" cap="none" strike="noStrike">
              <a:solidFill>
                <a:schemeClr val="dk1"/>
              </a:solidFill>
              <a:latin typeface="Calibri"/>
              <a:ea typeface="Calibri"/>
              <a:cs typeface="Calibri"/>
              <a:sym typeface="Calibri"/>
            </a:endParaRPr>
          </a:p>
        </p:txBody>
      </p:sp>
      <p:sp>
        <p:nvSpPr>
          <p:cNvPr id="347" name="Google Shape;347;p12"/>
          <p:cNvSpPr/>
          <p:nvPr/>
        </p:nvSpPr>
        <p:spPr>
          <a:xfrm>
            <a:off x="685800" y="3246120"/>
            <a:ext cx="4998568" cy="21945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Extrêmement simple à expliquer, même à un public non technique : “le modèle a raison X% du temps”.</a:t>
            </a:r>
            <a:endParaRPr b="0" i="0" sz="1300" u="none" cap="none" strike="noStrike">
              <a:solidFill>
                <a:schemeClr val="dk1"/>
              </a:solidFill>
              <a:latin typeface="Calibri"/>
              <a:ea typeface="Calibri"/>
              <a:cs typeface="Calibri"/>
              <a:sym typeface="Calibri"/>
            </a:endParaRPr>
          </a:p>
        </p:txBody>
      </p:sp>
      <p:sp>
        <p:nvSpPr>
          <p:cNvPr id="348" name="Google Shape;348;p12"/>
          <p:cNvSpPr/>
          <p:nvPr/>
        </p:nvSpPr>
        <p:spPr>
          <a:xfrm>
            <a:off x="6233008" y="2606040"/>
            <a:ext cx="5501488" cy="3108960"/>
          </a:xfrm>
          <a:prstGeom prst="roundRect">
            <a:avLst>
              <a:gd fmla="val 2353"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6461608" y="27889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500"/>
              <a:buFont typeface="Arial"/>
              <a:buNone/>
            </a:pPr>
            <a:r>
              <a:rPr b="1" i="0" lang="en-US" sz="1500" u="none" cap="none" strike="noStrike">
                <a:solidFill>
                  <a:srgbClr val="D9463A"/>
                </a:solidFill>
                <a:latin typeface="Arial"/>
                <a:ea typeface="Arial"/>
                <a:cs typeface="Arial"/>
                <a:sym typeface="Arial"/>
              </a:rPr>
              <a:t>Pourquoi elle piège</a:t>
            </a:r>
            <a:endParaRPr b="0" i="0" sz="1500" u="none" cap="none" strike="noStrike">
              <a:solidFill>
                <a:schemeClr val="dk1"/>
              </a:solidFill>
              <a:latin typeface="Calibri"/>
              <a:ea typeface="Calibri"/>
              <a:cs typeface="Calibri"/>
              <a:sym typeface="Calibri"/>
            </a:endParaRPr>
          </a:p>
        </p:txBody>
      </p:sp>
      <p:sp>
        <p:nvSpPr>
          <p:cNvPr id="350" name="Google Shape;350;p12"/>
          <p:cNvSpPr/>
          <p:nvPr/>
        </p:nvSpPr>
        <p:spPr>
          <a:xfrm>
            <a:off x="6461608" y="3246120"/>
            <a:ext cx="4998568" cy="21945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Dans la vraie vie, l'événement à détecter est presque toujours rare (fraude, panne, maladie rare). Les Vrais Négatifs écrasent alors le dénominateur — l'Accuracy devient aveugle aux erreurs sur la classe minoritaire.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cxnSp>
        <p:nvCxnSpPr>
          <p:cNvPr id="356" name="Google Shape;356;p13"/>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357" name="Google Shape;357;p13"/>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358" name="Google Shape;358;p13"/>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359" name="Google Shape;359;p13"/>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360" name="Google Shape;360;p13"/>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361" name="Google Shape;361;p13"/>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362" name="Google Shape;362;p13"/>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13 / 35</a:t>
            </a:r>
            <a:endParaRPr b="0" i="0" sz="900" u="none" cap="none" strike="noStrike">
              <a:solidFill>
                <a:schemeClr val="dk1"/>
              </a:solidFill>
              <a:latin typeface="Calibri"/>
              <a:ea typeface="Calibri"/>
              <a:cs typeface="Calibri"/>
              <a:sym typeface="Calibri"/>
            </a:endParaRPr>
          </a:p>
        </p:txBody>
      </p:sp>
      <p:pic>
        <p:nvPicPr>
          <p:cNvPr descr="icons/shield.png" id="363" name="Google Shape;363;p13"/>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364" name="Google Shape;364;p13"/>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L'Exemple qui Piège Tout le Monde : la Fraude Bancaire</a:t>
            </a:r>
            <a:endParaRPr b="0" i="0" sz="2400" u="none" cap="none" strike="noStrike">
              <a:solidFill>
                <a:schemeClr val="dk1"/>
              </a:solidFill>
              <a:latin typeface="Calibri"/>
              <a:ea typeface="Calibri"/>
              <a:cs typeface="Calibri"/>
              <a:sym typeface="Calibri"/>
            </a:endParaRPr>
          </a:p>
        </p:txBody>
      </p:sp>
      <p:sp>
        <p:nvSpPr>
          <p:cNvPr id="365" name="Google Shape;365;p13"/>
          <p:cNvSpPr/>
          <p:nvPr/>
        </p:nvSpPr>
        <p:spPr>
          <a:xfrm>
            <a:off x="457200" y="1417320"/>
            <a:ext cx="1127729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400"/>
              <a:buFont typeface="Arial"/>
              <a:buNone/>
            </a:pPr>
            <a:r>
              <a:rPr b="0" i="0" lang="en-US" sz="1400" u="none" cap="none" strike="noStrike">
                <a:solidFill>
                  <a:srgbClr val="3A4658"/>
                </a:solidFill>
                <a:latin typeface="Arial"/>
                <a:ea typeface="Arial"/>
                <a:cs typeface="Arial"/>
                <a:sym typeface="Arial"/>
              </a:rPr>
              <a:t>Dataset : 100 000 transactions — 99 900 normales, 100 fraudes.</a:t>
            </a:r>
            <a:endParaRPr b="0" i="0" sz="1400" u="none" cap="none" strike="noStrike">
              <a:solidFill>
                <a:schemeClr val="dk1"/>
              </a:solidFill>
              <a:latin typeface="Calibri"/>
              <a:ea typeface="Calibri"/>
              <a:cs typeface="Calibri"/>
              <a:sym typeface="Calibri"/>
            </a:endParaRPr>
          </a:p>
        </p:txBody>
      </p:sp>
      <p:sp>
        <p:nvSpPr>
          <p:cNvPr id="366" name="Google Shape;366;p13"/>
          <p:cNvSpPr/>
          <p:nvPr/>
        </p:nvSpPr>
        <p:spPr>
          <a:xfrm>
            <a:off x="457200" y="1828800"/>
            <a:ext cx="1127729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400"/>
              <a:buFont typeface="Arial"/>
              <a:buNone/>
            </a:pPr>
            <a:r>
              <a:rPr b="0" i="0" lang="en-US" sz="1400" u="none" cap="none" strike="noStrike">
                <a:solidFill>
                  <a:srgbClr val="3A4658"/>
                </a:solidFill>
                <a:latin typeface="Arial"/>
                <a:ea typeface="Arial"/>
                <a:cs typeface="Arial"/>
                <a:sym typeface="Arial"/>
              </a:rPr>
              <a:t>Un algorithme “idiot” qui prédit toujours “Pas de Fraude”, pour toutes les lignes :</a:t>
            </a:r>
            <a:endParaRPr b="0" i="0" sz="1400" u="none" cap="none" strike="noStrike">
              <a:solidFill>
                <a:schemeClr val="dk1"/>
              </a:solidFill>
              <a:latin typeface="Calibri"/>
              <a:ea typeface="Calibri"/>
              <a:cs typeface="Calibri"/>
              <a:sym typeface="Calibri"/>
            </a:endParaRPr>
          </a:p>
        </p:txBody>
      </p:sp>
      <p:sp>
        <p:nvSpPr>
          <p:cNvPr id="367" name="Google Shape;367;p13"/>
          <p:cNvSpPr/>
          <p:nvPr/>
        </p:nvSpPr>
        <p:spPr>
          <a:xfrm>
            <a:off x="457200" y="2377440"/>
            <a:ext cx="5501488" cy="3291840"/>
          </a:xfrm>
          <a:prstGeom prst="roundRect">
            <a:avLst>
              <a:gd fmla="val 2222" name="adj"/>
            </a:avLst>
          </a:prstGeom>
          <a:solidFill>
            <a:srgbClr val="E8F7EF"/>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p:nvPr/>
        </p:nvSpPr>
        <p:spPr>
          <a:xfrm>
            <a:off x="457200" y="2743200"/>
            <a:ext cx="5501488"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A86B"/>
              </a:buClr>
              <a:buSzPts val="4600"/>
              <a:buFont typeface="Arial"/>
              <a:buNone/>
            </a:pPr>
            <a:r>
              <a:rPr b="1" i="0" lang="en-US" sz="4600" u="none" cap="none" strike="noStrike">
                <a:solidFill>
                  <a:srgbClr val="2FA86B"/>
                </a:solidFill>
                <a:latin typeface="Arial"/>
                <a:ea typeface="Arial"/>
                <a:cs typeface="Arial"/>
                <a:sym typeface="Arial"/>
              </a:rPr>
              <a:t>99,9 %</a:t>
            </a:r>
            <a:endParaRPr b="0" i="0" sz="4600" u="none" cap="none" strike="noStrike">
              <a:solidFill>
                <a:schemeClr val="dk1"/>
              </a:solidFill>
              <a:latin typeface="Calibri"/>
              <a:ea typeface="Calibri"/>
              <a:cs typeface="Calibri"/>
              <a:sym typeface="Calibri"/>
            </a:endParaRPr>
          </a:p>
        </p:txBody>
      </p:sp>
      <p:sp>
        <p:nvSpPr>
          <p:cNvPr id="369" name="Google Shape;369;p13"/>
          <p:cNvSpPr/>
          <p:nvPr/>
        </p:nvSpPr>
        <p:spPr>
          <a:xfrm>
            <a:off x="457200" y="3749040"/>
            <a:ext cx="550148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400"/>
              <a:buFont typeface="Arial"/>
              <a:buNone/>
            </a:pPr>
            <a:r>
              <a:rPr b="0" i="0" lang="en-US" sz="1400" u="none" cap="none" strike="noStrike">
                <a:solidFill>
                  <a:srgbClr val="1F2937"/>
                </a:solidFill>
                <a:latin typeface="Arial"/>
                <a:ea typeface="Arial"/>
                <a:cs typeface="Arial"/>
                <a:sym typeface="Arial"/>
              </a:rPr>
              <a:t>d'Accuracy affichée</a:t>
            </a:r>
            <a:endParaRPr b="0" i="0" sz="1400" u="none" cap="none" strike="noStrike">
              <a:solidFill>
                <a:schemeClr val="dk1"/>
              </a:solidFill>
              <a:latin typeface="Calibri"/>
              <a:ea typeface="Calibri"/>
              <a:cs typeface="Calibri"/>
              <a:sym typeface="Calibri"/>
            </a:endParaRPr>
          </a:p>
        </p:txBody>
      </p:sp>
      <p:sp>
        <p:nvSpPr>
          <p:cNvPr id="370" name="Google Shape;370;p13"/>
          <p:cNvSpPr/>
          <p:nvPr/>
        </p:nvSpPr>
        <p:spPr>
          <a:xfrm>
            <a:off x="6233008" y="2377440"/>
            <a:ext cx="5501488" cy="3291840"/>
          </a:xfrm>
          <a:prstGeom prst="roundRect">
            <a:avLst>
              <a:gd fmla="val 2222"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6233008" y="2743200"/>
            <a:ext cx="5501488"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463A"/>
              </a:buClr>
              <a:buSzPts val="4600"/>
              <a:buFont typeface="Arial"/>
              <a:buNone/>
            </a:pPr>
            <a:r>
              <a:rPr b="1" i="0" lang="en-US" sz="4600" u="none" cap="none" strike="noStrike">
                <a:solidFill>
                  <a:srgbClr val="D9463A"/>
                </a:solidFill>
                <a:latin typeface="Arial"/>
                <a:ea typeface="Arial"/>
                <a:cs typeface="Arial"/>
                <a:sym typeface="Arial"/>
              </a:rPr>
              <a:t>0 %</a:t>
            </a:r>
            <a:endParaRPr b="0" i="0" sz="4600" u="none" cap="none" strike="noStrike">
              <a:solidFill>
                <a:schemeClr val="dk1"/>
              </a:solidFill>
              <a:latin typeface="Calibri"/>
              <a:ea typeface="Calibri"/>
              <a:cs typeface="Calibri"/>
              <a:sym typeface="Calibri"/>
            </a:endParaRPr>
          </a:p>
        </p:txBody>
      </p:sp>
      <p:sp>
        <p:nvSpPr>
          <p:cNvPr id="372" name="Google Shape;372;p13"/>
          <p:cNvSpPr/>
          <p:nvPr/>
        </p:nvSpPr>
        <p:spPr>
          <a:xfrm>
            <a:off x="6233008" y="3749040"/>
            <a:ext cx="550148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400"/>
              <a:buFont typeface="Arial"/>
              <a:buNone/>
            </a:pPr>
            <a:r>
              <a:rPr b="0" i="0" lang="en-US" sz="1400" u="none" cap="none" strike="noStrike">
                <a:solidFill>
                  <a:srgbClr val="1F2937"/>
                </a:solidFill>
                <a:latin typeface="Arial"/>
                <a:ea typeface="Arial"/>
                <a:cs typeface="Arial"/>
                <a:sym typeface="Arial"/>
              </a:rPr>
              <a:t>de fraudes réellement détectées</a:t>
            </a:r>
            <a:endParaRPr b="0" i="0" sz="1400" u="none" cap="none" strike="noStrike">
              <a:solidFill>
                <a:schemeClr val="dk1"/>
              </a:solidFill>
              <a:latin typeface="Calibri"/>
              <a:ea typeface="Calibri"/>
              <a:cs typeface="Calibri"/>
              <a:sym typeface="Calibri"/>
            </a:endParaRPr>
          </a:p>
        </p:txBody>
      </p:sp>
      <p:sp>
        <p:nvSpPr>
          <p:cNvPr id="373" name="Google Shape;373;p13"/>
          <p:cNvSpPr/>
          <p:nvPr/>
        </p:nvSpPr>
        <p:spPr>
          <a:xfrm>
            <a:off x="457200" y="5806440"/>
            <a:ext cx="11277295"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3A6"/>
              </a:buClr>
              <a:buSzPts val="1300"/>
              <a:buFont typeface="Arial"/>
              <a:buNone/>
            </a:pPr>
            <a:r>
              <a:rPr b="0" i="1" lang="en-US" sz="1300" u="none" cap="none" strike="noStrike">
                <a:solidFill>
                  <a:srgbClr val="8A93A6"/>
                </a:solidFill>
                <a:latin typeface="Arial"/>
                <a:ea typeface="Arial"/>
                <a:cs typeface="Arial"/>
                <a:sym typeface="Arial"/>
              </a:rPr>
              <a:t>L'entreprise subit 100% du préjudice financier malgré une Accuracy quasi parfaite.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cxnSp>
        <p:nvCxnSpPr>
          <p:cNvPr id="379" name="Google Shape;379;p14"/>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380" name="Google Shape;380;p14"/>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381" name="Google Shape;381;p14"/>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382" name="Google Shape;382;p14"/>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383" name="Google Shape;383;p14"/>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384" name="Google Shape;384;p14"/>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385" name="Google Shape;385;p14"/>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14 / 35</a:t>
            </a:r>
            <a:endParaRPr b="0" i="0" sz="900" u="none" cap="none" strike="noStrike">
              <a:solidFill>
                <a:schemeClr val="dk1"/>
              </a:solidFill>
              <a:latin typeface="Calibri"/>
              <a:ea typeface="Calibri"/>
              <a:cs typeface="Calibri"/>
              <a:sym typeface="Calibri"/>
            </a:endParaRPr>
          </a:p>
        </p:txBody>
      </p:sp>
      <p:pic>
        <p:nvPicPr>
          <p:cNvPr descr="icons/check.png" id="386" name="Google Shape;386;p14"/>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387" name="Google Shape;387;p14"/>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Quand Faire Confiance à l'Accuracy ?</a:t>
            </a:r>
            <a:endParaRPr b="0" i="0" sz="2400" u="none" cap="none" strike="noStrike">
              <a:solidFill>
                <a:schemeClr val="dk1"/>
              </a:solidFill>
              <a:latin typeface="Calibri"/>
              <a:ea typeface="Calibri"/>
              <a:cs typeface="Calibri"/>
              <a:sym typeface="Calibri"/>
            </a:endParaRPr>
          </a:p>
        </p:txBody>
      </p:sp>
      <p:sp>
        <p:nvSpPr>
          <p:cNvPr id="388" name="Google Shape;388;p14"/>
          <p:cNvSpPr/>
          <p:nvPr/>
        </p:nvSpPr>
        <p:spPr>
          <a:xfrm>
            <a:off x="457200" y="1554480"/>
            <a:ext cx="5501488" cy="4114800"/>
          </a:xfrm>
          <a:prstGeom prst="roundRect">
            <a:avLst>
              <a:gd fmla="val 1778" name="adj"/>
            </a:avLst>
          </a:prstGeom>
          <a:solidFill>
            <a:srgbClr val="E8F7EF"/>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685800" y="178308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Elle reste pertinente si…</a:t>
            </a:r>
            <a:endParaRPr b="0" i="0" sz="1500" u="none" cap="none" strike="noStrike">
              <a:solidFill>
                <a:schemeClr val="dk1"/>
              </a:solidFill>
              <a:latin typeface="Calibri"/>
              <a:ea typeface="Calibri"/>
              <a:cs typeface="Calibri"/>
              <a:sym typeface="Calibri"/>
            </a:endParaRPr>
          </a:p>
        </p:txBody>
      </p:sp>
      <p:sp>
        <p:nvSpPr>
          <p:cNvPr id="390" name="Google Shape;390;p14"/>
          <p:cNvSpPr/>
          <p:nvPr/>
        </p:nvSpPr>
        <p:spPr>
          <a:xfrm>
            <a:off x="685800" y="2286000"/>
            <a:ext cx="4998568" cy="310896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3A4658"/>
              </a:buClr>
              <a:buSzPts val="1350"/>
              <a:buFont typeface="Arial"/>
              <a:buChar char="•"/>
            </a:pPr>
            <a:r>
              <a:rPr b="0" i="0" lang="en-US" sz="1350" u="none" cap="none" strike="noStrike">
                <a:solidFill>
                  <a:srgbClr val="3A4658"/>
                </a:solidFill>
                <a:latin typeface="Arial"/>
                <a:ea typeface="Arial"/>
                <a:cs typeface="Arial"/>
                <a:sym typeface="Arial"/>
              </a:rPr>
              <a:t>Classes parfaitement équilibrées (50/50).</a:t>
            </a:r>
            <a:endParaRPr b="0" i="0" sz="1350" u="none" cap="none" strike="noStrike">
              <a:solidFill>
                <a:schemeClr val="dk1"/>
              </a:solidFill>
              <a:latin typeface="Calibri"/>
              <a:ea typeface="Calibri"/>
              <a:cs typeface="Calibri"/>
              <a:sym typeface="Calibri"/>
            </a:endParaRPr>
          </a:p>
          <a:p>
            <a:pPr indent="-342900" lvl="0" marL="342900" marR="0" rtl="0" algn="l">
              <a:lnSpc>
                <a:spcPct val="130000"/>
              </a:lnSpc>
              <a:spcBef>
                <a:spcPts val="1000"/>
              </a:spcBef>
              <a:spcAft>
                <a:spcPts val="0"/>
              </a:spcAft>
              <a:buClr>
                <a:srgbClr val="3A4658"/>
              </a:buClr>
              <a:buSzPts val="1350"/>
              <a:buFont typeface="Arial"/>
              <a:buChar char="•"/>
            </a:pPr>
            <a:r>
              <a:rPr b="0" i="0" lang="en-US" sz="1350" u="none" cap="none" strike="noStrike">
                <a:solidFill>
                  <a:srgbClr val="3A4658"/>
                </a:solidFill>
                <a:latin typeface="Arial"/>
                <a:ea typeface="Arial"/>
                <a:cs typeface="Arial"/>
                <a:sym typeface="Arial"/>
              </a:rPr>
              <a:t>Coûts d'erreur symétriques (un FP coûte autant qu'un FN).</a:t>
            </a:r>
            <a:endParaRPr b="0" i="0" sz="1350" u="none" cap="none" strike="noStrike">
              <a:solidFill>
                <a:schemeClr val="dk1"/>
              </a:solidFill>
              <a:latin typeface="Calibri"/>
              <a:ea typeface="Calibri"/>
              <a:cs typeface="Calibri"/>
              <a:sym typeface="Calibri"/>
            </a:endParaRPr>
          </a:p>
        </p:txBody>
      </p:sp>
      <p:sp>
        <p:nvSpPr>
          <p:cNvPr id="391" name="Google Shape;391;p14"/>
          <p:cNvSpPr/>
          <p:nvPr/>
        </p:nvSpPr>
        <p:spPr>
          <a:xfrm>
            <a:off x="6233008" y="1554480"/>
            <a:ext cx="5501488" cy="4114800"/>
          </a:xfrm>
          <a:prstGeom prst="roundRect">
            <a:avLst>
              <a:gd fmla="val 1778"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a:off x="6461608" y="178308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500"/>
              <a:buFont typeface="Arial"/>
              <a:buNone/>
            </a:pPr>
            <a:r>
              <a:rPr b="1" i="0" lang="en-US" sz="1500" u="none" cap="none" strike="noStrike">
                <a:solidFill>
                  <a:srgbClr val="D9463A"/>
                </a:solidFill>
                <a:latin typeface="Arial"/>
                <a:ea typeface="Arial"/>
                <a:cs typeface="Arial"/>
                <a:sym typeface="Arial"/>
              </a:rPr>
              <a:t>Ses limites structurelles</a:t>
            </a:r>
            <a:endParaRPr b="0" i="0" sz="1500" u="none" cap="none" strike="noStrike">
              <a:solidFill>
                <a:schemeClr val="dk1"/>
              </a:solidFill>
              <a:latin typeface="Calibri"/>
              <a:ea typeface="Calibri"/>
              <a:cs typeface="Calibri"/>
              <a:sym typeface="Calibri"/>
            </a:endParaRPr>
          </a:p>
        </p:txBody>
      </p:sp>
      <p:sp>
        <p:nvSpPr>
          <p:cNvPr id="393" name="Google Shape;393;p14"/>
          <p:cNvSpPr/>
          <p:nvPr/>
        </p:nvSpPr>
        <p:spPr>
          <a:xfrm>
            <a:off x="6461608" y="2286000"/>
            <a:ext cx="4998568" cy="310896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3A4658"/>
              </a:buClr>
              <a:buSzPts val="1350"/>
              <a:buFont typeface="Arial"/>
              <a:buChar char="•"/>
            </a:pPr>
            <a:r>
              <a:rPr b="0" i="0" lang="en-US" sz="1350" u="none" cap="none" strike="noStrike">
                <a:solidFill>
                  <a:srgbClr val="3A4658"/>
                </a:solidFill>
                <a:latin typeface="Arial"/>
                <a:ea typeface="Arial"/>
                <a:cs typeface="Arial"/>
                <a:sym typeface="Arial"/>
              </a:rPr>
              <a:t>Traite un FP et un FN avec le même poids — faux dans la majorité des cas industriels.</a:t>
            </a:r>
            <a:endParaRPr b="0" i="0" sz="1350" u="none" cap="none" strike="noStrike">
              <a:solidFill>
                <a:schemeClr val="dk1"/>
              </a:solidFill>
              <a:latin typeface="Calibri"/>
              <a:ea typeface="Calibri"/>
              <a:cs typeface="Calibri"/>
              <a:sym typeface="Calibri"/>
            </a:endParaRPr>
          </a:p>
          <a:p>
            <a:pPr indent="-342900" lvl="0" marL="342900" marR="0" rtl="0" algn="l">
              <a:lnSpc>
                <a:spcPct val="130000"/>
              </a:lnSpc>
              <a:spcBef>
                <a:spcPts val="1000"/>
              </a:spcBef>
              <a:spcAft>
                <a:spcPts val="0"/>
              </a:spcAft>
              <a:buClr>
                <a:srgbClr val="3A4658"/>
              </a:buClr>
              <a:buSzPts val="1350"/>
              <a:buFont typeface="Arial"/>
              <a:buChar char="•"/>
            </a:pPr>
            <a:r>
              <a:rPr b="0" i="0" lang="en-US" sz="1350" u="none" cap="none" strike="noStrike">
                <a:solidFill>
                  <a:srgbClr val="3A4658"/>
                </a:solidFill>
                <a:latin typeface="Arial"/>
                <a:ea typeface="Arial"/>
                <a:cs typeface="Arial"/>
                <a:sym typeface="Arial"/>
              </a:rPr>
              <a:t>Ne dit rien de la capacité réelle à détecter la classe minoritaire.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398" name="Shape 398"/>
        <p:cNvGrpSpPr/>
        <p:nvPr/>
      </p:nvGrpSpPr>
      <p:grpSpPr>
        <a:xfrm>
          <a:off x="0" y="0"/>
          <a:ext cx="0" cy="0"/>
          <a:chOff x="0" y="0"/>
          <a:chExt cx="0" cy="0"/>
        </a:xfrm>
      </p:grpSpPr>
      <p:sp>
        <p:nvSpPr>
          <p:cNvPr id="399" name="Google Shape;399;p15"/>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 name="Google Shape;400;p15"/>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401" name="Google Shape;401;p15"/>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402" name="Google Shape;402;p15"/>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403" name="Google Shape;403;p15"/>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404" name="Google Shape;404;p15"/>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405" name="Google Shape;405;p15"/>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406" name="Google Shape;406;p15"/>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15 / 35</a:t>
            </a:r>
            <a:endParaRPr b="0" i="0" sz="900" u="none" cap="none" strike="noStrike">
              <a:solidFill>
                <a:schemeClr val="dk1"/>
              </a:solidFill>
              <a:latin typeface="Calibri"/>
              <a:ea typeface="Calibri"/>
              <a:cs typeface="Calibri"/>
              <a:sym typeface="Calibri"/>
            </a:endParaRPr>
          </a:p>
        </p:txBody>
      </p:sp>
      <p:sp>
        <p:nvSpPr>
          <p:cNvPr id="407" name="Google Shape;407;p15"/>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4</a:t>
            </a:r>
            <a:endParaRPr b="0" i="0" sz="1200" u="none" cap="none" strike="noStrike">
              <a:solidFill>
                <a:schemeClr val="dk1"/>
              </a:solidFill>
              <a:latin typeface="Calibri"/>
              <a:ea typeface="Calibri"/>
              <a:cs typeface="Calibri"/>
              <a:sym typeface="Calibri"/>
            </a:endParaRPr>
          </a:p>
        </p:txBody>
      </p:sp>
      <p:sp>
        <p:nvSpPr>
          <p:cNvPr id="409" name="Google Shape;409;p15"/>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Précision vs Rappel</a:t>
            </a:r>
            <a:endParaRPr b="0" i="0" sz="3400" u="none" cap="none" strike="noStrike">
              <a:solidFill>
                <a:schemeClr val="dk1"/>
              </a:solidFill>
              <a:latin typeface="Calibri"/>
              <a:ea typeface="Calibri"/>
              <a:cs typeface="Calibri"/>
              <a:sym typeface="Calibri"/>
            </a:endParaRPr>
          </a:p>
        </p:txBody>
      </p:sp>
      <p:sp>
        <p:nvSpPr>
          <p:cNvPr id="410" name="Google Shape;410;p15"/>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La guerre des biens : sélectivité (qualité) contre exhaustivité (quantité).</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cxnSp>
        <p:nvCxnSpPr>
          <p:cNvPr id="416" name="Google Shape;416;p16"/>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417" name="Google Shape;417;p16"/>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418" name="Google Shape;418;p16"/>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419" name="Google Shape;419;p16"/>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420" name="Google Shape;420;p16"/>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421" name="Google Shape;421;p16"/>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422" name="Google Shape;422;p16"/>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16 / 35</a:t>
            </a:r>
            <a:endParaRPr b="0" i="0" sz="900" u="none" cap="none" strike="noStrike">
              <a:solidFill>
                <a:schemeClr val="dk1"/>
              </a:solidFill>
              <a:latin typeface="Calibri"/>
              <a:ea typeface="Calibri"/>
              <a:cs typeface="Calibri"/>
              <a:sym typeface="Calibri"/>
            </a:endParaRPr>
          </a:p>
        </p:txBody>
      </p:sp>
      <p:pic>
        <p:nvPicPr>
          <p:cNvPr descr="icons/bullseye.png" id="423" name="Google Shape;423;p16"/>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424" name="Google Shape;424;p16"/>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La Précision : Viser Juste</a:t>
            </a:r>
            <a:endParaRPr b="0" i="0" sz="2400" u="none" cap="none" strike="noStrike">
              <a:solidFill>
                <a:schemeClr val="dk1"/>
              </a:solidFill>
              <a:latin typeface="Calibri"/>
              <a:ea typeface="Calibri"/>
              <a:cs typeface="Calibri"/>
              <a:sym typeface="Calibri"/>
            </a:endParaRPr>
          </a:p>
        </p:txBody>
      </p:sp>
      <p:sp>
        <p:nvSpPr>
          <p:cNvPr id="425" name="Google Shape;425;p16"/>
          <p:cNvSpPr/>
          <p:nvPr/>
        </p:nvSpPr>
        <p:spPr>
          <a:xfrm>
            <a:off x="457200" y="1417320"/>
            <a:ext cx="11277295" cy="777240"/>
          </a:xfrm>
          <a:prstGeom prst="roundRect">
            <a:avLst>
              <a:gd fmla="val 9412"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457200" y="1417320"/>
            <a:ext cx="11277295"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Précision = </a:t>
            </a:r>
            <a:r>
              <a:rPr b="1" i="0" lang="en-US" sz="1900" u="none" cap="none" strike="noStrike">
                <a:solidFill>
                  <a:srgbClr val="1652D9"/>
                </a:solidFill>
                <a:latin typeface="Arial"/>
                <a:ea typeface="Arial"/>
                <a:cs typeface="Arial"/>
                <a:sym typeface="Arial"/>
              </a:rPr>
              <a:t>VP / (VP + FP)</a:t>
            </a:r>
            <a:endParaRPr b="0" i="0" sz="1900" u="none" cap="none" strike="noStrike">
              <a:solidFill>
                <a:schemeClr val="dk1"/>
              </a:solidFill>
              <a:latin typeface="Calibri"/>
              <a:ea typeface="Calibri"/>
              <a:cs typeface="Calibri"/>
              <a:sym typeface="Calibri"/>
            </a:endParaRPr>
          </a:p>
        </p:txBody>
      </p:sp>
      <p:sp>
        <p:nvSpPr>
          <p:cNvPr id="427" name="Google Shape;427;p16"/>
          <p:cNvSpPr/>
          <p:nvPr/>
        </p:nvSpPr>
        <p:spPr>
          <a:xfrm>
            <a:off x="640080" y="2331720"/>
            <a:ext cx="10911535"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4658"/>
              </a:buClr>
              <a:buSzPts val="1400"/>
              <a:buFont typeface="Arial"/>
              <a:buNone/>
            </a:pPr>
            <a:r>
              <a:rPr b="0" i="1" lang="en-US" sz="1400" u="none" cap="none" strike="noStrike">
                <a:solidFill>
                  <a:srgbClr val="3A4658"/>
                </a:solidFill>
                <a:latin typeface="Arial"/>
                <a:ea typeface="Arial"/>
                <a:cs typeface="Arial"/>
                <a:sym typeface="Arial"/>
              </a:rPr>
              <a:t>“Parmi toutes les instances prédites positives, combien le sont réellement ?”</a:t>
            </a:r>
            <a:endParaRPr b="0" i="0" sz="1400" u="none" cap="none" strike="noStrike">
              <a:solidFill>
                <a:schemeClr val="dk1"/>
              </a:solidFill>
              <a:latin typeface="Calibri"/>
              <a:ea typeface="Calibri"/>
              <a:cs typeface="Calibri"/>
              <a:sym typeface="Calibri"/>
            </a:endParaRPr>
          </a:p>
        </p:txBody>
      </p:sp>
      <p:sp>
        <p:nvSpPr>
          <p:cNvPr id="428" name="Google Shape;428;p16"/>
          <p:cNvSpPr/>
          <p:nvPr/>
        </p:nvSpPr>
        <p:spPr>
          <a:xfrm>
            <a:off x="457200" y="2971800"/>
            <a:ext cx="5501488" cy="2743200"/>
          </a:xfrm>
          <a:prstGeom prst="roundRect">
            <a:avLst>
              <a:gd fmla="val 266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ullseye.png" id="429" name="Google Shape;429;p16"/>
          <p:cNvPicPr preferRelativeResize="0"/>
          <p:nvPr/>
        </p:nvPicPr>
        <p:blipFill rotWithShape="1">
          <a:blip r:embed="rId4">
            <a:alphaModFix/>
          </a:blip>
          <a:srcRect b="0" l="0" r="0" t="0"/>
          <a:stretch/>
        </p:blipFill>
        <p:spPr>
          <a:xfrm>
            <a:off x="685800" y="3246120"/>
            <a:ext cx="457200" cy="457200"/>
          </a:xfrm>
          <a:prstGeom prst="rect">
            <a:avLst/>
          </a:prstGeom>
          <a:noFill/>
          <a:ln>
            <a:noFill/>
          </a:ln>
        </p:spPr>
      </p:pic>
      <p:sp>
        <p:nvSpPr>
          <p:cNvPr id="430" name="Google Shape;430;p16"/>
          <p:cNvSpPr/>
          <p:nvPr/>
        </p:nvSpPr>
        <p:spPr>
          <a:xfrm>
            <a:off x="1280160" y="3319272"/>
            <a:ext cx="403844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Mesure de qualité</a:t>
            </a:r>
            <a:endParaRPr b="0" i="0" sz="1500" u="none" cap="none" strike="noStrike">
              <a:solidFill>
                <a:schemeClr val="dk1"/>
              </a:solidFill>
              <a:latin typeface="Calibri"/>
              <a:ea typeface="Calibri"/>
              <a:cs typeface="Calibri"/>
              <a:sym typeface="Calibri"/>
            </a:endParaRPr>
          </a:p>
        </p:txBody>
      </p:sp>
      <p:sp>
        <p:nvSpPr>
          <p:cNvPr id="431" name="Google Shape;431;p16"/>
          <p:cNvSpPr/>
          <p:nvPr/>
        </p:nvSpPr>
        <p:spPr>
          <a:xfrm>
            <a:off x="685800" y="3886200"/>
            <a:ext cx="4998568"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Quand le modèle affirme “positif”, on peut lui faire confiance : il ne donne pas l'alerte à la légère.</a:t>
            </a:r>
            <a:endParaRPr b="0" i="0" sz="1250" u="none" cap="none" strike="noStrike">
              <a:solidFill>
                <a:schemeClr val="dk1"/>
              </a:solidFill>
              <a:latin typeface="Calibri"/>
              <a:ea typeface="Calibri"/>
              <a:cs typeface="Calibri"/>
              <a:sym typeface="Calibri"/>
            </a:endParaRPr>
          </a:p>
        </p:txBody>
      </p:sp>
      <p:sp>
        <p:nvSpPr>
          <p:cNvPr id="432" name="Google Shape;432;p16"/>
          <p:cNvSpPr/>
          <p:nvPr/>
        </p:nvSpPr>
        <p:spPr>
          <a:xfrm>
            <a:off x="6233008" y="2971800"/>
            <a:ext cx="5501488" cy="2743200"/>
          </a:xfrm>
          <a:prstGeom prst="roundRect">
            <a:avLst>
              <a:gd fmla="val 266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ll.png" id="433" name="Google Shape;433;p16"/>
          <p:cNvPicPr preferRelativeResize="0"/>
          <p:nvPr/>
        </p:nvPicPr>
        <p:blipFill rotWithShape="1">
          <a:blip r:embed="rId5">
            <a:alphaModFix/>
          </a:blip>
          <a:srcRect b="0" l="0" r="0" t="0"/>
          <a:stretch/>
        </p:blipFill>
        <p:spPr>
          <a:xfrm>
            <a:off x="6461608" y="3246120"/>
            <a:ext cx="457200" cy="457200"/>
          </a:xfrm>
          <a:prstGeom prst="rect">
            <a:avLst/>
          </a:prstGeom>
          <a:noFill/>
          <a:ln>
            <a:noFill/>
          </a:ln>
        </p:spPr>
      </p:pic>
      <p:sp>
        <p:nvSpPr>
          <p:cNvPr id="434" name="Google Shape;434;p16"/>
          <p:cNvSpPr/>
          <p:nvPr/>
        </p:nvSpPr>
        <p:spPr>
          <a:xfrm>
            <a:off x="7055968" y="3319272"/>
            <a:ext cx="449564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Contre les fausses alertes</a:t>
            </a:r>
            <a:endParaRPr b="0" i="0" sz="1500" u="none" cap="none" strike="noStrike">
              <a:solidFill>
                <a:schemeClr val="dk1"/>
              </a:solidFill>
              <a:latin typeface="Calibri"/>
              <a:ea typeface="Calibri"/>
              <a:cs typeface="Calibri"/>
              <a:sym typeface="Calibri"/>
            </a:endParaRPr>
          </a:p>
        </p:txBody>
      </p:sp>
      <p:sp>
        <p:nvSpPr>
          <p:cNvPr id="435" name="Google Shape;435;p16"/>
          <p:cNvSpPr/>
          <p:nvPr/>
        </p:nvSpPr>
        <p:spPr>
          <a:xfrm>
            <a:off x="6461608" y="3886200"/>
            <a:ext cx="4998568"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Augmenter la Précision revient directement à réduire le nombre de Faux Positifs.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cxnSp>
        <p:nvCxnSpPr>
          <p:cNvPr id="441" name="Google Shape;441;p17"/>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442" name="Google Shape;442;p17"/>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443" name="Google Shape;443;p17"/>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444" name="Google Shape;444;p17"/>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445" name="Google Shape;445;p17"/>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446" name="Google Shape;446;p17"/>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447" name="Google Shape;447;p17"/>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17 / 35</a:t>
            </a:r>
            <a:endParaRPr b="0" i="0" sz="900" u="none" cap="none" strike="noStrike">
              <a:solidFill>
                <a:schemeClr val="dk1"/>
              </a:solidFill>
              <a:latin typeface="Calibri"/>
              <a:ea typeface="Calibri"/>
              <a:cs typeface="Calibri"/>
              <a:sym typeface="Calibri"/>
            </a:endParaRPr>
          </a:p>
        </p:txBody>
      </p:sp>
      <p:pic>
        <p:nvPicPr>
          <p:cNvPr descr="icons/fish.png" id="448" name="Google Shape;448;p17"/>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449" name="Google Shape;449;p17"/>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Le Rappel : Ne Rien Laisser Passer</a:t>
            </a:r>
            <a:endParaRPr b="0" i="0" sz="2400" u="none" cap="none" strike="noStrike">
              <a:solidFill>
                <a:schemeClr val="dk1"/>
              </a:solidFill>
              <a:latin typeface="Calibri"/>
              <a:ea typeface="Calibri"/>
              <a:cs typeface="Calibri"/>
              <a:sym typeface="Calibri"/>
            </a:endParaRPr>
          </a:p>
        </p:txBody>
      </p:sp>
      <p:sp>
        <p:nvSpPr>
          <p:cNvPr id="450" name="Google Shape;450;p17"/>
          <p:cNvSpPr/>
          <p:nvPr/>
        </p:nvSpPr>
        <p:spPr>
          <a:xfrm>
            <a:off x="457200" y="1417320"/>
            <a:ext cx="11277295" cy="777240"/>
          </a:xfrm>
          <a:prstGeom prst="roundRect">
            <a:avLst>
              <a:gd fmla="val 9412"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457200" y="1417320"/>
            <a:ext cx="11277295"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900"/>
              <a:buFont typeface="Arial"/>
              <a:buNone/>
            </a:pPr>
            <a:r>
              <a:rPr b="1" i="0" lang="en-US" sz="1900" u="none" cap="none" strike="noStrike">
                <a:solidFill>
                  <a:srgbClr val="1F2937"/>
                </a:solidFill>
                <a:latin typeface="Arial"/>
                <a:ea typeface="Arial"/>
                <a:cs typeface="Arial"/>
                <a:sym typeface="Arial"/>
              </a:rPr>
              <a:t>Rappel = </a:t>
            </a:r>
            <a:r>
              <a:rPr b="1" i="0" lang="en-US" sz="1900" u="none" cap="none" strike="noStrike">
                <a:solidFill>
                  <a:srgbClr val="1652D9"/>
                </a:solidFill>
                <a:latin typeface="Arial"/>
                <a:ea typeface="Arial"/>
                <a:cs typeface="Arial"/>
                <a:sym typeface="Arial"/>
              </a:rPr>
              <a:t>VP / (VP + FN)</a:t>
            </a:r>
            <a:endParaRPr b="0" i="0" sz="1900" u="none" cap="none" strike="noStrike">
              <a:solidFill>
                <a:schemeClr val="dk1"/>
              </a:solidFill>
              <a:latin typeface="Calibri"/>
              <a:ea typeface="Calibri"/>
              <a:cs typeface="Calibri"/>
              <a:sym typeface="Calibri"/>
            </a:endParaRPr>
          </a:p>
        </p:txBody>
      </p:sp>
      <p:sp>
        <p:nvSpPr>
          <p:cNvPr id="452" name="Google Shape;452;p17"/>
          <p:cNvSpPr/>
          <p:nvPr/>
        </p:nvSpPr>
        <p:spPr>
          <a:xfrm>
            <a:off x="640080" y="2331720"/>
            <a:ext cx="10911535"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4658"/>
              </a:buClr>
              <a:buSzPts val="1400"/>
              <a:buFont typeface="Arial"/>
              <a:buNone/>
            </a:pPr>
            <a:r>
              <a:rPr b="0" i="1" lang="en-US" sz="1400" u="none" cap="none" strike="noStrike">
                <a:solidFill>
                  <a:srgbClr val="3A4658"/>
                </a:solidFill>
                <a:latin typeface="Arial"/>
                <a:ea typeface="Arial"/>
                <a:cs typeface="Arial"/>
                <a:sym typeface="Arial"/>
              </a:rPr>
              <a:t>“Parmi toutes les instances réellement positives, combien le modèle en a-t-il capturé ?”</a:t>
            </a:r>
            <a:endParaRPr b="0" i="0" sz="1400" u="none" cap="none" strike="noStrike">
              <a:solidFill>
                <a:schemeClr val="dk1"/>
              </a:solidFill>
              <a:latin typeface="Calibri"/>
              <a:ea typeface="Calibri"/>
              <a:cs typeface="Calibri"/>
              <a:sym typeface="Calibri"/>
            </a:endParaRPr>
          </a:p>
        </p:txBody>
      </p:sp>
      <p:sp>
        <p:nvSpPr>
          <p:cNvPr id="453" name="Google Shape;453;p17"/>
          <p:cNvSpPr/>
          <p:nvPr/>
        </p:nvSpPr>
        <p:spPr>
          <a:xfrm>
            <a:off x="457200" y="2971800"/>
            <a:ext cx="5501488" cy="2743200"/>
          </a:xfrm>
          <a:prstGeom prst="roundRect">
            <a:avLst>
              <a:gd fmla="val 266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ish.png" id="454" name="Google Shape;454;p17"/>
          <p:cNvPicPr preferRelativeResize="0"/>
          <p:nvPr/>
        </p:nvPicPr>
        <p:blipFill rotWithShape="1">
          <a:blip r:embed="rId4">
            <a:alphaModFix/>
          </a:blip>
          <a:srcRect b="0" l="0" r="0" t="0"/>
          <a:stretch/>
        </p:blipFill>
        <p:spPr>
          <a:xfrm>
            <a:off x="685800" y="3246120"/>
            <a:ext cx="457200" cy="457200"/>
          </a:xfrm>
          <a:prstGeom prst="rect">
            <a:avLst/>
          </a:prstGeom>
          <a:noFill/>
          <a:ln>
            <a:noFill/>
          </a:ln>
        </p:spPr>
      </p:pic>
      <p:sp>
        <p:nvSpPr>
          <p:cNvPr id="455" name="Google Shape;455;p17"/>
          <p:cNvSpPr/>
          <p:nvPr/>
        </p:nvSpPr>
        <p:spPr>
          <a:xfrm>
            <a:off x="1280160" y="3319272"/>
            <a:ext cx="403844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Capacité de détection</a:t>
            </a:r>
            <a:endParaRPr b="0" i="0" sz="1500" u="none" cap="none" strike="noStrike">
              <a:solidFill>
                <a:schemeClr val="dk1"/>
              </a:solidFill>
              <a:latin typeface="Calibri"/>
              <a:ea typeface="Calibri"/>
              <a:cs typeface="Calibri"/>
              <a:sym typeface="Calibri"/>
            </a:endParaRPr>
          </a:p>
        </p:txBody>
      </p:sp>
      <p:sp>
        <p:nvSpPr>
          <p:cNvPr id="456" name="Google Shape;456;p17"/>
          <p:cNvSpPr/>
          <p:nvPr/>
        </p:nvSpPr>
        <p:spPr>
          <a:xfrm>
            <a:off x="685800" y="3886200"/>
            <a:ext cx="4998568"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Un Rappel élevé garantit que le modèle ratisse large et ne laisse passer aucun cas positif entre les mailles du filet.</a:t>
            </a:r>
            <a:endParaRPr b="0" i="0" sz="1250" u="none" cap="none" strike="noStrike">
              <a:solidFill>
                <a:schemeClr val="dk1"/>
              </a:solidFill>
              <a:latin typeface="Calibri"/>
              <a:ea typeface="Calibri"/>
              <a:cs typeface="Calibri"/>
              <a:sym typeface="Calibri"/>
            </a:endParaRPr>
          </a:p>
        </p:txBody>
      </p:sp>
      <p:sp>
        <p:nvSpPr>
          <p:cNvPr id="457" name="Google Shape;457;p17"/>
          <p:cNvSpPr/>
          <p:nvPr/>
        </p:nvSpPr>
        <p:spPr>
          <a:xfrm>
            <a:off x="6233008" y="2971800"/>
            <a:ext cx="5501488" cy="2743200"/>
          </a:xfrm>
          <a:prstGeom prst="roundRect">
            <a:avLst>
              <a:gd fmla="val 266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iangle.png" id="458" name="Google Shape;458;p17"/>
          <p:cNvPicPr preferRelativeResize="0"/>
          <p:nvPr/>
        </p:nvPicPr>
        <p:blipFill rotWithShape="1">
          <a:blip r:embed="rId5">
            <a:alphaModFix/>
          </a:blip>
          <a:srcRect b="0" l="0" r="0" t="0"/>
          <a:stretch/>
        </p:blipFill>
        <p:spPr>
          <a:xfrm>
            <a:off x="6461608" y="3246120"/>
            <a:ext cx="457200" cy="457200"/>
          </a:xfrm>
          <a:prstGeom prst="rect">
            <a:avLst/>
          </a:prstGeom>
          <a:noFill/>
          <a:ln>
            <a:noFill/>
          </a:ln>
        </p:spPr>
      </p:pic>
      <p:sp>
        <p:nvSpPr>
          <p:cNvPr id="459" name="Google Shape;459;p17"/>
          <p:cNvSpPr/>
          <p:nvPr/>
        </p:nvSpPr>
        <p:spPr>
          <a:xfrm>
            <a:off x="7055968" y="3319272"/>
            <a:ext cx="449564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Contre les ratés critiques</a:t>
            </a:r>
            <a:endParaRPr b="0" i="0" sz="1500" u="none" cap="none" strike="noStrike">
              <a:solidFill>
                <a:schemeClr val="dk1"/>
              </a:solidFill>
              <a:latin typeface="Calibri"/>
              <a:ea typeface="Calibri"/>
              <a:cs typeface="Calibri"/>
              <a:sym typeface="Calibri"/>
            </a:endParaRPr>
          </a:p>
        </p:txBody>
      </p:sp>
      <p:sp>
        <p:nvSpPr>
          <p:cNvPr id="460" name="Google Shape;460;p17"/>
          <p:cNvSpPr/>
          <p:nvPr/>
        </p:nvSpPr>
        <p:spPr>
          <a:xfrm>
            <a:off x="6461608" y="3886200"/>
            <a:ext cx="4998568"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Maximiser le Rappel revient directement à éradiquer les Faux Négatifs — les dangers non détectés.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cxnSp>
        <p:nvCxnSpPr>
          <p:cNvPr id="466" name="Google Shape;466;p18"/>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467" name="Google Shape;467;p18"/>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468" name="Google Shape;468;p18"/>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469" name="Google Shape;469;p18"/>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470" name="Google Shape;470;p18"/>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471" name="Google Shape;471;p18"/>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472" name="Google Shape;472;p18"/>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18 / 35</a:t>
            </a:r>
            <a:endParaRPr b="0" i="0" sz="900" u="none" cap="none" strike="noStrike">
              <a:solidFill>
                <a:schemeClr val="dk1"/>
              </a:solidFill>
              <a:latin typeface="Calibri"/>
              <a:ea typeface="Calibri"/>
              <a:cs typeface="Calibri"/>
              <a:sym typeface="Calibri"/>
            </a:endParaRPr>
          </a:p>
        </p:txBody>
      </p:sp>
      <p:pic>
        <p:nvPicPr>
          <p:cNvPr descr="icons/balance.png" id="473" name="Google Shape;473;p18"/>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474" name="Google Shape;474;p18"/>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Le Grand Compromis : Harpon ou Filet ?</a:t>
            </a:r>
            <a:endParaRPr b="0" i="0" sz="2400" u="none" cap="none" strike="noStrike">
              <a:solidFill>
                <a:schemeClr val="dk1"/>
              </a:solidFill>
              <a:latin typeface="Calibri"/>
              <a:ea typeface="Calibri"/>
              <a:cs typeface="Calibri"/>
              <a:sym typeface="Calibri"/>
            </a:endParaRPr>
          </a:p>
        </p:txBody>
      </p:sp>
      <p:sp>
        <p:nvSpPr>
          <p:cNvPr id="475" name="Google Shape;475;p18"/>
          <p:cNvSpPr/>
          <p:nvPr/>
        </p:nvSpPr>
        <p:spPr>
          <a:xfrm>
            <a:off x="457200" y="1463040"/>
            <a:ext cx="5501488" cy="2331720"/>
          </a:xfrm>
          <a:prstGeom prst="roundRect">
            <a:avLst>
              <a:gd fmla="val 3137"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ish.png" id="476" name="Google Shape;476;p18"/>
          <p:cNvPicPr preferRelativeResize="0"/>
          <p:nvPr/>
        </p:nvPicPr>
        <p:blipFill rotWithShape="1">
          <a:blip r:embed="rId5">
            <a:alphaModFix/>
          </a:blip>
          <a:srcRect b="0" l="0" r="0" t="0"/>
          <a:stretch/>
        </p:blipFill>
        <p:spPr>
          <a:xfrm>
            <a:off x="685800" y="1691640"/>
            <a:ext cx="438912" cy="438912"/>
          </a:xfrm>
          <a:prstGeom prst="rect">
            <a:avLst/>
          </a:prstGeom>
          <a:noFill/>
          <a:ln>
            <a:noFill/>
          </a:ln>
        </p:spPr>
      </p:pic>
      <p:sp>
        <p:nvSpPr>
          <p:cNvPr id="477" name="Google Shape;477;p18"/>
          <p:cNvSpPr/>
          <p:nvPr/>
        </p:nvSpPr>
        <p:spPr>
          <a:xfrm>
            <a:off x="1234440" y="1737360"/>
            <a:ext cx="41298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Grand filet — Rappel fort</a:t>
            </a:r>
            <a:endParaRPr b="0" i="0" sz="1450" u="none" cap="none" strike="noStrike">
              <a:solidFill>
                <a:schemeClr val="dk1"/>
              </a:solidFill>
              <a:latin typeface="Calibri"/>
              <a:ea typeface="Calibri"/>
              <a:cs typeface="Calibri"/>
              <a:sym typeface="Calibri"/>
            </a:endParaRPr>
          </a:p>
        </p:txBody>
      </p:sp>
      <p:sp>
        <p:nvSpPr>
          <p:cNvPr id="478" name="Google Shape;478;p18"/>
          <p:cNvSpPr/>
          <p:nvPr/>
        </p:nvSpPr>
        <p:spPr>
          <a:xfrm>
            <a:off x="685800" y="2240280"/>
            <a:ext cx="4998568" cy="14173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Attrape tous les poissons cibles, mais ramasse aussi des détritus : Précision faible.</a:t>
            </a:r>
            <a:endParaRPr b="0" i="0" sz="1250" u="none" cap="none" strike="noStrike">
              <a:solidFill>
                <a:schemeClr val="dk1"/>
              </a:solidFill>
              <a:latin typeface="Calibri"/>
              <a:ea typeface="Calibri"/>
              <a:cs typeface="Calibri"/>
              <a:sym typeface="Calibri"/>
            </a:endParaRPr>
          </a:p>
        </p:txBody>
      </p:sp>
      <p:sp>
        <p:nvSpPr>
          <p:cNvPr id="479" name="Google Shape;479;p18"/>
          <p:cNvSpPr/>
          <p:nvPr/>
        </p:nvSpPr>
        <p:spPr>
          <a:xfrm>
            <a:off x="6233008" y="1463040"/>
            <a:ext cx="5501488" cy="2331720"/>
          </a:xfrm>
          <a:prstGeom prst="roundRect">
            <a:avLst>
              <a:gd fmla="val 3137"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anchor.png" id="480" name="Google Shape;480;p18"/>
          <p:cNvPicPr preferRelativeResize="0"/>
          <p:nvPr/>
        </p:nvPicPr>
        <p:blipFill rotWithShape="1">
          <a:blip r:embed="rId6">
            <a:alphaModFix/>
          </a:blip>
          <a:srcRect b="0" l="0" r="0" t="0"/>
          <a:stretch/>
        </p:blipFill>
        <p:spPr>
          <a:xfrm>
            <a:off x="6461608" y="1691640"/>
            <a:ext cx="438912" cy="438912"/>
          </a:xfrm>
          <a:prstGeom prst="rect">
            <a:avLst/>
          </a:prstGeom>
          <a:noFill/>
          <a:ln>
            <a:noFill/>
          </a:ln>
        </p:spPr>
      </p:pic>
      <p:sp>
        <p:nvSpPr>
          <p:cNvPr id="481" name="Google Shape;481;p18"/>
          <p:cNvSpPr/>
          <p:nvPr/>
        </p:nvSpPr>
        <p:spPr>
          <a:xfrm>
            <a:off x="7010248" y="1737360"/>
            <a:ext cx="449564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Harpon — Précision forte</a:t>
            </a:r>
            <a:endParaRPr b="0" i="0" sz="1450" u="none" cap="none" strike="noStrike">
              <a:solidFill>
                <a:schemeClr val="dk1"/>
              </a:solidFill>
              <a:latin typeface="Calibri"/>
              <a:ea typeface="Calibri"/>
              <a:cs typeface="Calibri"/>
              <a:sym typeface="Calibri"/>
            </a:endParaRPr>
          </a:p>
        </p:txBody>
      </p:sp>
      <p:sp>
        <p:nvSpPr>
          <p:cNvPr id="482" name="Google Shape;482;p18"/>
          <p:cNvSpPr/>
          <p:nvPr/>
        </p:nvSpPr>
        <p:spPr>
          <a:xfrm>
            <a:off x="6461608" y="2240280"/>
            <a:ext cx="4998568" cy="14173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Ne touche que le poisson visé, mais laisse filer le reste du banc : Rappel faible.</a:t>
            </a:r>
            <a:endParaRPr b="0" i="0" sz="1250" u="none" cap="none" strike="noStrike">
              <a:solidFill>
                <a:schemeClr val="dk1"/>
              </a:solidFill>
              <a:latin typeface="Calibri"/>
              <a:ea typeface="Calibri"/>
              <a:cs typeface="Calibri"/>
              <a:sym typeface="Calibri"/>
            </a:endParaRPr>
          </a:p>
        </p:txBody>
      </p:sp>
      <p:sp>
        <p:nvSpPr>
          <p:cNvPr id="483" name="Google Shape;483;p18"/>
          <p:cNvSpPr/>
          <p:nvPr/>
        </p:nvSpPr>
        <p:spPr>
          <a:xfrm>
            <a:off x="457200" y="4023360"/>
            <a:ext cx="1127729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400"/>
              <a:buFont typeface="Arial"/>
              <a:buNone/>
            </a:pPr>
            <a:r>
              <a:rPr b="1" i="0" lang="en-US" sz="1400" u="none" cap="none" strike="noStrike">
                <a:solidFill>
                  <a:srgbClr val="1F2937"/>
                </a:solidFill>
                <a:latin typeface="Arial"/>
                <a:ea typeface="Arial"/>
                <a:cs typeface="Arial"/>
                <a:sym typeface="Arial"/>
              </a:rPr>
              <a:t>Dans la pratique, qui privilégier ?</a:t>
            </a:r>
            <a:endParaRPr b="0" i="0" sz="1400" u="none" cap="none" strike="noStrike">
              <a:solidFill>
                <a:schemeClr val="dk1"/>
              </a:solidFill>
              <a:latin typeface="Calibri"/>
              <a:ea typeface="Calibri"/>
              <a:cs typeface="Calibri"/>
              <a:sym typeface="Calibri"/>
            </a:endParaRPr>
          </a:p>
        </p:txBody>
      </p:sp>
      <p:sp>
        <p:nvSpPr>
          <p:cNvPr id="484" name="Google Shape;484;p18"/>
          <p:cNvSpPr/>
          <p:nvPr/>
        </p:nvSpPr>
        <p:spPr>
          <a:xfrm>
            <a:off x="457200" y="4389120"/>
            <a:ext cx="3698138" cy="868680"/>
          </a:xfrm>
          <a:prstGeom prst="roundRect">
            <a:avLst>
              <a:gd fmla="val 7368"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a:off x="594360" y="4462272"/>
            <a:ext cx="342381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00"/>
              <a:buFont typeface="Arial"/>
              <a:buNone/>
            </a:pPr>
            <a:r>
              <a:rPr b="1" i="0" lang="en-US" sz="1200" u="none" cap="none" strike="noStrike">
                <a:solidFill>
                  <a:srgbClr val="1F2937"/>
                </a:solidFill>
                <a:latin typeface="Arial"/>
                <a:ea typeface="Arial"/>
                <a:cs typeface="Arial"/>
                <a:sym typeface="Arial"/>
              </a:rPr>
              <a:t>Justice pénale  </a:t>
            </a:r>
            <a:r>
              <a:rPr b="1" i="0" lang="en-US" sz="1200" u="none" cap="none" strike="noStrike">
                <a:solidFill>
                  <a:srgbClr val="1652D9"/>
                </a:solidFill>
                <a:latin typeface="Arial"/>
                <a:ea typeface="Arial"/>
                <a:cs typeface="Arial"/>
                <a:sym typeface="Arial"/>
              </a:rPr>
              <a:t>→ Précision</a:t>
            </a:r>
            <a:endParaRPr b="0" i="0" sz="1200" u="none" cap="none" strike="noStrike">
              <a:solidFill>
                <a:schemeClr val="dk1"/>
              </a:solidFill>
              <a:latin typeface="Calibri"/>
              <a:ea typeface="Calibri"/>
              <a:cs typeface="Calibri"/>
              <a:sym typeface="Calibri"/>
            </a:endParaRPr>
          </a:p>
        </p:txBody>
      </p:sp>
      <p:sp>
        <p:nvSpPr>
          <p:cNvPr id="486" name="Google Shape;486;p18"/>
          <p:cNvSpPr/>
          <p:nvPr/>
        </p:nvSpPr>
        <p:spPr>
          <a:xfrm>
            <a:off x="594360" y="4736592"/>
            <a:ext cx="3423818"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Ne jamais condamner un innocent (FP).</a:t>
            </a:r>
            <a:endParaRPr b="0" i="0" sz="1050" u="none" cap="none" strike="noStrike">
              <a:solidFill>
                <a:schemeClr val="dk1"/>
              </a:solidFill>
              <a:latin typeface="Calibri"/>
              <a:ea typeface="Calibri"/>
              <a:cs typeface="Calibri"/>
              <a:sym typeface="Calibri"/>
            </a:endParaRPr>
          </a:p>
        </p:txBody>
      </p:sp>
      <p:sp>
        <p:nvSpPr>
          <p:cNvPr id="487" name="Google Shape;487;p18"/>
          <p:cNvSpPr/>
          <p:nvPr/>
        </p:nvSpPr>
        <p:spPr>
          <a:xfrm>
            <a:off x="4246778" y="4389120"/>
            <a:ext cx="3698138" cy="868680"/>
          </a:xfrm>
          <a:prstGeom prst="roundRect">
            <a:avLst>
              <a:gd fmla="val 7368"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8"/>
          <p:cNvSpPr/>
          <p:nvPr/>
        </p:nvSpPr>
        <p:spPr>
          <a:xfrm>
            <a:off x="4383938" y="4462272"/>
            <a:ext cx="342381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00"/>
              <a:buFont typeface="Arial"/>
              <a:buNone/>
            </a:pPr>
            <a:r>
              <a:rPr b="1" i="0" lang="en-US" sz="1200" u="none" cap="none" strike="noStrike">
                <a:solidFill>
                  <a:srgbClr val="1F2937"/>
                </a:solidFill>
                <a:latin typeface="Arial"/>
                <a:ea typeface="Arial"/>
                <a:cs typeface="Arial"/>
                <a:sym typeface="Arial"/>
              </a:rPr>
              <a:t>Dépistage médical  </a:t>
            </a:r>
            <a:r>
              <a:rPr b="1" i="0" lang="en-US" sz="1200" u="none" cap="none" strike="noStrike">
                <a:solidFill>
                  <a:srgbClr val="1652D9"/>
                </a:solidFill>
                <a:latin typeface="Arial"/>
                <a:ea typeface="Arial"/>
                <a:cs typeface="Arial"/>
                <a:sym typeface="Arial"/>
              </a:rPr>
              <a:t>→ Rappel</a:t>
            </a:r>
            <a:endParaRPr b="0" i="0" sz="1200" u="none" cap="none" strike="noStrike">
              <a:solidFill>
                <a:schemeClr val="dk1"/>
              </a:solidFill>
              <a:latin typeface="Calibri"/>
              <a:ea typeface="Calibri"/>
              <a:cs typeface="Calibri"/>
              <a:sym typeface="Calibri"/>
            </a:endParaRPr>
          </a:p>
        </p:txBody>
      </p:sp>
      <p:sp>
        <p:nvSpPr>
          <p:cNvPr id="489" name="Google Shape;489;p18"/>
          <p:cNvSpPr/>
          <p:nvPr/>
        </p:nvSpPr>
        <p:spPr>
          <a:xfrm>
            <a:off x="4383938" y="4736592"/>
            <a:ext cx="3423818"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Ne jamais laisser repartir un malade (FN).</a:t>
            </a:r>
            <a:endParaRPr b="0" i="0" sz="1050" u="none" cap="none" strike="noStrike">
              <a:solidFill>
                <a:schemeClr val="dk1"/>
              </a:solidFill>
              <a:latin typeface="Calibri"/>
              <a:ea typeface="Calibri"/>
              <a:cs typeface="Calibri"/>
              <a:sym typeface="Calibri"/>
            </a:endParaRPr>
          </a:p>
        </p:txBody>
      </p:sp>
      <p:sp>
        <p:nvSpPr>
          <p:cNvPr id="490" name="Google Shape;490;p18"/>
          <p:cNvSpPr/>
          <p:nvPr/>
        </p:nvSpPr>
        <p:spPr>
          <a:xfrm>
            <a:off x="8036357" y="4389120"/>
            <a:ext cx="3698138" cy="868680"/>
          </a:xfrm>
          <a:prstGeom prst="roundRect">
            <a:avLst>
              <a:gd fmla="val 7368"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p:nvPr/>
        </p:nvSpPr>
        <p:spPr>
          <a:xfrm>
            <a:off x="8173517" y="4462272"/>
            <a:ext cx="342381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200"/>
              <a:buFont typeface="Arial"/>
              <a:buNone/>
            </a:pPr>
            <a:r>
              <a:rPr b="1" i="0" lang="en-US" sz="1200" u="none" cap="none" strike="noStrike">
                <a:solidFill>
                  <a:srgbClr val="1F2937"/>
                </a:solidFill>
                <a:latin typeface="Arial"/>
                <a:ea typeface="Arial"/>
                <a:cs typeface="Arial"/>
                <a:sym typeface="Arial"/>
              </a:rPr>
              <a:t>Recommandation  </a:t>
            </a:r>
            <a:r>
              <a:rPr b="1" i="0" lang="en-US" sz="1200" u="none" cap="none" strike="noStrike">
                <a:solidFill>
                  <a:srgbClr val="1652D9"/>
                </a:solidFill>
                <a:latin typeface="Arial"/>
                <a:ea typeface="Arial"/>
                <a:cs typeface="Arial"/>
                <a:sym typeface="Arial"/>
              </a:rPr>
              <a:t>→ Précision</a:t>
            </a:r>
            <a:endParaRPr b="0" i="0" sz="1200" u="none" cap="none" strike="noStrike">
              <a:solidFill>
                <a:schemeClr val="dk1"/>
              </a:solidFill>
              <a:latin typeface="Calibri"/>
              <a:ea typeface="Calibri"/>
              <a:cs typeface="Calibri"/>
              <a:sym typeface="Calibri"/>
            </a:endParaRPr>
          </a:p>
        </p:txBody>
      </p:sp>
      <p:sp>
        <p:nvSpPr>
          <p:cNvPr id="492" name="Google Shape;492;p18"/>
          <p:cNvSpPr/>
          <p:nvPr/>
        </p:nvSpPr>
        <p:spPr>
          <a:xfrm>
            <a:off x="8173517" y="4736592"/>
            <a:ext cx="3423818"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Mieux vaut peu, mais pertinent.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497" name="Shape 497"/>
        <p:cNvGrpSpPr/>
        <p:nvPr/>
      </p:nvGrpSpPr>
      <p:grpSpPr>
        <a:xfrm>
          <a:off x="0" y="0"/>
          <a:ext cx="0" cy="0"/>
          <a:chOff x="0" y="0"/>
          <a:chExt cx="0" cy="0"/>
        </a:xfrm>
      </p:grpSpPr>
      <p:sp>
        <p:nvSpPr>
          <p:cNvPr id="498" name="Google Shape;498;p19"/>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 name="Google Shape;499;p19"/>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500" name="Google Shape;500;p19"/>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501" name="Google Shape;501;p19"/>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502" name="Google Shape;502;p19"/>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503" name="Google Shape;503;p19"/>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504" name="Google Shape;504;p19"/>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505" name="Google Shape;505;p19"/>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19 / 35</a:t>
            </a:r>
            <a:endParaRPr b="0" i="0" sz="900" u="none" cap="none" strike="noStrike">
              <a:solidFill>
                <a:schemeClr val="dk1"/>
              </a:solidFill>
              <a:latin typeface="Calibri"/>
              <a:ea typeface="Calibri"/>
              <a:cs typeface="Calibri"/>
              <a:sym typeface="Calibri"/>
            </a:endParaRPr>
          </a:p>
        </p:txBody>
      </p:sp>
      <p:sp>
        <p:nvSpPr>
          <p:cNvPr id="506" name="Google Shape;506;p19"/>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5</a:t>
            </a:r>
            <a:endParaRPr b="0" i="0" sz="1200" u="none" cap="none" strike="noStrike">
              <a:solidFill>
                <a:schemeClr val="dk1"/>
              </a:solidFill>
              <a:latin typeface="Calibri"/>
              <a:ea typeface="Calibri"/>
              <a:cs typeface="Calibri"/>
              <a:sym typeface="Calibri"/>
            </a:endParaRPr>
          </a:p>
        </p:txBody>
      </p:sp>
      <p:sp>
        <p:nvSpPr>
          <p:cNvPr id="508" name="Google Shape;508;p19"/>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F1-Score &amp; Scores F-Beta</a:t>
            </a:r>
            <a:endParaRPr b="0" i="0" sz="3400" u="none" cap="none" strike="noStrike">
              <a:solidFill>
                <a:schemeClr val="dk1"/>
              </a:solidFill>
              <a:latin typeface="Calibri"/>
              <a:ea typeface="Calibri"/>
              <a:cs typeface="Calibri"/>
              <a:sym typeface="Calibri"/>
            </a:endParaRPr>
          </a:p>
        </p:txBody>
      </p:sp>
      <p:sp>
        <p:nvSpPr>
          <p:cNvPr id="509" name="Google Shape;509;p19"/>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Réconcilier la Précision et le Rappel à travers la moyenne harmonique.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cxnSp>
        <p:nvCxnSpPr>
          <p:cNvPr id="515" name="Google Shape;515;p20"/>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516" name="Google Shape;516;p20"/>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517" name="Google Shape;517;p20"/>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518" name="Google Shape;518;p20"/>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519" name="Google Shape;519;p20"/>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520" name="Google Shape;520;p20"/>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521" name="Google Shape;521;p20"/>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20 / 35</a:t>
            </a:r>
            <a:endParaRPr b="0" i="0" sz="900" u="none" cap="none" strike="noStrike">
              <a:solidFill>
                <a:schemeClr val="dk1"/>
              </a:solidFill>
              <a:latin typeface="Calibri"/>
              <a:ea typeface="Calibri"/>
              <a:cs typeface="Calibri"/>
              <a:sym typeface="Calibri"/>
            </a:endParaRPr>
          </a:p>
        </p:txBody>
      </p:sp>
      <p:pic>
        <p:nvPicPr>
          <p:cNvPr descr="icons/calculator.png" id="522" name="Google Shape;522;p20"/>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523" name="Google Shape;523;p20"/>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Pourquoi Pas une Simple Moyenne ?</a:t>
            </a:r>
            <a:endParaRPr b="0" i="0" sz="2400" u="none" cap="none" strike="noStrike">
              <a:solidFill>
                <a:schemeClr val="dk1"/>
              </a:solidFill>
              <a:latin typeface="Calibri"/>
              <a:ea typeface="Calibri"/>
              <a:cs typeface="Calibri"/>
              <a:sym typeface="Calibri"/>
            </a:endParaRPr>
          </a:p>
        </p:txBody>
      </p:sp>
      <p:sp>
        <p:nvSpPr>
          <p:cNvPr id="524" name="Google Shape;524;p20"/>
          <p:cNvSpPr/>
          <p:nvPr/>
        </p:nvSpPr>
        <p:spPr>
          <a:xfrm>
            <a:off x="457200" y="1463040"/>
            <a:ext cx="5501488" cy="2331720"/>
          </a:xfrm>
          <a:prstGeom prst="roundRect">
            <a:avLst>
              <a:gd fmla="val 3137"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685800" y="1645920"/>
            <a:ext cx="504428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400"/>
              <a:buFont typeface="Arial"/>
              <a:buNone/>
            </a:pPr>
            <a:r>
              <a:rPr b="1" i="0" lang="en-US" sz="1400" u="none" cap="none" strike="noStrike">
                <a:solidFill>
                  <a:srgbClr val="D9463A"/>
                </a:solidFill>
                <a:latin typeface="Arial"/>
                <a:ea typeface="Arial"/>
                <a:cs typeface="Arial"/>
                <a:sym typeface="Arial"/>
              </a:rPr>
              <a:t>Le piège de la moyenne arithmétique</a:t>
            </a:r>
            <a:endParaRPr b="0" i="0" sz="1400" u="none" cap="none" strike="noStrike">
              <a:solidFill>
                <a:schemeClr val="dk1"/>
              </a:solidFill>
              <a:latin typeface="Calibri"/>
              <a:ea typeface="Calibri"/>
              <a:cs typeface="Calibri"/>
              <a:sym typeface="Calibri"/>
            </a:endParaRPr>
          </a:p>
        </p:txBody>
      </p:sp>
      <p:sp>
        <p:nvSpPr>
          <p:cNvPr id="526" name="Google Shape;526;p20"/>
          <p:cNvSpPr/>
          <p:nvPr/>
        </p:nvSpPr>
        <p:spPr>
          <a:xfrm>
            <a:off x="685800" y="2148840"/>
            <a:ext cx="4998568" cy="15087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Précision = 100%, Rappel = 0% → moyenne arithmétique = 50%. Un score qui donne l'illusion d'un modèle acceptable, alors qu'il ne détecte RIEN.</a:t>
            </a:r>
            <a:endParaRPr b="0" i="0" sz="1250" u="none" cap="none" strike="noStrike">
              <a:solidFill>
                <a:schemeClr val="dk1"/>
              </a:solidFill>
              <a:latin typeface="Calibri"/>
              <a:ea typeface="Calibri"/>
              <a:cs typeface="Calibri"/>
              <a:sym typeface="Calibri"/>
            </a:endParaRPr>
          </a:p>
        </p:txBody>
      </p:sp>
      <p:sp>
        <p:nvSpPr>
          <p:cNvPr id="527" name="Google Shape;527;p20"/>
          <p:cNvSpPr/>
          <p:nvPr/>
        </p:nvSpPr>
        <p:spPr>
          <a:xfrm>
            <a:off x="6233008" y="1463040"/>
            <a:ext cx="5501488" cy="2331720"/>
          </a:xfrm>
          <a:prstGeom prst="roundRect">
            <a:avLst>
              <a:gd fmla="val 3137" name="adj"/>
            </a:avLst>
          </a:prstGeom>
          <a:solidFill>
            <a:srgbClr val="E8F7EF"/>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6461608" y="1645920"/>
            <a:ext cx="504428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A86B"/>
              </a:buClr>
              <a:buSzPts val="1400"/>
              <a:buFont typeface="Arial"/>
              <a:buNone/>
            </a:pPr>
            <a:r>
              <a:rPr b="1" i="0" lang="en-US" sz="1400" u="none" cap="none" strike="noStrike">
                <a:solidFill>
                  <a:srgbClr val="2FA86B"/>
                </a:solidFill>
                <a:latin typeface="Arial"/>
                <a:ea typeface="Arial"/>
                <a:cs typeface="Arial"/>
                <a:sym typeface="Arial"/>
              </a:rPr>
              <a:t>La moyenne harmonique corrige le tir</a:t>
            </a:r>
            <a:endParaRPr b="0" i="0" sz="1400" u="none" cap="none" strike="noStrike">
              <a:solidFill>
                <a:schemeClr val="dk1"/>
              </a:solidFill>
              <a:latin typeface="Calibri"/>
              <a:ea typeface="Calibri"/>
              <a:cs typeface="Calibri"/>
              <a:sym typeface="Calibri"/>
            </a:endParaRPr>
          </a:p>
        </p:txBody>
      </p:sp>
      <p:sp>
        <p:nvSpPr>
          <p:cNvPr id="529" name="Google Shape;529;p20"/>
          <p:cNvSpPr/>
          <p:nvPr/>
        </p:nvSpPr>
        <p:spPr>
          <a:xfrm>
            <a:off x="6461608" y="2148840"/>
            <a:ext cx="4998568" cy="15087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Elle tend fortement vers la valeur la plus faible : si un score s'effondre, le score global s'effondre aussi. Impossible de tricher.</a:t>
            </a:r>
            <a:endParaRPr b="0" i="0" sz="1250" u="none" cap="none" strike="noStrike">
              <a:solidFill>
                <a:schemeClr val="dk1"/>
              </a:solidFill>
              <a:latin typeface="Calibri"/>
              <a:ea typeface="Calibri"/>
              <a:cs typeface="Calibri"/>
              <a:sym typeface="Calibri"/>
            </a:endParaRPr>
          </a:p>
        </p:txBody>
      </p:sp>
      <p:sp>
        <p:nvSpPr>
          <p:cNvPr id="530" name="Google Shape;530;p20"/>
          <p:cNvSpPr/>
          <p:nvPr/>
        </p:nvSpPr>
        <p:spPr>
          <a:xfrm>
            <a:off x="457200" y="4069080"/>
            <a:ext cx="11277295" cy="868680"/>
          </a:xfrm>
          <a:prstGeom prst="roundRect">
            <a:avLst>
              <a:gd fmla="val 8421"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457200" y="4069080"/>
            <a:ext cx="11277295"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800"/>
              <a:buFont typeface="Arial"/>
              <a:buNone/>
            </a:pPr>
            <a:r>
              <a:rPr b="1" i="0" lang="en-US" sz="1800" u="none" cap="none" strike="noStrike">
                <a:solidFill>
                  <a:srgbClr val="1F2937"/>
                </a:solidFill>
                <a:latin typeface="Arial"/>
                <a:ea typeface="Arial"/>
                <a:cs typeface="Arial"/>
                <a:sym typeface="Arial"/>
              </a:rPr>
              <a:t>F1-Score = 2 × </a:t>
            </a:r>
            <a:r>
              <a:rPr b="1" i="0" lang="en-US" sz="1800" u="none" cap="none" strike="noStrike">
                <a:solidFill>
                  <a:srgbClr val="1652D9"/>
                </a:solidFill>
                <a:latin typeface="Arial"/>
                <a:ea typeface="Arial"/>
                <a:cs typeface="Arial"/>
                <a:sym typeface="Arial"/>
              </a:rPr>
              <a:t>(Précision × Rappel) / (Précision + Rappel)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cxnSp>
        <p:nvCxnSpPr>
          <p:cNvPr id="537" name="Google Shape;537;p21"/>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538" name="Google Shape;538;p21"/>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539" name="Google Shape;539;p21"/>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540" name="Google Shape;540;p21"/>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541" name="Google Shape;541;p21"/>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542" name="Google Shape;542;p21"/>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543" name="Google Shape;543;p21"/>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21 / 35</a:t>
            </a:r>
            <a:endParaRPr b="0" i="0" sz="900" u="none" cap="none" strike="noStrike">
              <a:solidFill>
                <a:schemeClr val="dk1"/>
              </a:solidFill>
              <a:latin typeface="Calibri"/>
              <a:ea typeface="Calibri"/>
              <a:cs typeface="Calibri"/>
              <a:sym typeface="Calibri"/>
            </a:endParaRPr>
          </a:p>
        </p:txBody>
      </p:sp>
      <p:pic>
        <p:nvPicPr>
          <p:cNvPr descr="icons/check.png" id="544" name="Google Shape;544;p21"/>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545" name="Google Shape;545;p21"/>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F1 en Pratique : Démasquer les Faux Équilibres</a:t>
            </a:r>
            <a:endParaRPr b="0" i="0" sz="2400" u="none" cap="none" strike="noStrike">
              <a:solidFill>
                <a:schemeClr val="dk1"/>
              </a:solidFill>
              <a:latin typeface="Calibri"/>
              <a:ea typeface="Calibri"/>
              <a:cs typeface="Calibri"/>
              <a:sym typeface="Calibri"/>
            </a:endParaRPr>
          </a:p>
        </p:txBody>
      </p:sp>
      <p:sp>
        <p:nvSpPr>
          <p:cNvPr id="546" name="Google Shape;546;p21"/>
          <p:cNvSpPr/>
          <p:nvPr/>
        </p:nvSpPr>
        <p:spPr>
          <a:xfrm>
            <a:off x="457200" y="1554480"/>
            <a:ext cx="5501488" cy="2834640"/>
          </a:xfrm>
          <a:prstGeom prst="roundRect">
            <a:avLst>
              <a:gd fmla="val 2581" name="adj"/>
            </a:avLst>
          </a:prstGeom>
          <a:solidFill>
            <a:srgbClr val="E8F7EF"/>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685800" y="173736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Équilibre réel</a:t>
            </a:r>
            <a:endParaRPr b="0" i="0" sz="1500" u="none" cap="none" strike="noStrike">
              <a:solidFill>
                <a:schemeClr val="dk1"/>
              </a:solidFill>
              <a:latin typeface="Calibri"/>
              <a:ea typeface="Calibri"/>
              <a:cs typeface="Calibri"/>
              <a:sym typeface="Calibri"/>
            </a:endParaRPr>
          </a:p>
        </p:txBody>
      </p:sp>
      <p:sp>
        <p:nvSpPr>
          <p:cNvPr id="548" name="Google Shape;548;p21"/>
          <p:cNvSpPr/>
          <p:nvPr/>
        </p:nvSpPr>
        <p:spPr>
          <a:xfrm>
            <a:off x="685800" y="2194560"/>
            <a:ext cx="49985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Précision = 90%, Rappel = 88%</a:t>
            </a:r>
            <a:endParaRPr b="0" i="0" sz="1300" u="none" cap="none" strike="noStrike">
              <a:solidFill>
                <a:schemeClr val="dk1"/>
              </a:solidFill>
              <a:latin typeface="Calibri"/>
              <a:ea typeface="Calibri"/>
              <a:cs typeface="Calibri"/>
              <a:sym typeface="Calibri"/>
            </a:endParaRPr>
          </a:p>
        </p:txBody>
      </p:sp>
      <p:sp>
        <p:nvSpPr>
          <p:cNvPr id="549" name="Google Shape;549;p21"/>
          <p:cNvSpPr/>
          <p:nvPr/>
        </p:nvSpPr>
        <p:spPr>
          <a:xfrm>
            <a:off x="685800" y="2743200"/>
            <a:ext cx="4998568"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A86B"/>
              </a:buClr>
              <a:buSzPts val="3000"/>
              <a:buFont typeface="Arial"/>
              <a:buNone/>
            </a:pPr>
            <a:r>
              <a:rPr b="1" i="0" lang="en-US" sz="3000" u="none" cap="none" strike="noStrike">
                <a:solidFill>
                  <a:srgbClr val="2FA86B"/>
                </a:solidFill>
                <a:latin typeface="Arial"/>
                <a:ea typeface="Arial"/>
                <a:cs typeface="Arial"/>
                <a:sym typeface="Arial"/>
              </a:rPr>
              <a:t>F1 ≈ 89 %</a:t>
            </a:r>
            <a:endParaRPr b="0" i="0" sz="3000" u="none" cap="none" strike="noStrike">
              <a:solidFill>
                <a:schemeClr val="dk1"/>
              </a:solidFill>
              <a:latin typeface="Calibri"/>
              <a:ea typeface="Calibri"/>
              <a:cs typeface="Calibri"/>
              <a:sym typeface="Calibri"/>
            </a:endParaRPr>
          </a:p>
        </p:txBody>
      </p:sp>
      <p:sp>
        <p:nvSpPr>
          <p:cNvPr id="550" name="Google Shape;550;p21"/>
          <p:cNvSpPr/>
          <p:nvPr/>
        </p:nvSpPr>
        <p:spPr>
          <a:xfrm>
            <a:off x="685800" y="3566160"/>
            <a:ext cx="4998568"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00"/>
              <a:buFont typeface="Arial"/>
              <a:buNone/>
            </a:pPr>
            <a:r>
              <a:rPr b="0" i="1" lang="en-US" sz="1200" u="none" cap="none" strike="noStrike">
                <a:solidFill>
                  <a:srgbClr val="3A4658"/>
                </a:solidFill>
                <a:latin typeface="Arial"/>
                <a:ea typeface="Arial"/>
                <a:cs typeface="Arial"/>
                <a:sym typeface="Arial"/>
              </a:rPr>
              <a:t>Un score élevé garantit sélectivité ET capacité de détection.</a:t>
            </a:r>
            <a:endParaRPr b="0" i="0" sz="1200" u="none" cap="none" strike="noStrike">
              <a:solidFill>
                <a:schemeClr val="dk1"/>
              </a:solidFill>
              <a:latin typeface="Calibri"/>
              <a:ea typeface="Calibri"/>
              <a:cs typeface="Calibri"/>
              <a:sym typeface="Calibri"/>
            </a:endParaRPr>
          </a:p>
        </p:txBody>
      </p:sp>
      <p:sp>
        <p:nvSpPr>
          <p:cNvPr id="551" name="Google Shape;551;p21"/>
          <p:cNvSpPr/>
          <p:nvPr/>
        </p:nvSpPr>
        <p:spPr>
          <a:xfrm>
            <a:off x="6233008" y="1554480"/>
            <a:ext cx="5501488" cy="2834640"/>
          </a:xfrm>
          <a:prstGeom prst="roundRect">
            <a:avLst>
              <a:gd fmla="val 2581"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6461608" y="173736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1500"/>
              <a:buFont typeface="Arial"/>
              <a:buNone/>
            </a:pPr>
            <a:r>
              <a:rPr b="1" i="0" lang="en-US" sz="1500" u="none" cap="none" strike="noStrike">
                <a:solidFill>
                  <a:srgbClr val="D9463A"/>
                </a:solidFill>
                <a:latin typeface="Arial"/>
                <a:ea typeface="Arial"/>
                <a:cs typeface="Arial"/>
                <a:sym typeface="Arial"/>
              </a:rPr>
              <a:t>Biais démasqué</a:t>
            </a:r>
            <a:endParaRPr b="0" i="0" sz="1500" u="none" cap="none" strike="noStrike">
              <a:solidFill>
                <a:schemeClr val="dk1"/>
              </a:solidFill>
              <a:latin typeface="Calibri"/>
              <a:ea typeface="Calibri"/>
              <a:cs typeface="Calibri"/>
              <a:sym typeface="Calibri"/>
            </a:endParaRPr>
          </a:p>
        </p:txBody>
      </p:sp>
      <p:sp>
        <p:nvSpPr>
          <p:cNvPr id="553" name="Google Shape;553;p21"/>
          <p:cNvSpPr/>
          <p:nvPr/>
        </p:nvSpPr>
        <p:spPr>
          <a:xfrm>
            <a:off x="6461608" y="2194560"/>
            <a:ext cx="49985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Précision = 99%, Rappel = 10%</a:t>
            </a:r>
            <a:endParaRPr b="0" i="0" sz="1300" u="none" cap="none" strike="noStrike">
              <a:solidFill>
                <a:schemeClr val="dk1"/>
              </a:solidFill>
              <a:latin typeface="Calibri"/>
              <a:ea typeface="Calibri"/>
              <a:cs typeface="Calibri"/>
              <a:sym typeface="Calibri"/>
            </a:endParaRPr>
          </a:p>
        </p:txBody>
      </p:sp>
      <p:sp>
        <p:nvSpPr>
          <p:cNvPr id="554" name="Google Shape;554;p21"/>
          <p:cNvSpPr/>
          <p:nvPr/>
        </p:nvSpPr>
        <p:spPr>
          <a:xfrm>
            <a:off x="6461608" y="2743200"/>
            <a:ext cx="4998568"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463A"/>
              </a:buClr>
              <a:buSzPts val="3000"/>
              <a:buFont typeface="Arial"/>
              <a:buNone/>
            </a:pPr>
            <a:r>
              <a:rPr b="1" i="0" lang="en-US" sz="3000" u="none" cap="none" strike="noStrike">
                <a:solidFill>
                  <a:srgbClr val="D9463A"/>
                </a:solidFill>
                <a:latin typeface="Arial"/>
                <a:ea typeface="Arial"/>
                <a:cs typeface="Arial"/>
                <a:sym typeface="Arial"/>
              </a:rPr>
              <a:t>F1 ≈ 18,1 %</a:t>
            </a:r>
            <a:endParaRPr b="0" i="0" sz="3000" u="none" cap="none" strike="noStrike">
              <a:solidFill>
                <a:schemeClr val="dk1"/>
              </a:solidFill>
              <a:latin typeface="Calibri"/>
              <a:ea typeface="Calibri"/>
              <a:cs typeface="Calibri"/>
              <a:sym typeface="Calibri"/>
            </a:endParaRPr>
          </a:p>
        </p:txBody>
      </p:sp>
      <p:sp>
        <p:nvSpPr>
          <p:cNvPr id="555" name="Google Shape;555;p21"/>
          <p:cNvSpPr/>
          <p:nvPr/>
        </p:nvSpPr>
        <p:spPr>
          <a:xfrm>
            <a:off x="6461608" y="3566160"/>
            <a:ext cx="4998568"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200"/>
              <a:buFont typeface="Arial"/>
              <a:buNone/>
            </a:pPr>
            <a:r>
              <a:rPr b="0" i="1" lang="en-US" sz="1200" u="none" cap="none" strike="noStrike">
                <a:solidFill>
                  <a:srgbClr val="3A4658"/>
                </a:solidFill>
                <a:latin typeface="Arial"/>
                <a:ea typeface="Arial"/>
                <a:cs typeface="Arial"/>
                <a:sym typeface="Arial"/>
              </a:rPr>
              <a:t>La moyenne arithmétique aurait affiché 54,5% — le F1 révèle le vrai déséquilibre.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cxnSp>
        <p:nvCxnSpPr>
          <p:cNvPr id="561" name="Google Shape;561;p22"/>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562" name="Google Shape;562;p22"/>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563" name="Google Shape;563;p22"/>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564" name="Google Shape;564;p22"/>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565" name="Google Shape;565;p22"/>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566" name="Google Shape;566;p22"/>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567" name="Google Shape;567;p22"/>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22 / 35</a:t>
            </a:r>
            <a:endParaRPr b="0" i="0" sz="900" u="none" cap="none" strike="noStrike">
              <a:solidFill>
                <a:schemeClr val="dk1"/>
              </a:solidFill>
              <a:latin typeface="Calibri"/>
              <a:ea typeface="Calibri"/>
              <a:cs typeface="Calibri"/>
              <a:sym typeface="Calibri"/>
            </a:endParaRPr>
          </a:p>
        </p:txBody>
      </p:sp>
      <p:pic>
        <p:nvPicPr>
          <p:cNvPr descr="icons/balance.png" id="568" name="Google Shape;568;p22"/>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569" name="Google Shape;569;p22"/>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La Famille F-Beta : Qui Pondérer ?</a:t>
            </a:r>
            <a:endParaRPr b="0" i="0" sz="2400" u="none" cap="none" strike="noStrike">
              <a:solidFill>
                <a:schemeClr val="dk1"/>
              </a:solidFill>
              <a:latin typeface="Calibri"/>
              <a:ea typeface="Calibri"/>
              <a:cs typeface="Calibri"/>
              <a:sym typeface="Calibri"/>
            </a:endParaRPr>
          </a:p>
        </p:txBody>
      </p:sp>
      <p:sp>
        <p:nvSpPr>
          <p:cNvPr id="570" name="Google Shape;570;p22"/>
          <p:cNvSpPr/>
          <p:nvPr/>
        </p:nvSpPr>
        <p:spPr>
          <a:xfrm>
            <a:off x="457200" y="1417320"/>
            <a:ext cx="11277295"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350"/>
              <a:buFont typeface="Arial"/>
              <a:buNone/>
            </a:pPr>
            <a:r>
              <a:rPr b="0" i="0" lang="en-US" sz="1350" u="none" cap="none" strike="noStrike">
                <a:solidFill>
                  <a:srgbClr val="3A4658"/>
                </a:solidFill>
                <a:latin typeface="Arial"/>
                <a:ea typeface="Arial"/>
                <a:cs typeface="Arial"/>
                <a:sym typeface="Arial"/>
              </a:rPr>
              <a:t>Quand les besoins métier ne sont pas symétriques, le paramètre β pondère l'importance du Rappel par rapport à la Précision.</a:t>
            </a:r>
            <a:endParaRPr b="0" i="0" sz="1350" u="none" cap="none" strike="noStrike">
              <a:solidFill>
                <a:schemeClr val="dk1"/>
              </a:solidFill>
              <a:latin typeface="Calibri"/>
              <a:ea typeface="Calibri"/>
              <a:cs typeface="Calibri"/>
              <a:sym typeface="Calibri"/>
            </a:endParaRPr>
          </a:p>
        </p:txBody>
      </p:sp>
      <p:sp>
        <p:nvSpPr>
          <p:cNvPr id="571" name="Google Shape;571;p22"/>
          <p:cNvSpPr/>
          <p:nvPr/>
        </p:nvSpPr>
        <p:spPr>
          <a:xfrm>
            <a:off x="457200" y="2103120"/>
            <a:ext cx="5501488" cy="3200400"/>
          </a:xfrm>
          <a:prstGeom prst="roundRect">
            <a:avLst>
              <a:gd fmla="val 2286"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2"/>
          <p:cNvSpPr/>
          <p:nvPr/>
        </p:nvSpPr>
        <p:spPr>
          <a:xfrm>
            <a:off x="685800" y="23317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700"/>
              <a:buFont typeface="Arial"/>
              <a:buNone/>
            </a:pPr>
            <a:r>
              <a:rPr b="1" i="0" lang="en-US" sz="1700" u="none" cap="none" strike="noStrike">
                <a:solidFill>
                  <a:srgbClr val="1F2937"/>
                </a:solidFill>
                <a:latin typeface="Arial"/>
                <a:ea typeface="Arial"/>
                <a:cs typeface="Arial"/>
                <a:sym typeface="Arial"/>
              </a:rPr>
              <a:t>Score F0.5</a:t>
            </a:r>
            <a:endParaRPr b="0" i="0" sz="1700" u="none" cap="none" strike="noStrike">
              <a:solidFill>
                <a:schemeClr val="dk1"/>
              </a:solidFill>
              <a:latin typeface="Calibri"/>
              <a:ea typeface="Calibri"/>
              <a:cs typeface="Calibri"/>
              <a:sym typeface="Calibri"/>
            </a:endParaRPr>
          </a:p>
        </p:txBody>
      </p:sp>
      <p:sp>
        <p:nvSpPr>
          <p:cNvPr id="573" name="Google Shape;573;p22"/>
          <p:cNvSpPr/>
          <p:nvPr/>
        </p:nvSpPr>
        <p:spPr>
          <a:xfrm>
            <a:off x="685800" y="2834640"/>
            <a:ext cx="499856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2× plus de poids à la Précision qu'au Rappel.</a:t>
            </a:r>
            <a:endParaRPr b="0" i="0" sz="1300" u="none" cap="none" strike="noStrike">
              <a:solidFill>
                <a:schemeClr val="dk1"/>
              </a:solidFill>
              <a:latin typeface="Calibri"/>
              <a:ea typeface="Calibri"/>
              <a:cs typeface="Calibri"/>
              <a:sym typeface="Calibri"/>
            </a:endParaRPr>
          </a:p>
        </p:txBody>
      </p:sp>
      <p:sp>
        <p:nvSpPr>
          <p:cNvPr id="574" name="Google Shape;574;p22"/>
          <p:cNvSpPr/>
          <p:nvPr/>
        </p:nvSpPr>
        <p:spPr>
          <a:xfrm>
            <a:off x="685800" y="3566160"/>
            <a:ext cx="4998568"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1652D9"/>
              </a:buClr>
              <a:buSzPts val="1250"/>
              <a:buFont typeface="Arial"/>
              <a:buNone/>
            </a:pPr>
            <a:r>
              <a:rPr b="0" i="1" lang="en-US" sz="1250" u="none" cap="none" strike="noStrike">
                <a:solidFill>
                  <a:srgbClr val="1652D9"/>
                </a:solidFill>
                <a:latin typeface="Arial"/>
                <a:ea typeface="Arial"/>
                <a:cs typeface="Arial"/>
                <a:sym typeface="Arial"/>
              </a:rPr>
              <a:t>Idéal quand les Faux Positifs coûtent cher : marketing premium, filtrage spam.</a:t>
            </a:r>
            <a:endParaRPr b="0" i="0" sz="1250" u="none" cap="none" strike="noStrike">
              <a:solidFill>
                <a:schemeClr val="dk1"/>
              </a:solidFill>
              <a:latin typeface="Calibri"/>
              <a:ea typeface="Calibri"/>
              <a:cs typeface="Calibri"/>
              <a:sym typeface="Calibri"/>
            </a:endParaRPr>
          </a:p>
        </p:txBody>
      </p:sp>
      <p:sp>
        <p:nvSpPr>
          <p:cNvPr id="575" name="Google Shape;575;p22"/>
          <p:cNvSpPr/>
          <p:nvPr/>
        </p:nvSpPr>
        <p:spPr>
          <a:xfrm>
            <a:off x="6233008" y="2103120"/>
            <a:ext cx="5501488" cy="3200400"/>
          </a:xfrm>
          <a:prstGeom prst="roundRect">
            <a:avLst>
              <a:gd fmla="val 2286"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2"/>
          <p:cNvSpPr/>
          <p:nvPr/>
        </p:nvSpPr>
        <p:spPr>
          <a:xfrm>
            <a:off x="6461608" y="23317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700"/>
              <a:buFont typeface="Arial"/>
              <a:buNone/>
            </a:pPr>
            <a:r>
              <a:rPr b="1" i="0" lang="en-US" sz="1700" u="none" cap="none" strike="noStrike">
                <a:solidFill>
                  <a:srgbClr val="1F2937"/>
                </a:solidFill>
                <a:latin typeface="Arial"/>
                <a:ea typeface="Arial"/>
                <a:cs typeface="Arial"/>
                <a:sym typeface="Arial"/>
              </a:rPr>
              <a:t>Score F2</a:t>
            </a:r>
            <a:endParaRPr b="0" i="0" sz="1700" u="none" cap="none" strike="noStrike">
              <a:solidFill>
                <a:schemeClr val="dk1"/>
              </a:solidFill>
              <a:latin typeface="Calibri"/>
              <a:ea typeface="Calibri"/>
              <a:cs typeface="Calibri"/>
              <a:sym typeface="Calibri"/>
            </a:endParaRPr>
          </a:p>
        </p:txBody>
      </p:sp>
      <p:sp>
        <p:nvSpPr>
          <p:cNvPr id="577" name="Google Shape;577;p22"/>
          <p:cNvSpPr/>
          <p:nvPr/>
        </p:nvSpPr>
        <p:spPr>
          <a:xfrm>
            <a:off x="6461608" y="2834640"/>
            <a:ext cx="499856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2× plus de poids au Rappel qu'à la Précision.</a:t>
            </a:r>
            <a:endParaRPr b="0" i="0" sz="1300" u="none" cap="none" strike="noStrike">
              <a:solidFill>
                <a:schemeClr val="dk1"/>
              </a:solidFill>
              <a:latin typeface="Calibri"/>
              <a:ea typeface="Calibri"/>
              <a:cs typeface="Calibri"/>
              <a:sym typeface="Calibri"/>
            </a:endParaRPr>
          </a:p>
        </p:txBody>
      </p:sp>
      <p:sp>
        <p:nvSpPr>
          <p:cNvPr id="578" name="Google Shape;578;p22"/>
          <p:cNvSpPr/>
          <p:nvPr/>
        </p:nvSpPr>
        <p:spPr>
          <a:xfrm>
            <a:off x="6461608" y="3566160"/>
            <a:ext cx="4998568"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E8952F"/>
              </a:buClr>
              <a:buSzPts val="1250"/>
              <a:buFont typeface="Arial"/>
              <a:buNone/>
            </a:pPr>
            <a:r>
              <a:rPr b="0" i="1" lang="en-US" sz="1250" u="none" cap="none" strike="noStrike">
                <a:solidFill>
                  <a:srgbClr val="E8952F"/>
                </a:solidFill>
                <a:latin typeface="Arial"/>
                <a:ea typeface="Arial"/>
                <a:cs typeface="Arial"/>
                <a:sym typeface="Arial"/>
              </a:rPr>
              <a:t>Idéal quand les Faux Négatifs sont critiques : médical, fraude bancaire.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583" name="Shape 583"/>
        <p:cNvGrpSpPr/>
        <p:nvPr/>
      </p:nvGrpSpPr>
      <p:grpSpPr>
        <a:xfrm>
          <a:off x="0" y="0"/>
          <a:ext cx="0" cy="0"/>
          <a:chOff x="0" y="0"/>
          <a:chExt cx="0" cy="0"/>
        </a:xfrm>
      </p:grpSpPr>
      <p:sp>
        <p:nvSpPr>
          <p:cNvPr id="584" name="Google Shape;584;p23"/>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 name="Google Shape;585;p23"/>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586" name="Google Shape;586;p23"/>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587" name="Google Shape;587;p23"/>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588" name="Google Shape;588;p23"/>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589" name="Google Shape;589;p23"/>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590" name="Google Shape;590;p23"/>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591" name="Google Shape;591;p23"/>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23 / 35</a:t>
            </a:r>
            <a:endParaRPr b="0" i="0" sz="900" u="none" cap="none" strike="noStrike">
              <a:solidFill>
                <a:schemeClr val="dk1"/>
              </a:solidFill>
              <a:latin typeface="Calibri"/>
              <a:ea typeface="Calibri"/>
              <a:cs typeface="Calibri"/>
              <a:sym typeface="Calibri"/>
            </a:endParaRPr>
          </a:p>
        </p:txBody>
      </p:sp>
      <p:sp>
        <p:nvSpPr>
          <p:cNvPr id="592" name="Google Shape;592;p23"/>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3"/>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6</a:t>
            </a:r>
            <a:endParaRPr b="0" i="0" sz="1200" u="none" cap="none" strike="noStrike">
              <a:solidFill>
                <a:schemeClr val="dk1"/>
              </a:solidFill>
              <a:latin typeface="Calibri"/>
              <a:ea typeface="Calibri"/>
              <a:cs typeface="Calibri"/>
              <a:sym typeface="Calibri"/>
            </a:endParaRPr>
          </a:p>
        </p:txBody>
      </p:sp>
      <p:sp>
        <p:nvSpPr>
          <p:cNvPr id="594" name="Google Shape;594;p23"/>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Seuils, Courbes ROC &amp; PR</a:t>
            </a:r>
            <a:endParaRPr b="0" i="0" sz="3400" u="none" cap="none" strike="noStrike">
              <a:solidFill>
                <a:schemeClr val="dk1"/>
              </a:solidFill>
              <a:latin typeface="Calibri"/>
              <a:ea typeface="Calibri"/>
              <a:cs typeface="Calibri"/>
              <a:sym typeface="Calibri"/>
            </a:endParaRPr>
          </a:p>
        </p:txBody>
      </p:sp>
      <p:sp>
        <p:nvSpPr>
          <p:cNvPr id="595" name="Google Shape;595;p23"/>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Évaluer la capacité discriminante globale d'un modèle, indépendamment du seuil choisi.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cxnSp>
        <p:nvCxnSpPr>
          <p:cNvPr id="601" name="Google Shape;601;p24"/>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602" name="Google Shape;602;p24"/>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603" name="Google Shape;603;p24"/>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604" name="Google Shape;604;p24"/>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605" name="Google Shape;605;p24"/>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606" name="Google Shape;606;p24"/>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607" name="Google Shape;607;p24"/>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24 / 35</a:t>
            </a:r>
            <a:endParaRPr b="0" i="0" sz="900" u="none" cap="none" strike="noStrike">
              <a:solidFill>
                <a:schemeClr val="dk1"/>
              </a:solidFill>
              <a:latin typeface="Calibri"/>
              <a:ea typeface="Calibri"/>
              <a:cs typeface="Calibri"/>
              <a:sym typeface="Calibri"/>
            </a:endParaRPr>
          </a:p>
        </p:txBody>
      </p:sp>
      <p:pic>
        <p:nvPicPr>
          <p:cNvPr descr="icons/sliders.png" id="608" name="Google Shape;608;p24"/>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609" name="Google Shape;609;p24"/>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Le Seuil de Décision : un Curseur de Risque</a:t>
            </a:r>
            <a:endParaRPr b="0" i="0" sz="2400" u="none" cap="none" strike="noStrike">
              <a:solidFill>
                <a:schemeClr val="dk1"/>
              </a:solidFill>
              <a:latin typeface="Calibri"/>
              <a:ea typeface="Calibri"/>
              <a:cs typeface="Calibri"/>
              <a:sym typeface="Calibri"/>
            </a:endParaRPr>
          </a:p>
        </p:txBody>
      </p:sp>
      <p:sp>
        <p:nvSpPr>
          <p:cNvPr id="610" name="Google Shape;610;p24"/>
          <p:cNvSpPr/>
          <p:nvPr/>
        </p:nvSpPr>
        <p:spPr>
          <a:xfrm>
            <a:off x="1097280" y="2011680"/>
            <a:ext cx="9997135" cy="548640"/>
          </a:xfrm>
          <a:prstGeom prst="roundRect">
            <a:avLst>
              <a:gd fmla="val 50000" name="adj"/>
            </a:avLst>
          </a:prstGeom>
          <a:solidFill>
            <a:srgbClr val="AFC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4"/>
          <p:cNvSpPr/>
          <p:nvPr/>
        </p:nvSpPr>
        <p:spPr>
          <a:xfrm>
            <a:off x="4082705" y="1901952"/>
            <a:ext cx="27432" cy="768096"/>
          </a:xfrm>
          <a:prstGeom prst="rect">
            <a:avLst/>
          </a:prstGeom>
          <a:solidFill>
            <a:srgbClr val="2FA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4"/>
          <p:cNvSpPr/>
          <p:nvPr/>
        </p:nvSpPr>
        <p:spPr>
          <a:xfrm>
            <a:off x="3090581" y="1508760"/>
            <a:ext cx="20116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A86B"/>
              </a:buClr>
              <a:buSzPts val="1150"/>
              <a:buFont typeface="Arial"/>
              <a:buNone/>
            </a:pPr>
            <a:r>
              <a:rPr b="1" i="0" lang="en-US" sz="1150" u="none" cap="none" strike="noStrike">
                <a:solidFill>
                  <a:srgbClr val="2FA86B"/>
                </a:solidFill>
                <a:latin typeface="Arial"/>
                <a:ea typeface="Arial"/>
                <a:cs typeface="Arial"/>
                <a:sym typeface="Arial"/>
              </a:rPr>
              <a:t>Seuil bas</a:t>
            </a:r>
            <a:endParaRPr b="0" i="0" sz="1150" u="none" cap="none" strike="noStrike">
              <a:solidFill>
                <a:schemeClr val="dk1"/>
              </a:solidFill>
              <a:latin typeface="Calibri"/>
              <a:ea typeface="Calibri"/>
              <a:cs typeface="Calibri"/>
              <a:sym typeface="Calibri"/>
            </a:endParaRPr>
          </a:p>
        </p:txBody>
      </p:sp>
      <p:sp>
        <p:nvSpPr>
          <p:cNvPr id="613" name="Google Shape;613;p24"/>
          <p:cNvSpPr/>
          <p:nvPr/>
        </p:nvSpPr>
        <p:spPr>
          <a:xfrm>
            <a:off x="3090581" y="2724912"/>
            <a:ext cx="20116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Rappel fort</a:t>
            </a:r>
            <a:endParaRPr b="0" i="0" sz="105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Précision faible</a:t>
            </a:r>
            <a:endParaRPr b="0" i="0" sz="1050" u="none" cap="none" strike="noStrike">
              <a:solidFill>
                <a:schemeClr val="dk1"/>
              </a:solidFill>
              <a:latin typeface="Calibri"/>
              <a:ea typeface="Calibri"/>
              <a:cs typeface="Calibri"/>
              <a:sym typeface="Calibri"/>
            </a:endParaRPr>
          </a:p>
        </p:txBody>
      </p:sp>
      <p:sp>
        <p:nvSpPr>
          <p:cNvPr id="614" name="Google Shape;614;p24"/>
          <p:cNvSpPr/>
          <p:nvPr/>
        </p:nvSpPr>
        <p:spPr>
          <a:xfrm>
            <a:off x="6082132" y="1901952"/>
            <a:ext cx="27432" cy="768096"/>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4"/>
          <p:cNvSpPr/>
          <p:nvPr/>
        </p:nvSpPr>
        <p:spPr>
          <a:xfrm>
            <a:off x="5090008" y="1508760"/>
            <a:ext cx="20116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235A"/>
              </a:buClr>
              <a:buSzPts val="1150"/>
              <a:buFont typeface="Arial"/>
              <a:buNone/>
            </a:pPr>
            <a:r>
              <a:rPr b="1" i="0" lang="en-US" sz="1150" u="none" cap="none" strike="noStrike">
                <a:solidFill>
                  <a:srgbClr val="16235A"/>
                </a:solidFill>
                <a:latin typeface="Arial"/>
                <a:ea typeface="Arial"/>
                <a:cs typeface="Arial"/>
                <a:sym typeface="Arial"/>
              </a:rPr>
              <a:t>Seuil = 0.5</a:t>
            </a:r>
            <a:endParaRPr b="0" i="0" sz="1150" u="none" cap="none" strike="noStrike">
              <a:solidFill>
                <a:schemeClr val="dk1"/>
              </a:solidFill>
              <a:latin typeface="Calibri"/>
              <a:ea typeface="Calibri"/>
              <a:cs typeface="Calibri"/>
              <a:sym typeface="Calibri"/>
            </a:endParaRPr>
          </a:p>
        </p:txBody>
      </p:sp>
      <p:sp>
        <p:nvSpPr>
          <p:cNvPr id="616" name="Google Shape;616;p24"/>
          <p:cNvSpPr/>
          <p:nvPr/>
        </p:nvSpPr>
        <p:spPr>
          <a:xfrm>
            <a:off x="5090008" y="2724912"/>
            <a:ext cx="20116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Compromis par défaut</a:t>
            </a:r>
            <a:endParaRPr b="0" i="0" sz="1050" u="none" cap="none" strike="noStrike">
              <a:solidFill>
                <a:schemeClr val="dk1"/>
              </a:solidFill>
              <a:latin typeface="Calibri"/>
              <a:ea typeface="Calibri"/>
              <a:cs typeface="Calibri"/>
              <a:sym typeface="Calibri"/>
            </a:endParaRPr>
          </a:p>
        </p:txBody>
      </p:sp>
      <p:sp>
        <p:nvSpPr>
          <p:cNvPr id="617" name="Google Shape;617;p24"/>
          <p:cNvSpPr/>
          <p:nvPr/>
        </p:nvSpPr>
        <p:spPr>
          <a:xfrm>
            <a:off x="8581415" y="1901952"/>
            <a:ext cx="27432" cy="768096"/>
          </a:xfrm>
          <a:prstGeom prst="rect">
            <a:avLst/>
          </a:prstGeom>
          <a:solidFill>
            <a:srgbClr val="D94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4"/>
          <p:cNvSpPr/>
          <p:nvPr/>
        </p:nvSpPr>
        <p:spPr>
          <a:xfrm>
            <a:off x="7589291" y="1508760"/>
            <a:ext cx="20116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463A"/>
              </a:buClr>
              <a:buSzPts val="1150"/>
              <a:buFont typeface="Arial"/>
              <a:buNone/>
            </a:pPr>
            <a:r>
              <a:rPr b="1" i="0" lang="en-US" sz="1150" u="none" cap="none" strike="noStrike">
                <a:solidFill>
                  <a:srgbClr val="D9463A"/>
                </a:solidFill>
                <a:latin typeface="Arial"/>
                <a:ea typeface="Arial"/>
                <a:cs typeface="Arial"/>
                <a:sym typeface="Arial"/>
              </a:rPr>
              <a:t>Seuil haut</a:t>
            </a:r>
            <a:endParaRPr b="0" i="0" sz="1150" u="none" cap="none" strike="noStrike">
              <a:solidFill>
                <a:schemeClr val="dk1"/>
              </a:solidFill>
              <a:latin typeface="Calibri"/>
              <a:ea typeface="Calibri"/>
              <a:cs typeface="Calibri"/>
              <a:sym typeface="Calibri"/>
            </a:endParaRPr>
          </a:p>
        </p:txBody>
      </p:sp>
      <p:sp>
        <p:nvSpPr>
          <p:cNvPr id="619" name="Google Shape;619;p24"/>
          <p:cNvSpPr/>
          <p:nvPr/>
        </p:nvSpPr>
        <p:spPr>
          <a:xfrm>
            <a:off x="7589291" y="2724912"/>
            <a:ext cx="20116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Précision forte</a:t>
            </a:r>
            <a:endParaRPr b="0" i="0" sz="105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3A4658"/>
              </a:buClr>
              <a:buSzPts val="1050"/>
              <a:buFont typeface="Arial"/>
              <a:buNone/>
            </a:pPr>
            <a:r>
              <a:rPr b="0" i="0" lang="en-US" sz="1050" u="none" cap="none" strike="noStrike">
                <a:solidFill>
                  <a:srgbClr val="3A4658"/>
                </a:solidFill>
                <a:latin typeface="Arial"/>
                <a:ea typeface="Arial"/>
                <a:cs typeface="Arial"/>
                <a:sym typeface="Arial"/>
              </a:rPr>
              <a:t>Rappel faible</a:t>
            </a:r>
            <a:endParaRPr b="0" i="0" sz="1050" u="none" cap="none" strike="noStrike">
              <a:solidFill>
                <a:schemeClr val="dk1"/>
              </a:solidFill>
              <a:latin typeface="Calibri"/>
              <a:ea typeface="Calibri"/>
              <a:cs typeface="Calibri"/>
              <a:sym typeface="Calibri"/>
            </a:endParaRPr>
          </a:p>
        </p:txBody>
      </p:sp>
      <p:sp>
        <p:nvSpPr>
          <p:cNvPr id="620" name="Google Shape;620;p24"/>
          <p:cNvSpPr/>
          <p:nvPr/>
        </p:nvSpPr>
        <p:spPr>
          <a:xfrm>
            <a:off x="822960" y="105156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A6"/>
              </a:buClr>
              <a:buSzPts val="1000"/>
              <a:buFont typeface="Arial"/>
              <a:buNone/>
            </a:pPr>
            <a:r>
              <a:rPr b="0" i="0" lang="en-US" sz="1000" u="none" cap="none" strike="noStrike">
                <a:solidFill>
                  <a:srgbClr val="8A93A6"/>
                </a:solidFill>
                <a:latin typeface="Arial"/>
                <a:ea typeface="Arial"/>
                <a:cs typeface="Arial"/>
                <a:sym typeface="Arial"/>
              </a:rPr>
              <a:t>Déclenchement facile</a:t>
            </a:r>
            <a:endParaRPr b="0" i="0" sz="1000" u="none" cap="none" strike="noStrike">
              <a:solidFill>
                <a:schemeClr val="dk1"/>
              </a:solidFill>
              <a:latin typeface="Calibri"/>
              <a:ea typeface="Calibri"/>
              <a:cs typeface="Calibri"/>
              <a:sym typeface="Calibri"/>
            </a:endParaRPr>
          </a:p>
        </p:txBody>
      </p:sp>
      <p:sp>
        <p:nvSpPr>
          <p:cNvPr id="621" name="Google Shape;621;p24"/>
          <p:cNvSpPr/>
          <p:nvPr/>
        </p:nvSpPr>
        <p:spPr>
          <a:xfrm>
            <a:off x="9539935" y="1051560"/>
            <a:ext cx="1828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3A6"/>
              </a:buClr>
              <a:buSzPts val="1000"/>
              <a:buFont typeface="Arial"/>
              <a:buNone/>
            </a:pPr>
            <a:r>
              <a:rPr b="0" i="0" lang="en-US" sz="1000" u="none" cap="none" strike="noStrike">
                <a:solidFill>
                  <a:srgbClr val="8A93A6"/>
                </a:solidFill>
                <a:latin typeface="Arial"/>
                <a:ea typeface="Arial"/>
                <a:cs typeface="Arial"/>
                <a:sym typeface="Arial"/>
              </a:rPr>
              <a:t>Exigence de certitude</a:t>
            </a:r>
            <a:endParaRPr b="0" i="0" sz="1000" u="none" cap="none" strike="noStrike">
              <a:solidFill>
                <a:schemeClr val="dk1"/>
              </a:solidFill>
              <a:latin typeface="Calibri"/>
              <a:ea typeface="Calibri"/>
              <a:cs typeface="Calibri"/>
              <a:sym typeface="Calibri"/>
            </a:endParaRPr>
          </a:p>
        </p:txBody>
      </p:sp>
      <p:sp>
        <p:nvSpPr>
          <p:cNvPr id="622" name="Google Shape;622;p24"/>
          <p:cNvSpPr/>
          <p:nvPr/>
        </p:nvSpPr>
        <p:spPr>
          <a:xfrm>
            <a:off x="457200" y="3749040"/>
            <a:ext cx="11277295" cy="1737360"/>
          </a:xfrm>
          <a:prstGeom prst="roundRect">
            <a:avLst>
              <a:gd fmla="val 4211"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4"/>
          <p:cNvSpPr/>
          <p:nvPr/>
        </p:nvSpPr>
        <p:spPr>
          <a:xfrm>
            <a:off x="685800" y="3931920"/>
            <a:ext cx="1082009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Threshold Tuning</a:t>
            </a:r>
            <a:endParaRPr b="0" i="0" sz="1500" u="none" cap="none" strike="noStrike">
              <a:solidFill>
                <a:schemeClr val="dk1"/>
              </a:solidFill>
              <a:latin typeface="Calibri"/>
              <a:ea typeface="Calibri"/>
              <a:cs typeface="Calibri"/>
              <a:sym typeface="Calibri"/>
            </a:endParaRPr>
          </a:p>
        </p:txBody>
      </p:sp>
      <p:sp>
        <p:nvSpPr>
          <p:cNvPr id="624" name="Google Shape;624;p24"/>
          <p:cNvSpPr/>
          <p:nvPr/>
        </p:nvSpPr>
        <p:spPr>
          <a:xfrm>
            <a:off x="685800" y="4343400"/>
            <a:ext cx="10820095"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300"/>
              <a:buFont typeface="Arial"/>
              <a:buNone/>
            </a:pPr>
            <a:r>
              <a:rPr b="0" i="0" lang="en-US" sz="1300" u="none" cap="none" strike="noStrike">
                <a:solidFill>
                  <a:srgbClr val="3A4658"/>
                </a:solidFill>
                <a:latin typeface="Arial"/>
                <a:ea typeface="Arial"/>
                <a:cs typeface="Arial"/>
                <a:sym typeface="Arial"/>
              </a:rPr>
              <a:t>Plutôt que de changer d'algorithme, la méthode la plus rapide pour optimiser une métrique métier consiste à chercher le seuil optimal sur un jeu de validation.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cxnSp>
        <p:nvCxnSpPr>
          <p:cNvPr id="630" name="Google Shape;630;p25"/>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631" name="Google Shape;631;p25"/>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632" name="Google Shape;632;p25"/>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633" name="Google Shape;633;p25"/>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634" name="Google Shape;634;p25"/>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635" name="Google Shape;635;p25"/>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636" name="Google Shape;636;p25"/>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25 / 35</a:t>
            </a:r>
            <a:endParaRPr b="0" i="0" sz="900" u="none" cap="none" strike="noStrike">
              <a:solidFill>
                <a:schemeClr val="dk1"/>
              </a:solidFill>
              <a:latin typeface="Calibri"/>
              <a:ea typeface="Calibri"/>
              <a:cs typeface="Calibri"/>
              <a:sym typeface="Calibri"/>
            </a:endParaRPr>
          </a:p>
        </p:txBody>
      </p:sp>
      <p:pic>
        <p:nvPicPr>
          <p:cNvPr descr="icons/chartline.png" id="637" name="Google Shape;637;p25"/>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638" name="Google Shape;638;p25"/>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200"/>
              <a:buFont typeface="Arial"/>
              <a:buNone/>
            </a:pPr>
            <a:r>
              <a:rPr b="1" i="0" lang="en-US" sz="2200" u="none" cap="none" strike="noStrike">
                <a:solidFill>
                  <a:srgbClr val="1F2937"/>
                </a:solidFill>
                <a:latin typeface="Arial"/>
                <a:ea typeface="Arial"/>
                <a:cs typeface="Arial"/>
                <a:sym typeface="Arial"/>
              </a:rPr>
              <a:t>Courbes ROC et Precision-Recall</a:t>
            </a:r>
            <a:endParaRPr b="0" i="0" sz="2200" u="none" cap="none" strike="noStrike">
              <a:solidFill>
                <a:schemeClr val="dk1"/>
              </a:solidFill>
              <a:latin typeface="Calibri"/>
              <a:ea typeface="Calibri"/>
              <a:cs typeface="Calibri"/>
              <a:sym typeface="Calibri"/>
            </a:endParaRPr>
          </a:p>
        </p:txBody>
      </p:sp>
      <p:graphicFrame>
        <p:nvGraphicFramePr>
          <p:cNvPr id="639" name="Google Shape;639;p25"/>
          <p:cNvGraphicFramePr/>
          <p:nvPr/>
        </p:nvGraphicFramePr>
        <p:xfrm>
          <a:off x="502920" y="1417320"/>
          <a:ext cx="4937760" cy="3657600"/>
        </p:xfrm>
        <a:graphic>
          <a:graphicData uri="http://schemas.openxmlformats.org/drawingml/2006/chart">
            <c:chart r:id="rId5"/>
          </a:graphicData>
        </a:graphic>
      </p:graphicFrame>
      <p:graphicFrame>
        <p:nvGraphicFramePr>
          <p:cNvPr id="640" name="Google Shape;640;p25"/>
          <p:cNvGraphicFramePr/>
          <p:nvPr/>
        </p:nvGraphicFramePr>
        <p:xfrm>
          <a:off x="5897880" y="1417320"/>
          <a:ext cx="4937760" cy="3657600"/>
        </p:xfrm>
        <a:graphic>
          <a:graphicData uri="http://schemas.openxmlformats.org/drawingml/2006/chart">
            <c:chart r:id="rId6"/>
          </a:graphicData>
        </a:graphic>
      </p:graphicFrame>
      <p:sp>
        <p:nvSpPr>
          <p:cNvPr id="641" name="Google Shape;641;p25"/>
          <p:cNvSpPr/>
          <p:nvPr/>
        </p:nvSpPr>
        <p:spPr>
          <a:xfrm>
            <a:off x="457200" y="5212080"/>
            <a:ext cx="11277295"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3A6"/>
              </a:buClr>
              <a:buSzPts val="1200"/>
              <a:buFont typeface="Arial"/>
              <a:buNone/>
            </a:pPr>
            <a:r>
              <a:rPr b="0" i="1" lang="en-US" sz="1200" u="none" cap="none" strike="noStrike">
                <a:solidFill>
                  <a:srgbClr val="8A93A6"/>
                </a:solidFill>
                <a:latin typeface="Arial"/>
                <a:ea typeface="Arial"/>
                <a:cs typeface="Arial"/>
                <a:sym typeface="Arial"/>
              </a:rPr>
              <a:t>La courbe PR ignore les Vrais Négatifs : elle est bien plus sensible que la ROC sur des données très déséquilibrées (fraude, médical rare).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646" name="Shape 646"/>
        <p:cNvGrpSpPr/>
        <p:nvPr/>
      </p:nvGrpSpPr>
      <p:grpSpPr>
        <a:xfrm>
          <a:off x="0" y="0"/>
          <a:ext cx="0" cy="0"/>
          <a:chOff x="0" y="0"/>
          <a:chExt cx="0" cy="0"/>
        </a:xfrm>
      </p:grpSpPr>
      <p:sp>
        <p:nvSpPr>
          <p:cNvPr id="647" name="Google Shape;647;p26"/>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8" name="Google Shape;648;p26"/>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649" name="Google Shape;649;p26"/>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650" name="Google Shape;650;p26"/>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651" name="Google Shape;651;p26"/>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652" name="Google Shape;652;p26"/>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653" name="Google Shape;653;p26"/>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654" name="Google Shape;654;p26"/>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26 / 35</a:t>
            </a:r>
            <a:endParaRPr b="0" i="0" sz="900" u="none" cap="none" strike="noStrike">
              <a:solidFill>
                <a:schemeClr val="dk1"/>
              </a:solidFill>
              <a:latin typeface="Calibri"/>
              <a:ea typeface="Calibri"/>
              <a:cs typeface="Calibri"/>
              <a:sym typeface="Calibri"/>
            </a:endParaRPr>
          </a:p>
        </p:txBody>
      </p:sp>
      <p:sp>
        <p:nvSpPr>
          <p:cNvPr id="655" name="Google Shape;655;p26"/>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6"/>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7</a:t>
            </a:r>
            <a:endParaRPr b="0" i="0" sz="1200" u="none" cap="none" strike="noStrike">
              <a:solidFill>
                <a:schemeClr val="dk1"/>
              </a:solidFill>
              <a:latin typeface="Calibri"/>
              <a:ea typeface="Calibri"/>
              <a:cs typeface="Calibri"/>
              <a:sym typeface="Calibri"/>
            </a:endParaRPr>
          </a:p>
        </p:txBody>
      </p:sp>
      <p:sp>
        <p:nvSpPr>
          <p:cNvPr id="657" name="Google Shape;657;p26"/>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Extensions &amp; Synthèse Métier</a:t>
            </a:r>
            <a:endParaRPr b="0" i="0" sz="3400" u="none" cap="none" strike="noStrike">
              <a:solidFill>
                <a:schemeClr val="dk1"/>
              </a:solidFill>
              <a:latin typeface="Calibri"/>
              <a:ea typeface="Calibri"/>
              <a:cs typeface="Calibri"/>
              <a:sym typeface="Calibri"/>
            </a:endParaRPr>
          </a:p>
        </p:txBody>
      </p:sp>
      <p:sp>
        <p:nvSpPr>
          <p:cNvPr id="658" name="Google Shape;658;p26"/>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MCC, évaluation multi-classes et intégration des coûts financiers en production.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cxnSp>
        <p:nvCxnSpPr>
          <p:cNvPr id="664" name="Google Shape;664;p27"/>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665" name="Google Shape;665;p27"/>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666" name="Google Shape;666;p27"/>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667" name="Google Shape;667;p27"/>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668" name="Google Shape;668;p27"/>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669" name="Google Shape;669;p27"/>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670" name="Google Shape;670;p27"/>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27 / 35</a:t>
            </a:r>
            <a:endParaRPr b="0" i="0" sz="900" u="none" cap="none" strike="noStrike">
              <a:solidFill>
                <a:schemeClr val="dk1"/>
              </a:solidFill>
              <a:latin typeface="Calibri"/>
              <a:ea typeface="Calibri"/>
              <a:cs typeface="Calibri"/>
              <a:sym typeface="Calibri"/>
            </a:endParaRPr>
          </a:p>
        </p:txBody>
      </p:sp>
      <p:pic>
        <p:nvPicPr>
          <p:cNvPr descr="icons/layergroup.png" id="671" name="Google Shape;671;p27"/>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672" name="Google Shape;672;p27"/>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Le MCC et l'Extension au Multi-Classes</a:t>
            </a:r>
            <a:endParaRPr b="0" i="0" sz="2400" u="none" cap="none" strike="noStrike">
              <a:solidFill>
                <a:schemeClr val="dk1"/>
              </a:solidFill>
              <a:latin typeface="Calibri"/>
              <a:ea typeface="Calibri"/>
              <a:cs typeface="Calibri"/>
              <a:sym typeface="Calibri"/>
            </a:endParaRPr>
          </a:p>
        </p:txBody>
      </p:sp>
      <p:sp>
        <p:nvSpPr>
          <p:cNvPr id="673" name="Google Shape;673;p27"/>
          <p:cNvSpPr/>
          <p:nvPr/>
        </p:nvSpPr>
        <p:spPr>
          <a:xfrm>
            <a:off x="457200" y="1463040"/>
            <a:ext cx="5501488" cy="4206240"/>
          </a:xfrm>
          <a:prstGeom prst="roundRect">
            <a:avLst>
              <a:gd fmla="val 1739"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p:nvPr/>
        </p:nvSpPr>
        <p:spPr>
          <a:xfrm>
            <a:off x="685800" y="1691640"/>
            <a:ext cx="504428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50"/>
              <a:buFont typeface="Arial"/>
              <a:buNone/>
            </a:pPr>
            <a:r>
              <a:rPr b="1" i="0" lang="en-US" sz="1550" u="none" cap="none" strike="noStrike">
                <a:solidFill>
                  <a:srgbClr val="1F2937"/>
                </a:solidFill>
                <a:latin typeface="Arial"/>
                <a:ea typeface="Arial"/>
                <a:cs typeface="Arial"/>
                <a:sym typeface="Arial"/>
              </a:rPr>
              <a:t>MCC — Matthews Correlation</a:t>
            </a:r>
            <a:endParaRPr b="0" i="0" sz="1550" u="none" cap="none" strike="noStrike">
              <a:solidFill>
                <a:schemeClr val="dk1"/>
              </a:solidFill>
              <a:latin typeface="Calibri"/>
              <a:ea typeface="Calibri"/>
              <a:cs typeface="Calibri"/>
              <a:sym typeface="Calibri"/>
            </a:endParaRPr>
          </a:p>
        </p:txBody>
      </p:sp>
      <p:sp>
        <p:nvSpPr>
          <p:cNvPr id="675" name="Google Shape;675;p27"/>
          <p:cNvSpPr/>
          <p:nvPr/>
        </p:nvSpPr>
        <p:spPr>
          <a:xfrm>
            <a:off x="685800" y="2240280"/>
            <a:ext cx="499856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La métrique la plus robuste : elle intègre les 4 quadrants de la matrice avec un équilibre parfait.</a:t>
            </a:r>
            <a:endParaRPr b="0" i="0" sz="1250" u="none" cap="none" strike="noStrike">
              <a:solidFill>
                <a:schemeClr val="dk1"/>
              </a:solidFill>
              <a:latin typeface="Calibri"/>
              <a:ea typeface="Calibri"/>
              <a:cs typeface="Calibri"/>
              <a:sym typeface="Calibri"/>
            </a:endParaRPr>
          </a:p>
        </p:txBody>
      </p:sp>
      <p:sp>
        <p:nvSpPr>
          <p:cNvPr id="676" name="Google Shape;676;p27"/>
          <p:cNvSpPr/>
          <p:nvPr/>
        </p:nvSpPr>
        <p:spPr>
          <a:xfrm>
            <a:off x="685800" y="3246120"/>
            <a:ext cx="5044288" cy="594360"/>
          </a:xfrm>
          <a:prstGeom prst="roundRect">
            <a:avLst>
              <a:gd fmla="val 9231" name="adj"/>
            </a:avLst>
          </a:prstGeom>
          <a:solidFill>
            <a:srgbClr val="FFFFFF"/>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7"/>
          <p:cNvSpPr/>
          <p:nvPr/>
        </p:nvSpPr>
        <p:spPr>
          <a:xfrm>
            <a:off x="685800" y="3246120"/>
            <a:ext cx="5044288"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Score de -1 à +1  |  0 = aléatoire</a:t>
            </a:r>
            <a:endParaRPr b="0" i="0" sz="1300" u="none" cap="none" strike="noStrike">
              <a:solidFill>
                <a:schemeClr val="dk1"/>
              </a:solidFill>
              <a:latin typeface="Calibri"/>
              <a:ea typeface="Calibri"/>
              <a:cs typeface="Calibri"/>
              <a:sym typeface="Calibri"/>
            </a:endParaRPr>
          </a:p>
        </p:txBody>
      </p:sp>
      <p:sp>
        <p:nvSpPr>
          <p:cNvPr id="678" name="Google Shape;678;p27"/>
          <p:cNvSpPr/>
          <p:nvPr/>
        </p:nvSpPr>
        <p:spPr>
          <a:xfrm>
            <a:off x="685800" y="3977640"/>
            <a:ext cx="4998568"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3A6"/>
              </a:buClr>
              <a:buSzPts val="1200"/>
              <a:buFont typeface="Arial"/>
              <a:buNone/>
            </a:pPr>
            <a:r>
              <a:rPr b="0" i="1" lang="en-US" sz="1200" u="none" cap="none" strike="noStrike">
                <a:solidFill>
                  <a:srgbClr val="8A93A6"/>
                </a:solidFill>
                <a:latin typeface="Arial"/>
                <a:ea typeface="Arial"/>
                <a:cs typeface="Arial"/>
                <a:sym typeface="Arial"/>
              </a:rPr>
              <a:t>+1 = prédiction parfaite, -1 = désaccord total.</a:t>
            </a:r>
            <a:endParaRPr b="0" i="0" sz="1200" u="none" cap="none" strike="noStrike">
              <a:solidFill>
                <a:schemeClr val="dk1"/>
              </a:solidFill>
              <a:latin typeface="Calibri"/>
              <a:ea typeface="Calibri"/>
              <a:cs typeface="Calibri"/>
              <a:sym typeface="Calibri"/>
            </a:endParaRPr>
          </a:p>
        </p:txBody>
      </p:sp>
      <p:sp>
        <p:nvSpPr>
          <p:cNvPr id="679" name="Google Shape;679;p27"/>
          <p:cNvSpPr/>
          <p:nvPr/>
        </p:nvSpPr>
        <p:spPr>
          <a:xfrm>
            <a:off x="6233008" y="1463040"/>
            <a:ext cx="5501488" cy="4206240"/>
          </a:xfrm>
          <a:prstGeom prst="roundRect">
            <a:avLst>
              <a:gd fmla="val 1739"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p:nvPr/>
        </p:nvSpPr>
        <p:spPr>
          <a:xfrm>
            <a:off x="6461608" y="1691640"/>
            <a:ext cx="5044288"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50"/>
              <a:buFont typeface="Arial"/>
              <a:buNone/>
            </a:pPr>
            <a:r>
              <a:rPr b="1" i="0" lang="en-US" sz="1550" u="none" cap="none" strike="noStrike">
                <a:solidFill>
                  <a:srgbClr val="1F2937"/>
                </a:solidFill>
                <a:latin typeface="Arial"/>
                <a:ea typeface="Arial"/>
                <a:cs typeface="Arial"/>
                <a:sym typeface="Arial"/>
              </a:rPr>
              <a:t>Agrégations multi-classes</a:t>
            </a:r>
            <a:endParaRPr b="0" i="0" sz="1550" u="none" cap="none" strike="noStrike">
              <a:solidFill>
                <a:schemeClr val="dk1"/>
              </a:solidFill>
              <a:latin typeface="Calibri"/>
              <a:ea typeface="Calibri"/>
              <a:cs typeface="Calibri"/>
              <a:sym typeface="Calibri"/>
            </a:endParaRPr>
          </a:p>
        </p:txBody>
      </p:sp>
      <p:sp>
        <p:nvSpPr>
          <p:cNvPr id="681" name="Google Shape;681;p27"/>
          <p:cNvSpPr/>
          <p:nvPr/>
        </p:nvSpPr>
        <p:spPr>
          <a:xfrm>
            <a:off x="6461608" y="2240280"/>
            <a:ext cx="4998568" cy="32004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25000"/>
              </a:lnSpc>
              <a:spcBef>
                <a:spcPts val="0"/>
              </a:spcBef>
              <a:spcAft>
                <a:spcPts val="0"/>
              </a:spcAft>
              <a:buClr>
                <a:srgbClr val="3A4658"/>
              </a:buClr>
              <a:buSzPts val="1250"/>
              <a:buFont typeface="Arial"/>
              <a:buChar char="•"/>
            </a:pPr>
            <a:r>
              <a:rPr b="0" i="0" lang="en-US" sz="1250" u="none" cap="none" strike="noStrike">
                <a:solidFill>
                  <a:srgbClr val="3A4658"/>
                </a:solidFill>
                <a:latin typeface="Arial"/>
                <a:ea typeface="Arial"/>
                <a:cs typeface="Arial"/>
                <a:sym typeface="Arial"/>
              </a:rPr>
              <a:t>Macro : moyenne simple, chaque classe pèse pareil.</a:t>
            </a:r>
            <a:endParaRPr b="0" i="0" sz="125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250"/>
              <a:buFont typeface="Arial"/>
              <a:buChar char="•"/>
            </a:pPr>
            <a:r>
              <a:rPr b="0" i="0" lang="en-US" sz="1250" u="none" cap="none" strike="noStrike">
                <a:solidFill>
                  <a:srgbClr val="3A4658"/>
                </a:solidFill>
                <a:latin typeface="Arial"/>
                <a:ea typeface="Arial"/>
                <a:cs typeface="Arial"/>
                <a:sym typeface="Arial"/>
              </a:rPr>
              <a:t>Micro : somme globale des VP/FP/FN — dominé par les classes majoritaires.</a:t>
            </a:r>
            <a:endParaRPr b="0" i="0" sz="1250" u="none" cap="none" strike="noStrike">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3A4658"/>
              </a:buClr>
              <a:buSzPts val="1250"/>
              <a:buFont typeface="Arial"/>
              <a:buChar char="•"/>
            </a:pPr>
            <a:r>
              <a:rPr b="0" i="0" lang="en-US" sz="1250" u="none" cap="none" strike="noStrike">
                <a:solidFill>
                  <a:srgbClr val="3A4658"/>
                </a:solidFill>
                <a:latin typeface="Arial"/>
                <a:ea typeface="Arial"/>
                <a:cs typeface="Arial"/>
                <a:sym typeface="Arial"/>
              </a:rPr>
              <a:t>Weighted : pondère par l'effectif réel de chaque classe.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6" name="Shape 686"/>
        <p:cNvGrpSpPr/>
        <p:nvPr/>
      </p:nvGrpSpPr>
      <p:grpSpPr>
        <a:xfrm>
          <a:off x="0" y="0"/>
          <a:ext cx="0" cy="0"/>
          <a:chOff x="0" y="0"/>
          <a:chExt cx="0" cy="0"/>
        </a:xfrm>
      </p:grpSpPr>
      <p:cxnSp>
        <p:nvCxnSpPr>
          <p:cNvPr id="687" name="Google Shape;687;p28"/>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688" name="Google Shape;688;p28"/>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689" name="Google Shape;689;p28"/>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690" name="Google Shape;690;p28"/>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691" name="Google Shape;691;p28"/>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692" name="Google Shape;692;p28"/>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693" name="Google Shape;693;p28"/>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28 / 35</a:t>
            </a:r>
            <a:endParaRPr b="0" i="0" sz="900" u="none" cap="none" strike="noStrike">
              <a:solidFill>
                <a:schemeClr val="dk1"/>
              </a:solidFill>
              <a:latin typeface="Calibri"/>
              <a:ea typeface="Calibri"/>
              <a:cs typeface="Calibri"/>
              <a:sym typeface="Calibri"/>
            </a:endParaRPr>
          </a:p>
        </p:txBody>
      </p:sp>
      <p:pic>
        <p:nvPicPr>
          <p:cNvPr descr="icons/coins.png" id="694" name="Google Shape;694;p28"/>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695" name="Google Shape;695;p28"/>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La Matrice de Coûts Financiers</a:t>
            </a:r>
            <a:endParaRPr b="0" i="0" sz="2400" u="none" cap="none" strike="noStrike">
              <a:solidFill>
                <a:schemeClr val="dk1"/>
              </a:solidFill>
              <a:latin typeface="Calibri"/>
              <a:ea typeface="Calibri"/>
              <a:cs typeface="Calibri"/>
              <a:sym typeface="Calibri"/>
            </a:endParaRPr>
          </a:p>
        </p:txBody>
      </p:sp>
      <p:sp>
        <p:nvSpPr>
          <p:cNvPr id="696" name="Google Shape;696;p28"/>
          <p:cNvSpPr/>
          <p:nvPr/>
        </p:nvSpPr>
        <p:spPr>
          <a:xfrm>
            <a:off x="457200" y="1417320"/>
            <a:ext cx="1127729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350"/>
              <a:buFont typeface="Arial"/>
              <a:buNone/>
            </a:pPr>
            <a:r>
              <a:rPr b="0" i="0" lang="en-US" sz="1350" u="none" cap="none" strike="noStrike">
                <a:solidFill>
                  <a:srgbClr val="3A4658"/>
                </a:solidFill>
                <a:latin typeface="Arial"/>
                <a:ea typeface="Arial"/>
                <a:cs typeface="Arial"/>
                <a:sym typeface="Arial"/>
              </a:rPr>
              <a:t>Plutôt qu'une métrique abstraite, on attribue un coût direct en euros à chaque quadrant :</a:t>
            </a:r>
            <a:endParaRPr b="0" i="0" sz="1350" u="none" cap="none" strike="noStrike">
              <a:solidFill>
                <a:schemeClr val="dk1"/>
              </a:solidFill>
              <a:latin typeface="Calibri"/>
              <a:ea typeface="Calibri"/>
              <a:cs typeface="Calibri"/>
              <a:sym typeface="Calibri"/>
            </a:endParaRPr>
          </a:p>
        </p:txBody>
      </p:sp>
      <p:sp>
        <p:nvSpPr>
          <p:cNvPr id="697" name="Google Shape;697;p28"/>
          <p:cNvSpPr/>
          <p:nvPr/>
        </p:nvSpPr>
        <p:spPr>
          <a:xfrm>
            <a:off x="457200" y="1965960"/>
            <a:ext cx="3698138" cy="1554480"/>
          </a:xfrm>
          <a:prstGeom prst="roundRect">
            <a:avLst>
              <a:gd fmla="val 4706" name="adj"/>
            </a:avLst>
          </a:prstGeom>
          <a:solidFill>
            <a:srgbClr val="F5F8FE"/>
          </a:solidFill>
          <a:ln cap="flat" cmpd="sng" w="19050">
            <a:solidFill>
              <a:srgbClr val="2FA8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png" id="698" name="Google Shape;698;p28"/>
          <p:cNvPicPr preferRelativeResize="0"/>
          <p:nvPr/>
        </p:nvPicPr>
        <p:blipFill rotWithShape="1">
          <a:blip r:embed="rId5">
            <a:alphaModFix/>
          </a:blip>
          <a:srcRect b="0" l="0" r="0" t="0"/>
          <a:stretch/>
        </p:blipFill>
        <p:spPr>
          <a:xfrm>
            <a:off x="2077669" y="2148840"/>
            <a:ext cx="457200" cy="457200"/>
          </a:xfrm>
          <a:prstGeom prst="rect">
            <a:avLst/>
          </a:prstGeom>
          <a:noFill/>
          <a:ln>
            <a:noFill/>
          </a:ln>
        </p:spPr>
      </p:pic>
      <p:sp>
        <p:nvSpPr>
          <p:cNvPr id="699" name="Google Shape;699;p28"/>
          <p:cNvSpPr/>
          <p:nvPr/>
        </p:nvSpPr>
        <p:spPr>
          <a:xfrm>
            <a:off x="457200" y="2679192"/>
            <a:ext cx="3698138"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A86B"/>
              </a:buClr>
              <a:buSzPts val="1500"/>
              <a:buFont typeface="Arial"/>
              <a:buNone/>
            </a:pPr>
            <a:r>
              <a:rPr b="1" i="0" lang="en-US" sz="1500" u="none" cap="none" strike="noStrike">
                <a:solidFill>
                  <a:srgbClr val="2FA86B"/>
                </a:solidFill>
                <a:latin typeface="Arial"/>
                <a:ea typeface="Arial"/>
                <a:cs typeface="Arial"/>
                <a:sym typeface="Arial"/>
              </a:rPr>
              <a:t>VP</a:t>
            </a:r>
            <a:endParaRPr b="0" i="0" sz="1500" u="none" cap="none" strike="noStrike">
              <a:solidFill>
                <a:schemeClr val="dk1"/>
              </a:solidFill>
              <a:latin typeface="Calibri"/>
              <a:ea typeface="Calibri"/>
              <a:cs typeface="Calibri"/>
              <a:sym typeface="Calibri"/>
            </a:endParaRPr>
          </a:p>
        </p:txBody>
      </p:sp>
      <p:sp>
        <p:nvSpPr>
          <p:cNvPr id="700" name="Google Shape;700;p28"/>
          <p:cNvSpPr/>
          <p:nvPr/>
        </p:nvSpPr>
        <p:spPr>
          <a:xfrm>
            <a:off x="640080" y="2990088"/>
            <a:ext cx="3332378"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150"/>
              <a:buFont typeface="Arial"/>
              <a:buNone/>
            </a:pPr>
            <a:r>
              <a:rPr b="0" i="0" lang="en-US" sz="1150" u="none" cap="none" strike="noStrike">
                <a:solidFill>
                  <a:srgbClr val="3A4658"/>
                </a:solidFill>
                <a:latin typeface="Arial"/>
                <a:ea typeface="Arial"/>
                <a:cs typeface="Arial"/>
                <a:sym typeface="Arial"/>
              </a:rPr>
              <a:t>Gain net de l'intervention</a:t>
            </a:r>
            <a:endParaRPr b="0" i="0" sz="1150" u="none" cap="none" strike="noStrike">
              <a:solidFill>
                <a:schemeClr val="dk1"/>
              </a:solidFill>
              <a:latin typeface="Calibri"/>
              <a:ea typeface="Calibri"/>
              <a:cs typeface="Calibri"/>
              <a:sym typeface="Calibri"/>
            </a:endParaRPr>
          </a:p>
        </p:txBody>
      </p:sp>
      <p:sp>
        <p:nvSpPr>
          <p:cNvPr id="701" name="Google Shape;701;p28"/>
          <p:cNvSpPr/>
          <p:nvPr/>
        </p:nvSpPr>
        <p:spPr>
          <a:xfrm>
            <a:off x="4246778" y="1965960"/>
            <a:ext cx="3698138" cy="1554480"/>
          </a:xfrm>
          <a:prstGeom prst="roundRect">
            <a:avLst>
              <a:gd fmla="val 4706"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ll.png" id="702" name="Google Shape;702;p28"/>
          <p:cNvPicPr preferRelativeResize="0"/>
          <p:nvPr/>
        </p:nvPicPr>
        <p:blipFill rotWithShape="1">
          <a:blip r:embed="rId6">
            <a:alphaModFix/>
          </a:blip>
          <a:srcRect b="0" l="0" r="0" t="0"/>
          <a:stretch/>
        </p:blipFill>
        <p:spPr>
          <a:xfrm>
            <a:off x="5867248" y="2148840"/>
            <a:ext cx="457200" cy="457200"/>
          </a:xfrm>
          <a:prstGeom prst="rect">
            <a:avLst/>
          </a:prstGeom>
          <a:noFill/>
          <a:ln>
            <a:noFill/>
          </a:ln>
        </p:spPr>
      </p:pic>
      <p:sp>
        <p:nvSpPr>
          <p:cNvPr id="703" name="Google Shape;703;p28"/>
          <p:cNvSpPr/>
          <p:nvPr/>
        </p:nvSpPr>
        <p:spPr>
          <a:xfrm>
            <a:off x="4246778" y="2679192"/>
            <a:ext cx="3698138"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952F"/>
              </a:buClr>
              <a:buSzPts val="1500"/>
              <a:buFont typeface="Arial"/>
              <a:buNone/>
            </a:pPr>
            <a:r>
              <a:rPr b="1" i="0" lang="en-US" sz="1500" u="none" cap="none" strike="noStrike">
                <a:solidFill>
                  <a:srgbClr val="E8952F"/>
                </a:solidFill>
                <a:latin typeface="Arial"/>
                <a:ea typeface="Arial"/>
                <a:cs typeface="Arial"/>
                <a:sym typeface="Arial"/>
              </a:rPr>
              <a:t>FP</a:t>
            </a:r>
            <a:endParaRPr b="0" i="0" sz="1500" u="none" cap="none" strike="noStrike">
              <a:solidFill>
                <a:schemeClr val="dk1"/>
              </a:solidFill>
              <a:latin typeface="Calibri"/>
              <a:ea typeface="Calibri"/>
              <a:cs typeface="Calibri"/>
              <a:sym typeface="Calibri"/>
            </a:endParaRPr>
          </a:p>
        </p:txBody>
      </p:sp>
      <p:sp>
        <p:nvSpPr>
          <p:cNvPr id="704" name="Google Shape;704;p28"/>
          <p:cNvSpPr/>
          <p:nvPr/>
        </p:nvSpPr>
        <p:spPr>
          <a:xfrm>
            <a:off x="4429658" y="2990088"/>
            <a:ext cx="3332378"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150"/>
              <a:buFont typeface="Arial"/>
              <a:buNone/>
            </a:pPr>
            <a:r>
              <a:rPr b="0" i="0" lang="en-US" sz="1150" u="none" cap="none" strike="noStrike">
                <a:solidFill>
                  <a:srgbClr val="3A4658"/>
                </a:solidFill>
                <a:latin typeface="Arial"/>
                <a:ea typeface="Arial"/>
                <a:cs typeface="Arial"/>
                <a:sym typeface="Arial"/>
              </a:rPr>
              <a:t>Coût opérationnel (ex : 15 €)</a:t>
            </a:r>
            <a:endParaRPr b="0" i="0" sz="1150" u="none" cap="none" strike="noStrike">
              <a:solidFill>
                <a:schemeClr val="dk1"/>
              </a:solidFill>
              <a:latin typeface="Calibri"/>
              <a:ea typeface="Calibri"/>
              <a:cs typeface="Calibri"/>
              <a:sym typeface="Calibri"/>
            </a:endParaRPr>
          </a:p>
        </p:txBody>
      </p:sp>
      <p:sp>
        <p:nvSpPr>
          <p:cNvPr id="705" name="Google Shape;705;p28"/>
          <p:cNvSpPr/>
          <p:nvPr/>
        </p:nvSpPr>
        <p:spPr>
          <a:xfrm>
            <a:off x="8036357" y="1965960"/>
            <a:ext cx="3698138" cy="1554480"/>
          </a:xfrm>
          <a:prstGeom prst="roundRect">
            <a:avLst>
              <a:gd fmla="val 4706" name="adj"/>
            </a:avLst>
          </a:prstGeom>
          <a:solidFill>
            <a:srgbClr val="F5F8FE"/>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iangle.png" id="706" name="Google Shape;706;p28"/>
          <p:cNvPicPr preferRelativeResize="0"/>
          <p:nvPr/>
        </p:nvPicPr>
        <p:blipFill rotWithShape="1">
          <a:blip r:embed="rId7">
            <a:alphaModFix/>
          </a:blip>
          <a:srcRect b="0" l="0" r="0" t="0"/>
          <a:stretch/>
        </p:blipFill>
        <p:spPr>
          <a:xfrm>
            <a:off x="9656826" y="2148840"/>
            <a:ext cx="457200" cy="457200"/>
          </a:xfrm>
          <a:prstGeom prst="rect">
            <a:avLst/>
          </a:prstGeom>
          <a:noFill/>
          <a:ln>
            <a:noFill/>
          </a:ln>
        </p:spPr>
      </p:pic>
      <p:sp>
        <p:nvSpPr>
          <p:cNvPr id="707" name="Google Shape;707;p28"/>
          <p:cNvSpPr/>
          <p:nvPr/>
        </p:nvSpPr>
        <p:spPr>
          <a:xfrm>
            <a:off x="8036357" y="2679192"/>
            <a:ext cx="3698138"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463A"/>
              </a:buClr>
              <a:buSzPts val="1500"/>
              <a:buFont typeface="Arial"/>
              <a:buNone/>
            </a:pPr>
            <a:r>
              <a:rPr b="1" i="0" lang="en-US" sz="1500" u="none" cap="none" strike="noStrike">
                <a:solidFill>
                  <a:srgbClr val="D9463A"/>
                </a:solidFill>
                <a:latin typeface="Arial"/>
                <a:ea typeface="Arial"/>
                <a:cs typeface="Arial"/>
                <a:sym typeface="Arial"/>
              </a:rPr>
              <a:t>FN</a:t>
            </a:r>
            <a:endParaRPr b="0" i="0" sz="1500" u="none" cap="none" strike="noStrike">
              <a:solidFill>
                <a:schemeClr val="dk1"/>
              </a:solidFill>
              <a:latin typeface="Calibri"/>
              <a:ea typeface="Calibri"/>
              <a:cs typeface="Calibri"/>
              <a:sym typeface="Calibri"/>
            </a:endParaRPr>
          </a:p>
        </p:txBody>
      </p:sp>
      <p:sp>
        <p:nvSpPr>
          <p:cNvPr id="708" name="Google Shape;708;p28"/>
          <p:cNvSpPr/>
          <p:nvPr/>
        </p:nvSpPr>
        <p:spPr>
          <a:xfrm>
            <a:off x="8219237" y="2990088"/>
            <a:ext cx="3332378"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3A4658"/>
              </a:buClr>
              <a:buSzPts val="1150"/>
              <a:buFont typeface="Arial"/>
              <a:buNone/>
            </a:pPr>
            <a:r>
              <a:rPr b="0" i="0" lang="en-US" sz="1150" u="none" cap="none" strike="noStrike">
                <a:solidFill>
                  <a:srgbClr val="3A4658"/>
                </a:solidFill>
                <a:latin typeface="Arial"/>
                <a:ea typeface="Arial"/>
                <a:cs typeface="Arial"/>
                <a:sym typeface="Arial"/>
              </a:rPr>
              <a:t>Perte financière subie (ex : 500 €)</a:t>
            </a:r>
            <a:endParaRPr b="0" i="0" sz="1150" u="none" cap="none" strike="noStrike">
              <a:solidFill>
                <a:schemeClr val="dk1"/>
              </a:solidFill>
              <a:latin typeface="Calibri"/>
              <a:ea typeface="Calibri"/>
              <a:cs typeface="Calibri"/>
              <a:sym typeface="Calibri"/>
            </a:endParaRPr>
          </a:p>
        </p:txBody>
      </p:sp>
      <p:sp>
        <p:nvSpPr>
          <p:cNvPr id="709" name="Google Shape;709;p28"/>
          <p:cNvSpPr/>
          <p:nvPr/>
        </p:nvSpPr>
        <p:spPr>
          <a:xfrm>
            <a:off x="457200" y="3794760"/>
            <a:ext cx="11277295" cy="1005840"/>
          </a:xfrm>
          <a:prstGeom prst="roundRect">
            <a:avLst>
              <a:gd fmla="val 7273" name="adj"/>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8"/>
          <p:cNvSpPr/>
          <p:nvPr/>
        </p:nvSpPr>
        <p:spPr>
          <a:xfrm>
            <a:off x="731520" y="3794760"/>
            <a:ext cx="10728655"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Objectif opérationnel : sélectionner le modèle ET le seuil qui minimisent la perte financière globale de l'entreprise.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5" name="Shape 715"/>
        <p:cNvGrpSpPr/>
        <p:nvPr/>
      </p:nvGrpSpPr>
      <p:grpSpPr>
        <a:xfrm>
          <a:off x="0" y="0"/>
          <a:ext cx="0" cy="0"/>
          <a:chOff x="0" y="0"/>
          <a:chExt cx="0" cy="0"/>
        </a:xfrm>
      </p:grpSpPr>
      <p:cxnSp>
        <p:nvCxnSpPr>
          <p:cNvPr id="716" name="Google Shape;716;p29"/>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717" name="Google Shape;717;p29"/>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718" name="Google Shape;718;p29"/>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719" name="Google Shape;719;p29"/>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720" name="Google Shape;720;p29"/>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721" name="Google Shape;721;p29"/>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722" name="Google Shape;722;p29"/>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29 / 35</a:t>
            </a:r>
            <a:endParaRPr b="0" i="0" sz="900" u="none" cap="none" strike="noStrike">
              <a:solidFill>
                <a:schemeClr val="dk1"/>
              </a:solidFill>
              <a:latin typeface="Calibri"/>
              <a:ea typeface="Calibri"/>
              <a:cs typeface="Calibri"/>
              <a:sym typeface="Calibri"/>
            </a:endParaRPr>
          </a:p>
        </p:txBody>
      </p:sp>
      <p:pic>
        <p:nvPicPr>
          <p:cNvPr descr="icons/compass.png" id="723" name="Google Shape;723;p29"/>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724" name="Google Shape;724;p29"/>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Guide de Décision : Quelle Métrique Choisir ?</a:t>
            </a:r>
            <a:endParaRPr b="0" i="0" sz="2400" u="none" cap="none" strike="noStrike">
              <a:solidFill>
                <a:schemeClr val="dk1"/>
              </a:solidFill>
              <a:latin typeface="Calibri"/>
              <a:ea typeface="Calibri"/>
              <a:cs typeface="Calibri"/>
              <a:sym typeface="Calibri"/>
            </a:endParaRPr>
          </a:p>
        </p:txBody>
      </p:sp>
      <p:sp>
        <p:nvSpPr>
          <p:cNvPr id="725" name="Google Shape;725;p29"/>
          <p:cNvSpPr/>
          <p:nvPr/>
        </p:nvSpPr>
        <p:spPr>
          <a:xfrm>
            <a:off x="457200" y="1554480"/>
            <a:ext cx="6858000"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9"/>
          <p:cNvSpPr/>
          <p:nvPr/>
        </p:nvSpPr>
        <p:spPr>
          <a:xfrm>
            <a:off x="594360" y="1554480"/>
            <a:ext cx="66751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Contexte</a:t>
            </a:r>
            <a:endParaRPr b="0" i="0" sz="1300" u="none" cap="none" strike="noStrike">
              <a:solidFill>
                <a:schemeClr val="dk1"/>
              </a:solidFill>
              <a:latin typeface="Calibri"/>
              <a:ea typeface="Calibri"/>
              <a:cs typeface="Calibri"/>
              <a:sym typeface="Calibri"/>
            </a:endParaRPr>
          </a:p>
        </p:txBody>
      </p:sp>
      <p:sp>
        <p:nvSpPr>
          <p:cNvPr id="727" name="Google Shape;727;p29"/>
          <p:cNvSpPr/>
          <p:nvPr/>
        </p:nvSpPr>
        <p:spPr>
          <a:xfrm>
            <a:off x="7315200" y="1554480"/>
            <a:ext cx="4419295" cy="502920"/>
          </a:xfrm>
          <a:prstGeom prst="rect">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7452360" y="1554480"/>
            <a:ext cx="423641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Métrique recommandée</a:t>
            </a:r>
            <a:endParaRPr b="0" i="0" sz="1300" u="none" cap="none" strike="noStrike">
              <a:solidFill>
                <a:schemeClr val="dk1"/>
              </a:solidFill>
              <a:latin typeface="Calibri"/>
              <a:ea typeface="Calibri"/>
              <a:cs typeface="Calibri"/>
              <a:sym typeface="Calibri"/>
            </a:endParaRPr>
          </a:p>
        </p:txBody>
      </p:sp>
      <p:sp>
        <p:nvSpPr>
          <p:cNvPr id="729" name="Google Shape;729;p29"/>
          <p:cNvSpPr/>
          <p:nvPr/>
        </p:nvSpPr>
        <p:spPr>
          <a:xfrm>
            <a:off x="457200" y="2057400"/>
            <a:ext cx="6858000"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9"/>
          <p:cNvSpPr/>
          <p:nvPr/>
        </p:nvSpPr>
        <p:spPr>
          <a:xfrm>
            <a:off x="594360" y="205740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Arial"/>
              <a:buNone/>
            </a:pPr>
            <a:r>
              <a:rPr b="0" i="0" lang="en-US" sz="1300" u="none" cap="none" strike="noStrike">
                <a:solidFill>
                  <a:srgbClr val="1F2937"/>
                </a:solidFill>
                <a:latin typeface="Arial"/>
                <a:ea typeface="Arial"/>
                <a:cs typeface="Arial"/>
                <a:sym typeface="Arial"/>
              </a:rPr>
              <a:t>Classes équilibrées + coûts symétriques</a:t>
            </a:r>
            <a:endParaRPr b="0" i="0" sz="1300" u="none" cap="none" strike="noStrike">
              <a:solidFill>
                <a:schemeClr val="dk1"/>
              </a:solidFill>
              <a:latin typeface="Calibri"/>
              <a:ea typeface="Calibri"/>
              <a:cs typeface="Calibri"/>
              <a:sym typeface="Calibri"/>
            </a:endParaRPr>
          </a:p>
        </p:txBody>
      </p:sp>
      <p:sp>
        <p:nvSpPr>
          <p:cNvPr id="731" name="Google Shape;731;p29"/>
          <p:cNvSpPr/>
          <p:nvPr/>
        </p:nvSpPr>
        <p:spPr>
          <a:xfrm>
            <a:off x="7315200" y="2057400"/>
            <a:ext cx="4419295"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9"/>
          <p:cNvSpPr/>
          <p:nvPr/>
        </p:nvSpPr>
        <p:spPr>
          <a:xfrm>
            <a:off x="7452360" y="2057400"/>
            <a:ext cx="4144975"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Accuracy</a:t>
            </a:r>
            <a:endParaRPr b="0" i="0" sz="1300" u="none" cap="none" strike="noStrike">
              <a:solidFill>
                <a:schemeClr val="dk1"/>
              </a:solidFill>
              <a:latin typeface="Calibri"/>
              <a:ea typeface="Calibri"/>
              <a:cs typeface="Calibri"/>
              <a:sym typeface="Calibri"/>
            </a:endParaRPr>
          </a:p>
        </p:txBody>
      </p:sp>
      <p:sp>
        <p:nvSpPr>
          <p:cNvPr id="733" name="Google Shape;733;p29"/>
          <p:cNvSpPr/>
          <p:nvPr/>
        </p:nvSpPr>
        <p:spPr>
          <a:xfrm>
            <a:off x="457200" y="2715768"/>
            <a:ext cx="6858000" cy="658368"/>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594360" y="2715768"/>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Arial"/>
              <a:buNone/>
            </a:pPr>
            <a:r>
              <a:rPr b="0" i="0" lang="en-US" sz="1300" u="none" cap="none" strike="noStrike">
                <a:solidFill>
                  <a:srgbClr val="1F2937"/>
                </a:solidFill>
                <a:latin typeface="Arial"/>
                <a:ea typeface="Arial"/>
                <a:cs typeface="Arial"/>
                <a:sym typeface="Arial"/>
              </a:rPr>
              <a:t>Data très déséquilibrée</a:t>
            </a:r>
            <a:endParaRPr b="0" i="0" sz="1300" u="none" cap="none" strike="noStrike">
              <a:solidFill>
                <a:schemeClr val="dk1"/>
              </a:solidFill>
              <a:latin typeface="Calibri"/>
              <a:ea typeface="Calibri"/>
              <a:cs typeface="Calibri"/>
              <a:sym typeface="Calibri"/>
            </a:endParaRPr>
          </a:p>
        </p:txBody>
      </p:sp>
      <p:sp>
        <p:nvSpPr>
          <p:cNvPr id="735" name="Google Shape;735;p29"/>
          <p:cNvSpPr/>
          <p:nvPr/>
        </p:nvSpPr>
        <p:spPr>
          <a:xfrm>
            <a:off x="7315200" y="2715768"/>
            <a:ext cx="4419295" cy="658368"/>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9"/>
          <p:cNvSpPr/>
          <p:nvPr/>
        </p:nvSpPr>
        <p:spPr>
          <a:xfrm>
            <a:off x="7452360" y="2715768"/>
            <a:ext cx="4144975"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PR-AUC ou MCC</a:t>
            </a:r>
            <a:endParaRPr b="0" i="0" sz="1300" u="none" cap="none" strike="noStrike">
              <a:solidFill>
                <a:schemeClr val="dk1"/>
              </a:solidFill>
              <a:latin typeface="Calibri"/>
              <a:ea typeface="Calibri"/>
              <a:cs typeface="Calibri"/>
              <a:sym typeface="Calibri"/>
            </a:endParaRPr>
          </a:p>
        </p:txBody>
      </p:sp>
      <p:sp>
        <p:nvSpPr>
          <p:cNvPr id="737" name="Google Shape;737;p29"/>
          <p:cNvSpPr/>
          <p:nvPr/>
        </p:nvSpPr>
        <p:spPr>
          <a:xfrm>
            <a:off x="457200" y="3374136"/>
            <a:ext cx="6858000"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9"/>
          <p:cNvSpPr/>
          <p:nvPr/>
        </p:nvSpPr>
        <p:spPr>
          <a:xfrm>
            <a:off x="594360" y="3374136"/>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Arial"/>
              <a:buNone/>
            </a:pPr>
            <a:r>
              <a:rPr b="0" i="0" lang="en-US" sz="1300" u="none" cap="none" strike="noStrike">
                <a:solidFill>
                  <a:srgbClr val="1F2937"/>
                </a:solidFill>
                <a:latin typeface="Arial"/>
                <a:ea typeface="Arial"/>
                <a:cs typeface="Arial"/>
                <a:sym typeface="Arial"/>
              </a:rPr>
              <a:t>Réduire les Faux Positifs à tout prix</a:t>
            </a:r>
            <a:endParaRPr b="0" i="0" sz="1300" u="none" cap="none" strike="noStrike">
              <a:solidFill>
                <a:schemeClr val="dk1"/>
              </a:solidFill>
              <a:latin typeface="Calibri"/>
              <a:ea typeface="Calibri"/>
              <a:cs typeface="Calibri"/>
              <a:sym typeface="Calibri"/>
            </a:endParaRPr>
          </a:p>
        </p:txBody>
      </p:sp>
      <p:sp>
        <p:nvSpPr>
          <p:cNvPr id="739" name="Google Shape;739;p29"/>
          <p:cNvSpPr/>
          <p:nvPr/>
        </p:nvSpPr>
        <p:spPr>
          <a:xfrm>
            <a:off x="7315200" y="3374136"/>
            <a:ext cx="4419295"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9"/>
          <p:cNvSpPr/>
          <p:nvPr/>
        </p:nvSpPr>
        <p:spPr>
          <a:xfrm>
            <a:off x="7452360" y="3374136"/>
            <a:ext cx="4144975"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Précision / F0.5</a:t>
            </a:r>
            <a:endParaRPr b="0" i="0" sz="1300" u="none" cap="none" strike="noStrike">
              <a:solidFill>
                <a:schemeClr val="dk1"/>
              </a:solidFill>
              <a:latin typeface="Calibri"/>
              <a:ea typeface="Calibri"/>
              <a:cs typeface="Calibri"/>
              <a:sym typeface="Calibri"/>
            </a:endParaRPr>
          </a:p>
        </p:txBody>
      </p:sp>
      <p:sp>
        <p:nvSpPr>
          <p:cNvPr id="741" name="Google Shape;741;p29"/>
          <p:cNvSpPr/>
          <p:nvPr/>
        </p:nvSpPr>
        <p:spPr>
          <a:xfrm>
            <a:off x="457200" y="4032504"/>
            <a:ext cx="6858000" cy="658368"/>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9"/>
          <p:cNvSpPr/>
          <p:nvPr/>
        </p:nvSpPr>
        <p:spPr>
          <a:xfrm>
            <a:off x="594360" y="4032504"/>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Arial"/>
              <a:buNone/>
            </a:pPr>
            <a:r>
              <a:rPr b="0" i="0" lang="en-US" sz="1300" u="none" cap="none" strike="noStrike">
                <a:solidFill>
                  <a:srgbClr val="1F2937"/>
                </a:solidFill>
                <a:latin typeface="Arial"/>
                <a:ea typeface="Arial"/>
                <a:cs typeface="Arial"/>
                <a:sym typeface="Arial"/>
              </a:rPr>
              <a:t>Réduire les Faux Négatifs à tout prix</a:t>
            </a:r>
            <a:endParaRPr b="0" i="0" sz="1300" u="none" cap="none" strike="noStrike">
              <a:solidFill>
                <a:schemeClr val="dk1"/>
              </a:solidFill>
              <a:latin typeface="Calibri"/>
              <a:ea typeface="Calibri"/>
              <a:cs typeface="Calibri"/>
              <a:sym typeface="Calibri"/>
            </a:endParaRPr>
          </a:p>
        </p:txBody>
      </p:sp>
      <p:sp>
        <p:nvSpPr>
          <p:cNvPr id="743" name="Google Shape;743;p29"/>
          <p:cNvSpPr/>
          <p:nvPr/>
        </p:nvSpPr>
        <p:spPr>
          <a:xfrm>
            <a:off x="7315200" y="4032504"/>
            <a:ext cx="4419295" cy="658368"/>
          </a:xfrm>
          <a:prstGeom prst="rect">
            <a:avLst/>
          </a:prstGeom>
          <a:solidFill>
            <a:srgbClr val="F5F8FE"/>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9"/>
          <p:cNvSpPr/>
          <p:nvPr/>
        </p:nvSpPr>
        <p:spPr>
          <a:xfrm>
            <a:off x="7452360" y="4032504"/>
            <a:ext cx="4144975"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Rappel / F2</a:t>
            </a:r>
            <a:endParaRPr b="0" i="0" sz="1300" u="none" cap="none" strike="noStrike">
              <a:solidFill>
                <a:schemeClr val="dk1"/>
              </a:solidFill>
              <a:latin typeface="Calibri"/>
              <a:ea typeface="Calibri"/>
              <a:cs typeface="Calibri"/>
              <a:sym typeface="Calibri"/>
            </a:endParaRPr>
          </a:p>
        </p:txBody>
      </p:sp>
      <p:sp>
        <p:nvSpPr>
          <p:cNvPr id="745" name="Google Shape;745;p29"/>
          <p:cNvSpPr/>
          <p:nvPr/>
        </p:nvSpPr>
        <p:spPr>
          <a:xfrm>
            <a:off x="457200" y="4690872"/>
            <a:ext cx="6858000"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9"/>
          <p:cNvSpPr/>
          <p:nvPr/>
        </p:nvSpPr>
        <p:spPr>
          <a:xfrm>
            <a:off x="594360" y="4690872"/>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300"/>
              <a:buFont typeface="Arial"/>
              <a:buNone/>
            </a:pPr>
            <a:r>
              <a:rPr b="0" i="0" lang="en-US" sz="1300" u="none" cap="none" strike="noStrike">
                <a:solidFill>
                  <a:srgbClr val="1F2937"/>
                </a:solidFill>
                <a:latin typeface="Arial"/>
                <a:ea typeface="Arial"/>
                <a:cs typeface="Arial"/>
                <a:sym typeface="Arial"/>
              </a:rPr>
              <a:t>Optimisation financière directe</a:t>
            </a:r>
            <a:endParaRPr b="0" i="0" sz="1300" u="none" cap="none" strike="noStrike">
              <a:solidFill>
                <a:schemeClr val="dk1"/>
              </a:solidFill>
              <a:latin typeface="Calibri"/>
              <a:ea typeface="Calibri"/>
              <a:cs typeface="Calibri"/>
              <a:sym typeface="Calibri"/>
            </a:endParaRPr>
          </a:p>
        </p:txBody>
      </p:sp>
      <p:sp>
        <p:nvSpPr>
          <p:cNvPr id="747" name="Google Shape;747;p29"/>
          <p:cNvSpPr/>
          <p:nvPr/>
        </p:nvSpPr>
        <p:spPr>
          <a:xfrm>
            <a:off x="7315200" y="4690872"/>
            <a:ext cx="4419295" cy="658368"/>
          </a:xfrm>
          <a:prstGeom prst="rect">
            <a:avLst/>
          </a:prstGeom>
          <a:solidFill>
            <a:srgbClr val="FFFFFF"/>
          </a:solidFill>
          <a:ln cap="flat" cmpd="sng" w="9525">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9"/>
          <p:cNvSpPr/>
          <p:nvPr/>
        </p:nvSpPr>
        <p:spPr>
          <a:xfrm>
            <a:off x="7452360" y="4690872"/>
            <a:ext cx="4144975"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1300"/>
              <a:buFont typeface="Arial"/>
              <a:buNone/>
            </a:pPr>
            <a:r>
              <a:rPr b="1" i="0" lang="en-US" sz="1300" u="none" cap="none" strike="noStrike">
                <a:solidFill>
                  <a:srgbClr val="1652D9"/>
                </a:solidFill>
                <a:latin typeface="Arial"/>
                <a:ea typeface="Arial"/>
                <a:cs typeface="Arial"/>
                <a:sym typeface="Arial"/>
              </a:rPr>
              <a:t>Matrice de coûts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753" name="Shape 753"/>
        <p:cNvGrpSpPr/>
        <p:nvPr/>
      </p:nvGrpSpPr>
      <p:grpSpPr>
        <a:xfrm>
          <a:off x="0" y="0"/>
          <a:ext cx="0" cy="0"/>
          <a:chOff x="0" y="0"/>
          <a:chExt cx="0" cy="0"/>
        </a:xfrm>
      </p:grpSpPr>
      <p:sp>
        <p:nvSpPr>
          <p:cNvPr id="754" name="Google Shape;754;p30"/>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5" name="Google Shape;755;p30"/>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756" name="Google Shape;756;p30"/>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757" name="Google Shape;757;p30"/>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758" name="Google Shape;758;p30"/>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759" name="Google Shape;759;p30"/>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760" name="Google Shape;760;p30"/>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761" name="Google Shape;761;p30"/>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30 / 35</a:t>
            </a:r>
            <a:endParaRPr b="0" i="0" sz="900" u="none" cap="none" strike="noStrike">
              <a:solidFill>
                <a:schemeClr val="dk1"/>
              </a:solidFill>
              <a:latin typeface="Calibri"/>
              <a:ea typeface="Calibri"/>
              <a:cs typeface="Calibri"/>
              <a:sym typeface="Calibri"/>
            </a:endParaRPr>
          </a:p>
        </p:txBody>
      </p:sp>
      <p:sp>
        <p:nvSpPr>
          <p:cNvPr id="762" name="Google Shape;762;p30"/>
          <p:cNvSpPr/>
          <p:nvPr/>
        </p:nvSpPr>
        <p:spPr>
          <a:xfrm>
            <a:off x="4907128" y="2468880"/>
            <a:ext cx="2377440" cy="384048"/>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0"/>
          <p:cNvSpPr/>
          <p:nvPr/>
        </p:nvSpPr>
        <p:spPr>
          <a:xfrm>
            <a:off x="4907128" y="246888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MODULE 8</a:t>
            </a:r>
            <a:endParaRPr b="0" i="0" sz="1200" u="none" cap="none" strike="noStrike">
              <a:solidFill>
                <a:schemeClr val="dk1"/>
              </a:solidFill>
              <a:latin typeface="Calibri"/>
              <a:ea typeface="Calibri"/>
              <a:cs typeface="Calibri"/>
              <a:sym typeface="Calibri"/>
            </a:endParaRPr>
          </a:p>
        </p:txBody>
      </p:sp>
      <p:sp>
        <p:nvSpPr>
          <p:cNvPr id="764" name="Google Shape;764;p30"/>
          <p:cNvSpPr/>
          <p:nvPr/>
        </p:nvSpPr>
        <p:spPr>
          <a:xfrm>
            <a:off x="914400" y="2971800"/>
            <a:ext cx="10362895"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Gouvernance &amp; Éthique de l'Évaluation</a:t>
            </a:r>
            <a:endParaRPr b="0" i="0" sz="3400" u="none" cap="none" strike="noStrike">
              <a:solidFill>
                <a:schemeClr val="dk1"/>
              </a:solidFill>
              <a:latin typeface="Calibri"/>
              <a:ea typeface="Calibri"/>
              <a:cs typeface="Calibri"/>
              <a:sym typeface="Calibri"/>
            </a:endParaRPr>
          </a:p>
        </p:txBody>
      </p:sp>
      <p:sp>
        <p:nvSpPr>
          <p:cNvPr id="765" name="Google Shape;765;p30"/>
          <p:cNvSpPr/>
          <p:nvPr/>
        </p:nvSpPr>
        <p:spPr>
          <a:xfrm>
            <a:off x="1645920" y="3977640"/>
            <a:ext cx="8899855" cy="822960"/>
          </a:xfrm>
          <a:prstGeom prst="rect">
            <a:avLst/>
          </a:prstGeom>
          <a:noFill/>
          <a:ln>
            <a:noFill/>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Clr>
                <a:srgbClr val="AEB9D6"/>
              </a:buClr>
              <a:buSzPts val="1400"/>
              <a:buFont typeface="Arial"/>
              <a:buNone/>
            </a:pPr>
            <a:r>
              <a:rPr b="0" i="0" lang="en-US" sz="1400" u="none" cap="none" strike="noStrike">
                <a:solidFill>
                  <a:srgbClr val="AEB9D6"/>
                </a:solidFill>
                <a:latin typeface="Arial"/>
                <a:ea typeface="Arial"/>
                <a:cs typeface="Arial"/>
                <a:sym typeface="Arial"/>
              </a:rPr>
              <a:t>Une métrique n'est jamais neutre : elle engage la responsabilité de celles et ceux qui la choisissent.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0" name="Shape 770"/>
        <p:cNvGrpSpPr/>
        <p:nvPr/>
      </p:nvGrpSpPr>
      <p:grpSpPr>
        <a:xfrm>
          <a:off x="0" y="0"/>
          <a:ext cx="0" cy="0"/>
          <a:chOff x="0" y="0"/>
          <a:chExt cx="0" cy="0"/>
        </a:xfrm>
      </p:grpSpPr>
      <p:cxnSp>
        <p:nvCxnSpPr>
          <p:cNvPr id="771" name="Google Shape;771;p31"/>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772" name="Google Shape;772;p31"/>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773" name="Google Shape;773;p31"/>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774" name="Google Shape;774;p31"/>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775" name="Google Shape;775;p31"/>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776" name="Google Shape;776;p31"/>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777" name="Google Shape;777;p31"/>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31 / 35</a:t>
            </a:r>
            <a:endParaRPr b="0" i="0" sz="900" u="none" cap="none" strike="noStrike">
              <a:solidFill>
                <a:schemeClr val="dk1"/>
              </a:solidFill>
              <a:latin typeface="Calibri"/>
              <a:ea typeface="Calibri"/>
              <a:cs typeface="Calibri"/>
              <a:sym typeface="Calibri"/>
            </a:endParaRPr>
          </a:p>
        </p:txBody>
      </p:sp>
      <p:pic>
        <p:nvPicPr>
          <p:cNvPr descr="icons/usershield.png" id="778" name="Google Shape;778;p31"/>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779" name="Google Shape;779;p31"/>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Biais Algorithmique et Équité entre Groupes</a:t>
            </a:r>
            <a:endParaRPr b="0" i="0" sz="2400" u="none" cap="none" strike="noStrike">
              <a:solidFill>
                <a:schemeClr val="dk1"/>
              </a:solidFill>
              <a:latin typeface="Calibri"/>
              <a:ea typeface="Calibri"/>
              <a:cs typeface="Calibri"/>
              <a:sym typeface="Calibri"/>
            </a:endParaRPr>
          </a:p>
        </p:txBody>
      </p:sp>
      <p:sp>
        <p:nvSpPr>
          <p:cNvPr id="780" name="Google Shape;780;p31"/>
          <p:cNvSpPr/>
          <p:nvPr/>
        </p:nvSpPr>
        <p:spPr>
          <a:xfrm>
            <a:off x="457200" y="1417320"/>
            <a:ext cx="1127729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4658"/>
              </a:buClr>
              <a:buSzPts val="1350"/>
              <a:buFont typeface="Arial"/>
              <a:buNone/>
            </a:pPr>
            <a:r>
              <a:rPr b="0" i="0" lang="en-US" sz="1350" u="none" cap="none" strike="noStrike">
                <a:solidFill>
                  <a:srgbClr val="3A4658"/>
                </a:solidFill>
                <a:latin typeface="Arial"/>
                <a:ea typeface="Arial"/>
                <a:cs typeface="Arial"/>
                <a:sym typeface="Arial"/>
              </a:rPr>
              <a:t>Un excellent score global peut masquer de fortes disparités entre sous-populations (âge, genre, origine géographique, catégorie socio-professionnelle…).</a:t>
            </a:r>
            <a:endParaRPr b="0" i="0" sz="1350" u="none" cap="none" strike="noStrike">
              <a:solidFill>
                <a:schemeClr val="dk1"/>
              </a:solidFill>
              <a:latin typeface="Calibri"/>
              <a:ea typeface="Calibri"/>
              <a:cs typeface="Calibri"/>
              <a:sym typeface="Calibri"/>
            </a:endParaRPr>
          </a:p>
        </p:txBody>
      </p:sp>
      <p:sp>
        <p:nvSpPr>
          <p:cNvPr id="781" name="Google Shape;781;p31"/>
          <p:cNvSpPr/>
          <p:nvPr/>
        </p:nvSpPr>
        <p:spPr>
          <a:xfrm>
            <a:off x="457200" y="2148840"/>
            <a:ext cx="5501488" cy="2331720"/>
          </a:xfrm>
          <a:prstGeom prst="roundRect">
            <a:avLst>
              <a:gd fmla="val 3137"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1"/>
          <p:cNvSpPr/>
          <p:nvPr/>
        </p:nvSpPr>
        <p:spPr>
          <a:xfrm>
            <a:off x="685800" y="23317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Parité démographique</a:t>
            </a:r>
            <a:endParaRPr b="0" i="0" sz="1450" u="none" cap="none" strike="noStrike">
              <a:solidFill>
                <a:schemeClr val="dk1"/>
              </a:solidFill>
              <a:latin typeface="Calibri"/>
              <a:ea typeface="Calibri"/>
              <a:cs typeface="Calibri"/>
              <a:sym typeface="Calibri"/>
            </a:endParaRPr>
          </a:p>
        </p:txBody>
      </p:sp>
      <p:sp>
        <p:nvSpPr>
          <p:cNvPr id="783" name="Google Shape;783;p31"/>
          <p:cNvSpPr/>
          <p:nvPr/>
        </p:nvSpPr>
        <p:spPr>
          <a:xfrm>
            <a:off x="685800" y="2788920"/>
            <a:ext cx="4998568" cy="15087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Le taux de prédiction positive doit être comparable d'un groupe à l'autre, indépendamment de l'attribut sensible.</a:t>
            </a:r>
            <a:endParaRPr b="0" i="0" sz="1250" u="none" cap="none" strike="noStrike">
              <a:solidFill>
                <a:schemeClr val="dk1"/>
              </a:solidFill>
              <a:latin typeface="Calibri"/>
              <a:ea typeface="Calibri"/>
              <a:cs typeface="Calibri"/>
              <a:sym typeface="Calibri"/>
            </a:endParaRPr>
          </a:p>
        </p:txBody>
      </p:sp>
      <p:sp>
        <p:nvSpPr>
          <p:cNvPr id="784" name="Google Shape;784;p31"/>
          <p:cNvSpPr/>
          <p:nvPr/>
        </p:nvSpPr>
        <p:spPr>
          <a:xfrm>
            <a:off x="6233008" y="2148840"/>
            <a:ext cx="5501488" cy="2331720"/>
          </a:xfrm>
          <a:prstGeom prst="roundRect">
            <a:avLst>
              <a:gd fmla="val 3137"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1"/>
          <p:cNvSpPr/>
          <p:nvPr/>
        </p:nvSpPr>
        <p:spPr>
          <a:xfrm>
            <a:off x="6461608" y="233172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Égalité des chances</a:t>
            </a:r>
            <a:endParaRPr b="0" i="0" sz="1450" u="none" cap="none" strike="noStrike">
              <a:solidFill>
                <a:schemeClr val="dk1"/>
              </a:solidFill>
              <a:latin typeface="Calibri"/>
              <a:ea typeface="Calibri"/>
              <a:cs typeface="Calibri"/>
              <a:sym typeface="Calibri"/>
            </a:endParaRPr>
          </a:p>
        </p:txBody>
      </p:sp>
      <p:sp>
        <p:nvSpPr>
          <p:cNvPr id="786" name="Google Shape;786;p31"/>
          <p:cNvSpPr/>
          <p:nvPr/>
        </p:nvSpPr>
        <p:spPr>
          <a:xfrm>
            <a:off x="6461608" y="2788920"/>
            <a:ext cx="4998568" cy="150876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Le Rappel doit être équivalent entre groupes : un modèle ne doit pas “rater” davantage les cas positifs d'un groupe donné.</a:t>
            </a:r>
            <a:endParaRPr b="0" i="0" sz="1250" u="none" cap="none" strike="noStrike">
              <a:solidFill>
                <a:schemeClr val="dk1"/>
              </a:solidFill>
              <a:latin typeface="Calibri"/>
              <a:ea typeface="Calibri"/>
              <a:cs typeface="Calibri"/>
              <a:sym typeface="Calibri"/>
            </a:endParaRPr>
          </a:p>
        </p:txBody>
      </p:sp>
      <p:sp>
        <p:nvSpPr>
          <p:cNvPr id="787" name="Google Shape;787;p31"/>
          <p:cNvSpPr/>
          <p:nvPr/>
        </p:nvSpPr>
        <p:spPr>
          <a:xfrm>
            <a:off x="457200" y="4709160"/>
            <a:ext cx="11277295" cy="1005840"/>
          </a:xfrm>
          <a:prstGeom prst="roundRect">
            <a:avLst>
              <a:gd fmla="val 7273" name="adj"/>
            </a:avLst>
          </a:prstGeom>
          <a:solidFill>
            <a:srgbClr val="FCEAE8"/>
          </a:solidFill>
          <a:ln cap="flat" cmpd="sng" w="19050">
            <a:solidFill>
              <a:srgbClr val="D94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1"/>
          <p:cNvSpPr/>
          <p:nvPr/>
        </p:nvSpPr>
        <p:spPr>
          <a:xfrm>
            <a:off x="731520" y="4709160"/>
            <a:ext cx="10728655"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D9463A"/>
              </a:buClr>
              <a:buSzPts val="1250"/>
              <a:buFont typeface="Arial"/>
              <a:buNone/>
            </a:pPr>
            <a:r>
              <a:rPr b="0" i="1" lang="en-US" sz="1250" u="none" cap="none" strike="noStrike">
                <a:solidFill>
                  <a:srgbClr val="D9463A"/>
                </a:solidFill>
                <a:latin typeface="Arial"/>
                <a:ea typeface="Arial"/>
                <a:cs typeface="Arial"/>
                <a:sym typeface="Arial"/>
              </a:rPr>
              <a:t>Exemple : un modèle de scoring crédit peut afficher un excellent F1-Score global tout en ayant un Rappel bien plus faible pour un sous-groupe précis — une discrimination silencieuse tant qu'elle n'est pas mesurée explicitement.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3" name="Shape 793"/>
        <p:cNvGrpSpPr/>
        <p:nvPr/>
      </p:nvGrpSpPr>
      <p:grpSpPr>
        <a:xfrm>
          <a:off x="0" y="0"/>
          <a:ext cx="0" cy="0"/>
          <a:chOff x="0" y="0"/>
          <a:chExt cx="0" cy="0"/>
        </a:xfrm>
      </p:grpSpPr>
      <p:cxnSp>
        <p:nvCxnSpPr>
          <p:cNvPr id="794" name="Google Shape;794;p32"/>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795" name="Google Shape;795;p32"/>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796" name="Google Shape;796;p32"/>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797" name="Google Shape;797;p32"/>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798" name="Google Shape;798;p32"/>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799" name="Google Shape;799;p32"/>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800" name="Google Shape;800;p32"/>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32 / 35</a:t>
            </a:r>
            <a:endParaRPr b="0" i="0" sz="900" u="none" cap="none" strike="noStrike">
              <a:solidFill>
                <a:schemeClr val="dk1"/>
              </a:solidFill>
              <a:latin typeface="Calibri"/>
              <a:ea typeface="Calibri"/>
              <a:cs typeface="Calibri"/>
              <a:sym typeface="Calibri"/>
            </a:endParaRPr>
          </a:p>
        </p:txBody>
      </p:sp>
      <p:pic>
        <p:nvPicPr>
          <p:cNvPr descr="icons/handshake.png" id="801" name="Google Shape;801;p32"/>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802" name="Google Shape;802;p32"/>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Une Métrique Engage une Responsabilité</a:t>
            </a:r>
            <a:endParaRPr b="0" i="0" sz="2400" u="none" cap="none" strike="noStrike">
              <a:solidFill>
                <a:schemeClr val="dk1"/>
              </a:solidFill>
              <a:latin typeface="Calibri"/>
              <a:ea typeface="Calibri"/>
              <a:cs typeface="Calibri"/>
              <a:sym typeface="Calibri"/>
            </a:endParaRPr>
          </a:p>
        </p:txBody>
      </p:sp>
      <p:sp>
        <p:nvSpPr>
          <p:cNvPr id="803" name="Google Shape;803;p32"/>
          <p:cNvSpPr/>
          <p:nvPr/>
        </p:nvSpPr>
        <p:spPr>
          <a:xfrm>
            <a:off x="457200" y="1417320"/>
            <a:ext cx="11277295"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400"/>
              <a:buFont typeface="Arial"/>
              <a:buNone/>
            </a:pPr>
            <a:r>
              <a:rPr b="0" i="0" lang="en-US" sz="1400" u="none" cap="none" strike="noStrike">
                <a:solidFill>
                  <a:srgbClr val="3A4658"/>
                </a:solidFill>
                <a:latin typeface="Arial"/>
                <a:ea typeface="Arial"/>
                <a:cs typeface="Arial"/>
                <a:sym typeface="Arial"/>
              </a:rPr>
              <a:t>Choisir une métrique — ou un seuil — n'est jamais un acte purement technique : c'est décider qui subit les Faux Positifs et qui subit les Faux Négatifs.</a:t>
            </a:r>
            <a:endParaRPr b="0" i="0" sz="1400" u="none" cap="none" strike="noStrike">
              <a:solidFill>
                <a:schemeClr val="dk1"/>
              </a:solidFill>
              <a:latin typeface="Calibri"/>
              <a:ea typeface="Calibri"/>
              <a:cs typeface="Calibri"/>
              <a:sym typeface="Calibri"/>
            </a:endParaRPr>
          </a:p>
        </p:txBody>
      </p:sp>
      <p:sp>
        <p:nvSpPr>
          <p:cNvPr id="804" name="Google Shape;804;p32"/>
          <p:cNvSpPr/>
          <p:nvPr/>
        </p:nvSpPr>
        <p:spPr>
          <a:xfrm>
            <a:off x="457200" y="2331720"/>
            <a:ext cx="3698138" cy="3200400"/>
          </a:xfrm>
          <a:prstGeom prst="roundRect">
            <a:avLst>
              <a:gd fmla="val 2286"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png" id="805" name="Google Shape;805;p32"/>
          <p:cNvPicPr preferRelativeResize="0"/>
          <p:nvPr/>
        </p:nvPicPr>
        <p:blipFill rotWithShape="1">
          <a:blip r:embed="rId5">
            <a:alphaModFix/>
          </a:blip>
          <a:srcRect b="0" l="0" r="0" t="0"/>
          <a:stretch/>
        </p:blipFill>
        <p:spPr>
          <a:xfrm>
            <a:off x="2050237" y="2606040"/>
            <a:ext cx="512064" cy="512064"/>
          </a:xfrm>
          <a:prstGeom prst="rect">
            <a:avLst/>
          </a:prstGeom>
          <a:noFill/>
          <a:ln>
            <a:noFill/>
          </a:ln>
        </p:spPr>
      </p:pic>
      <p:sp>
        <p:nvSpPr>
          <p:cNvPr id="806" name="Google Shape;806;p32"/>
          <p:cNvSpPr/>
          <p:nvPr/>
        </p:nvSpPr>
        <p:spPr>
          <a:xfrm>
            <a:off x="640080" y="3246120"/>
            <a:ext cx="3332378"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Décision collégiale</a:t>
            </a:r>
            <a:endParaRPr b="0" i="0" sz="1450" u="none" cap="none" strike="noStrike">
              <a:solidFill>
                <a:schemeClr val="dk1"/>
              </a:solidFill>
              <a:latin typeface="Calibri"/>
              <a:ea typeface="Calibri"/>
              <a:cs typeface="Calibri"/>
              <a:sym typeface="Calibri"/>
            </a:endParaRPr>
          </a:p>
        </p:txBody>
      </p:sp>
      <p:sp>
        <p:nvSpPr>
          <p:cNvPr id="807" name="Google Shape;807;p32"/>
          <p:cNvSpPr/>
          <p:nvPr/>
        </p:nvSpPr>
        <p:spPr>
          <a:xfrm>
            <a:off x="685800" y="3749040"/>
            <a:ext cx="3240938" cy="160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0"/>
              </a:spcBef>
              <a:spcAft>
                <a:spcPts val="0"/>
              </a:spcAft>
              <a:buClr>
                <a:srgbClr val="3A4658"/>
              </a:buClr>
              <a:buSzPts val="1200"/>
              <a:buFont typeface="Arial"/>
              <a:buNone/>
            </a:pPr>
            <a:r>
              <a:rPr b="0" i="0" lang="en-US" sz="1200" u="none" cap="none" strike="noStrike">
                <a:solidFill>
                  <a:srgbClr val="3A4658"/>
                </a:solidFill>
                <a:latin typeface="Arial"/>
                <a:ea typeface="Arial"/>
                <a:cs typeface="Arial"/>
                <a:sym typeface="Arial"/>
              </a:rPr>
              <a:t>Le choix du seuil doit être validé avec le métier, pas seulement par la Data Science.</a:t>
            </a:r>
            <a:endParaRPr b="0" i="0" sz="1200" u="none" cap="none" strike="noStrike">
              <a:solidFill>
                <a:schemeClr val="dk1"/>
              </a:solidFill>
              <a:latin typeface="Calibri"/>
              <a:ea typeface="Calibri"/>
              <a:cs typeface="Calibri"/>
              <a:sym typeface="Calibri"/>
            </a:endParaRPr>
          </a:p>
        </p:txBody>
      </p:sp>
      <p:sp>
        <p:nvSpPr>
          <p:cNvPr id="808" name="Google Shape;808;p32"/>
          <p:cNvSpPr/>
          <p:nvPr/>
        </p:nvSpPr>
        <p:spPr>
          <a:xfrm>
            <a:off x="4246778" y="2331720"/>
            <a:ext cx="3698138" cy="3200400"/>
          </a:xfrm>
          <a:prstGeom prst="roundRect">
            <a:avLst>
              <a:gd fmla="val 2286"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check.png" id="809" name="Google Shape;809;p32"/>
          <p:cNvPicPr preferRelativeResize="0"/>
          <p:nvPr/>
        </p:nvPicPr>
        <p:blipFill rotWithShape="1">
          <a:blip r:embed="rId6">
            <a:alphaModFix/>
          </a:blip>
          <a:srcRect b="0" l="0" r="0" t="0"/>
          <a:stretch/>
        </p:blipFill>
        <p:spPr>
          <a:xfrm>
            <a:off x="5839816" y="2606040"/>
            <a:ext cx="512064" cy="512064"/>
          </a:xfrm>
          <a:prstGeom prst="rect">
            <a:avLst/>
          </a:prstGeom>
          <a:noFill/>
          <a:ln>
            <a:noFill/>
          </a:ln>
        </p:spPr>
      </p:pic>
      <p:sp>
        <p:nvSpPr>
          <p:cNvPr id="810" name="Google Shape;810;p32"/>
          <p:cNvSpPr/>
          <p:nvPr/>
        </p:nvSpPr>
        <p:spPr>
          <a:xfrm>
            <a:off x="4429658" y="3246120"/>
            <a:ext cx="3332378"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Traçabilité</a:t>
            </a:r>
            <a:endParaRPr b="0" i="0" sz="1450" u="none" cap="none" strike="noStrike">
              <a:solidFill>
                <a:schemeClr val="dk1"/>
              </a:solidFill>
              <a:latin typeface="Calibri"/>
              <a:ea typeface="Calibri"/>
              <a:cs typeface="Calibri"/>
              <a:sym typeface="Calibri"/>
            </a:endParaRPr>
          </a:p>
        </p:txBody>
      </p:sp>
      <p:sp>
        <p:nvSpPr>
          <p:cNvPr id="811" name="Google Shape;811;p32"/>
          <p:cNvSpPr/>
          <p:nvPr/>
        </p:nvSpPr>
        <p:spPr>
          <a:xfrm>
            <a:off x="4475378" y="3749040"/>
            <a:ext cx="3240938" cy="160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0"/>
              </a:spcBef>
              <a:spcAft>
                <a:spcPts val="0"/>
              </a:spcAft>
              <a:buClr>
                <a:srgbClr val="3A4658"/>
              </a:buClr>
              <a:buSzPts val="1200"/>
              <a:buFont typeface="Arial"/>
              <a:buNone/>
            </a:pPr>
            <a:r>
              <a:rPr b="0" i="0" lang="en-US" sz="1200" u="none" cap="none" strike="noStrike">
                <a:solidFill>
                  <a:srgbClr val="3A4658"/>
                </a:solidFill>
                <a:latin typeface="Arial"/>
                <a:ea typeface="Arial"/>
                <a:cs typeface="Arial"/>
                <a:sym typeface="Arial"/>
              </a:rPr>
              <a:t>Chaque arbitrage (métrique, seuil, dataset) doit être documenté et justifiable a posteriori.</a:t>
            </a:r>
            <a:endParaRPr b="0" i="0" sz="1200" u="none" cap="none" strike="noStrike">
              <a:solidFill>
                <a:schemeClr val="dk1"/>
              </a:solidFill>
              <a:latin typeface="Calibri"/>
              <a:ea typeface="Calibri"/>
              <a:cs typeface="Calibri"/>
              <a:sym typeface="Calibri"/>
            </a:endParaRPr>
          </a:p>
        </p:txBody>
      </p:sp>
      <p:sp>
        <p:nvSpPr>
          <p:cNvPr id="812" name="Google Shape;812;p32"/>
          <p:cNvSpPr/>
          <p:nvPr/>
        </p:nvSpPr>
        <p:spPr>
          <a:xfrm>
            <a:off x="8036357" y="2331720"/>
            <a:ext cx="3698138" cy="3200400"/>
          </a:xfrm>
          <a:prstGeom prst="roundRect">
            <a:avLst>
              <a:gd fmla="val 2286"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eye.png" id="813" name="Google Shape;813;p32"/>
          <p:cNvPicPr preferRelativeResize="0"/>
          <p:nvPr/>
        </p:nvPicPr>
        <p:blipFill rotWithShape="1">
          <a:blip r:embed="rId7">
            <a:alphaModFix/>
          </a:blip>
          <a:srcRect b="0" l="0" r="0" t="0"/>
          <a:stretch/>
        </p:blipFill>
        <p:spPr>
          <a:xfrm>
            <a:off x="9629394" y="2606040"/>
            <a:ext cx="512064" cy="512064"/>
          </a:xfrm>
          <a:prstGeom prst="rect">
            <a:avLst/>
          </a:prstGeom>
          <a:noFill/>
          <a:ln>
            <a:noFill/>
          </a:ln>
        </p:spPr>
      </p:pic>
      <p:sp>
        <p:nvSpPr>
          <p:cNvPr id="814" name="Google Shape;814;p32"/>
          <p:cNvSpPr/>
          <p:nvPr/>
        </p:nvSpPr>
        <p:spPr>
          <a:xfrm>
            <a:off x="8219237" y="3246120"/>
            <a:ext cx="3332378"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2937"/>
              </a:buClr>
              <a:buSzPts val="1450"/>
              <a:buFont typeface="Arial"/>
              <a:buNone/>
            </a:pPr>
            <a:r>
              <a:rPr b="1" i="0" lang="en-US" sz="1450" u="none" cap="none" strike="noStrike">
                <a:solidFill>
                  <a:srgbClr val="1F2937"/>
                </a:solidFill>
                <a:latin typeface="Arial"/>
                <a:ea typeface="Arial"/>
                <a:cs typeface="Arial"/>
                <a:sym typeface="Arial"/>
              </a:rPr>
              <a:t>Transparence</a:t>
            </a:r>
            <a:endParaRPr b="0" i="0" sz="1450" u="none" cap="none" strike="noStrike">
              <a:solidFill>
                <a:schemeClr val="dk1"/>
              </a:solidFill>
              <a:latin typeface="Calibri"/>
              <a:ea typeface="Calibri"/>
              <a:cs typeface="Calibri"/>
              <a:sym typeface="Calibri"/>
            </a:endParaRPr>
          </a:p>
        </p:txBody>
      </p:sp>
      <p:sp>
        <p:nvSpPr>
          <p:cNvPr id="815" name="Google Shape;815;p32"/>
          <p:cNvSpPr/>
          <p:nvPr/>
        </p:nvSpPr>
        <p:spPr>
          <a:xfrm>
            <a:off x="8264957" y="3749040"/>
            <a:ext cx="3240938" cy="1600200"/>
          </a:xfrm>
          <a:prstGeom prst="rect">
            <a:avLst/>
          </a:prstGeom>
          <a:noFill/>
          <a:ln>
            <a:noFill/>
          </a:ln>
        </p:spPr>
        <p:txBody>
          <a:bodyPr anchorCtr="0" anchor="ctr" bIns="45700" lIns="91425" spcFirstLastPara="1" rIns="91425" wrap="square" tIns="45700">
            <a:noAutofit/>
          </a:bodyPr>
          <a:lstStyle/>
          <a:p>
            <a:pPr indent="0" lvl="0" marL="0" marR="0" rtl="0" algn="ctr">
              <a:lnSpc>
                <a:spcPct val="125000"/>
              </a:lnSpc>
              <a:spcBef>
                <a:spcPts val="0"/>
              </a:spcBef>
              <a:spcAft>
                <a:spcPts val="0"/>
              </a:spcAft>
              <a:buClr>
                <a:srgbClr val="3A4658"/>
              </a:buClr>
              <a:buSzPts val="1200"/>
              <a:buFont typeface="Arial"/>
              <a:buNone/>
            </a:pPr>
            <a:r>
              <a:rPr b="0" i="0" lang="en-US" sz="1200" u="none" cap="none" strike="noStrike">
                <a:solidFill>
                  <a:srgbClr val="3A4658"/>
                </a:solidFill>
                <a:latin typeface="Arial"/>
                <a:ea typeface="Arial"/>
                <a:cs typeface="Arial"/>
                <a:sym typeface="Arial"/>
              </a:rPr>
              <a:t>Les personnes affectées par une décision automatisée doivent pouvoir en comprendre les critères.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0" name="Shape 820"/>
        <p:cNvGrpSpPr/>
        <p:nvPr/>
      </p:nvGrpSpPr>
      <p:grpSpPr>
        <a:xfrm>
          <a:off x="0" y="0"/>
          <a:ext cx="0" cy="0"/>
          <a:chOff x="0" y="0"/>
          <a:chExt cx="0" cy="0"/>
        </a:xfrm>
      </p:grpSpPr>
      <p:cxnSp>
        <p:nvCxnSpPr>
          <p:cNvPr id="821" name="Google Shape;821;p33"/>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822" name="Google Shape;822;p33"/>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823" name="Google Shape;823;p33"/>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824" name="Google Shape;824;p33"/>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825" name="Google Shape;825;p33"/>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826" name="Google Shape;826;p33"/>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827" name="Google Shape;827;p33"/>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33 / 35</a:t>
            </a:r>
            <a:endParaRPr b="0" i="0" sz="900" u="none" cap="none" strike="noStrike">
              <a:solidFill>
                <a:schemeClr val="dk1"/>
              </a:solidFill>
              <a:latin typeface="Calibri"/>
              <a:ea typeface="Calibri"/>
              <a:cs typeface="Calibri"/>
              <a:sym typeface="Calibri"/>
            </a:endParaRPr>
          </a:p>
        </p:txBody>
      </p:sp>
      <p:pic>
        <p:nvPicPr>
          <p:cNvPr descr="icons/filecontract.png" id="828" name="Google Shape;828;p33"/>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829" name="Google Shape;829;p33"/>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Cadre Réglementaire : RGPD &amp; AI Act</a:t>
            </a:r>
            <a:endParaRPr b="0" i="0" sz="2400" u="none" cap="none" strike="noStrike">
              <a:solidFill>
                <a:schemeClr val="dk1"/>
              </a:solidFill>
              <a:latin typeface="Calibri"/>
              <a:ea typeface="Calibri"/>
              <a:cs typeface="Calibri"/>
              <a:sym typeface="Calibri"/>
            </a:endParaRPr>
          </a:p>
        </p:txBody>
      </p:sp>
      <p:sp>
        <p:nvSpPr>
          <p:cNvPr id="830" name="Google Shape;830;p33"/>
          <p:cNvSpPr/>
          <p:nvPr/>
        </p:nvSpPr>
        <p:spPr>
          <a:xfrm>
            <a:off x="457200" y="1508760"/>
            <a:ext cx="5501488" cy="2286000"/>
          </a:xfrm>
          <a:prstGeom prst="roundRect">
            <a:avLst>
              <a:gd fmla="val 3200" name="adj"/>
            </a:avLst>
          </a:prstGeom>
          <a:solidFill>
            <a:srgbClr val="F5F8FE"/>
          </a:solidFill>
          <a:ln cap="flat" cmpd="sng" w="19050">
            <a:solidFill>
              <a:srgbClr val="1652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3"/>
          <p:cNvSpPr/>
          <p:nvPr/>
        </p:nvSpPr>
        <p:spPr>
          <a:xfrm>
            <a:off x="685800" y="169164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RGPD</a:t>
            </a:r>
            <a:endParaRPr b="0" i="0" sz="1600" u="none" cap="none" strike="noStrike">
              <a:solidFill>
                <a:schemeClr val="dk1"/>
              </a:solidFill>
              <a:latin typeface="Calibri"/>
              <a:ea typeface="Calibri"/>
              <a:cs typeface="Calibri"/>
              <a:sym typeface="Calibri"/>
            </a:endParaRPr>
          </a:p>
        </p:txBody>
      </p:sp>
      <p:sp>
        <p:nvSpPr>
          <p:cNvPr id="832" name="Google Shape;832;p33"/>
          <p:cNvSpPr/>
          <p:nvPr/>
        </p:nvSpPr>
        <p:spPr>
          <a:xfrm>
            <a:off x="685800" y="2148840"/>
            <a:ext cx="4998568"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Droit à l'explication : toute personne soumise à une décision automatisée peut exiger une information sur la logique sous-jacente.</a:t>
            </a:r>
            <a:endParaRPr b="0" i="0" sz="1250" u="none" cap="none" strike="noStrike">
              <a:solidFill>
                <a:schemeClr val="dk1"/>
              </a:solidFill>
              <a:latin typeface="Calibri"/>
              <a:ea typeface="Calibri"/>
              <a:cs typeface="Calibri"/>
              <a:sym typeface="Calibri"/>
            </a:endParaRPr>
          </a:p>
        </p:txBody>
      </p:sp>
      <p:sp>
        <p:nvSpPr>
          <p:cNvPr id="833" name="Google Shape;833;p33"/>
          <p:cNvSpPr/>
          <p:nvPr/>
        </p:nvSpPr>
        <p:spPr>
          <a:xfrm>
            <a:off x="6233008" y="1508760"/>
            <a:ext cx="5501488" cy="2286000"/>
          </a:xfrm>
          <a:prstGeom prst="roundRect">
            <a:avLst>
              <a:gd fmla="val 3200" name="adj"/>
            </a:avLst>
          </a:prstGeom>
          <a:solidFill>
            <a:srgbClr val="F5F8FE"/>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3"/>
          <p:cNvSpPr/>
          <p:nvPr/>
        </p:nvSpPr>
        <p:spPr>
          <a:xfrm>
            <a:off x="6461608" y="169164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AI Act (UE)</a:t>
            </a:r>
            <a:endParaRPr b="0" i="0" sz="1600" u="none" cap="none" strike="noStrike">
              <a:solidFill>
                <a:schemeClr val="dk1"/>
              </a:solidFill>
              <a:latin typeface="Calibri"/>
              <a:ea typeface="Calibri"/>
              <a:cs typeface="Calibri"/>
              <a:sym typeface="Calibri"/>
            </a:endParaRPr>
          </a:p>
        </p:txBody>
      </p:sp>
      <p:sp>
        <p:nvSpPr>
          <p:cNvPr id="835" name="Google Shape;835;p33"/>
          <p:cNvSpPr/>
          <p:nvPr/>
        </p:nvSpPr>
        <p:spPr>
          <a:xfrm>
            <a:off x="6461608" y="2148840"/>
            <a:ext cx="4998568"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Classe les systèmes à “risque élevé” (santé, crédit, recrutement, justice) : évaluation rigoureuse et documentation obligatoires avant mise en production.</a:t>
            </a:r>
            <a:endParaRPr b="0" i="0" sz="1250" u="none" cap="none" strike="noStrike">
              <a:solidFill>
                <a:schemeClr val="dk1"/>
              </a:solidFill>
              <a:latin typeface="Calibri"/>
              <a:ea typeface="Calibri"/>
              <a:cs typeface="Calibri"/>
              <a:sym typeface="Calibri"/>
            </a:endParaRPr>
          </a:p>
        </p:txBody>
      </p:sp>
      <p:sp>
        <p:nvSpPr>
          <p:cNvPr id="836" name="Google Shape;836;p33"/>
          <p:cNvSpPr/>
          <p:nvPr/>
        </p:nvSpPr>
        <p:spPr>
          <a:xfrm>
            <a:off x="457200" y="4069080"/>
            <a:ext cx="11277295" cy="1188720"/>
          </a:xfrm>
          <a:prstGeom prst="roundRect">
            <a:avLst>
              <a:gd fmla="val 6154" name="adj"/>
            </a:avLst>
          </a:prstGeom>
          <a:solidFill>
            <a:srgbClr val="1623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ookopen.png" id="837" name="Google Shape;837;p33"/>
          <p:cNvPicPr preferRelativeResize="0"/>
          <p:nvPr/>
        </p:nvPicPr>
        <p:blipFill rotWithShape="1">
          <a:blip r:embed="rId5">
            <a:alphaModFix/>
          </a:blip>
          <a:srcRect b="0" l="0" r="0" t="0"/>
          <a:stretch/>
        </p:blipFill>
        <p:spPr>
          <a:xfrm>
            <a:off x="777240" y="4297680"/>
            <a:ext cx="457200" cy="457200"/>
          </a:xfrm>
          <a:prstGeom prst="rect">
            <a:avLst/>
          </a:prstGeom>
          <a:noFill/>
          <a:ln>
            <a:noFill/>
          </a:ln>
        </p:spPr>
      </p:pic>
      <p:sp>
        <p:nvSpPr>
          <p:cNvPr id="838" name="Google Shape;838;p33"/>
          <p:cNvSpPr/>
          <p:nvPr/>
        </p:nvSpPr>
        <p:spPr>
          <a:xfrm>
            <a:off x="1417320" y="4206240"/>
            <a:ext cx="990569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Model Card &amp; Datasheet</a:t>
            </a:r>
            <a:endParaRPr b="0" i="0" sz="1400" u="none" cap="none" strike="noStrike">
              <a:solidFill>
                <a:schemeClr val="dk1"/>
              </a:solidFill>
              <a:latin typeface="Calibri"/>
              <a:ea typeface="Calibri"/>
              <a:cs typeface="Calibri"/>
              <a:sym typeface="Calibri"/>
            </a:endParaRPr>
          </a:p>
        </p:txBody>
      </p:sp>
      <p:sp>
        <p:nvSpPr>
          <p:cNvPr id="839" name="Google Shape;839;p33"/>
          <p:cNvSpPr/>
          <p:nvPr/>
        </p:nvSpPr>
        <p:spPr>
          <a:xfrm>
            <a:off x="1417320" y="4572000"/>
            <a:ext cx="10088575"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C7CEE8"/>
              </a:buClr>
              <a:buSzPts val="1200"/>
              <a:buFont typeface="Arial"/>
              <a:buNone/>
            </a:pPr>
            <a:r>
              <a:rPr b="0" i="0" lang="en-US" sz="1200" u="none" cap="none" strike="noStrike">
                <a:solidFill>
                  <a:srgbClr val="C7CEE8"/>
                </a:solidFill>
                <a:latin typeface="Arial"/>
                <a:ea typeface="Arial"/>
                <a:cs typeface="Arial"/>
                <a:sym typeface="Arial"/>
              </a:rPr>
              <a:t>Documenter pour chaque modèle : métriques choisies et leur justification, limites connues, populations testées, date de dernière évaluation.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4" name="Shape 844"/>
        <p:cNvGrpSpPr/>
        <p:nvPr/>
      </p:nvGrpSpPr>
      <p:grpSpPr>
        <a:xfrm>
          <a:off x="0" y="0"/>
          <a:ext cx="0" cy="0"/>
          <a:chOff x="0" y="0"/>
          <a:chExt cx="0" cy="0"/>
        </a:xfrm>
      </p:grpSpPr>
      <p:cxnSp>
        <p:nvCxnSpPr>
          <p:cNvPr id="845" name="Google Shape;845;p34"/>
          <p:cNvCxnSpPr/>
          <p:nvPr/>
        </p:nvCxnSpPr>
        <p:spPr>
          <a:xfrm>
            <a:off x="457200" y="566928"/>
            <a:ext cx="11277295" cy="0"/>
          </a:xfrm>
          <a:prstGeom prst="straightConnector1">
            <a:avLst/>
          </a:prstGeom>
          <a:noFill/>
          <a:ln cap="flat" cmpd="sng" w="9525">
            <a:solidFill>
              <a:srgbClr val="E2E6EF"/>
            </a:solidFill>
            <a:prstDash val="solid"/>
            <a:round/>
            <a:headEnd len="sm" w="sm" type="none"/>
            <a:tailEnd len="sm" w="sm" type="none"/>
          </a:ln>
        </p:spPr>
      </p:cxnSp>
      <p:pic>
        <p:nvPicPr>
          <p:cNvPr descr="logo/logo_blue.png" id="846" name="Google Shape;846;p34"/>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847" name="Google Shape;847;p34"/>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52D9"/>
              </a:buClr>
              <a:buSzPts val="1100"/>
              <a:buFont typeface="Arial"/>
              <a:buNone/>
            </a:pPr>
            <a:r>
              <a:rPr b="1" i="0" lang="en-US" sz="1100" u="none" cap="none" strike="noStrike">
                <a:solidFill>
                  <a:srgbClr val="1652D9"/>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848" name="Google Shape;848;p34"/>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849" name="Google Shape;849;p34"/>
          <p:cNvCxnSpPr/>
          <p:nvPr/>
        </p:nvCxnSpPr>
        <p:spPr>
          <a:xfrm>
            <a:off x="457200" y="6355080"/>
            <a:ext cx="11277295" cy="0"/>
          </a:xfrm>
          <a:prstGeom prst="straightConnector1">
            <a:avLst/>
          </a:prstGeom>
          <a:noFill/>
          <a:ln cap="flat" cmpd="sng" w="9525">
            <a:solidFill>
              <a:srgbClr val="E2E6EF"/>
            </a:solidFill>
            <a:prstDash val="solid"/>
            <a:round/>
            <a:headEnd len="sm" w="sm" type="none"/>
            <a:tailEnd len="sm" w="sm" type="none"/>
          </a:ln>
        </p:spPr>
      </p:cxnSp>
      <p:sp>
        <p:nvSpPr>
          <p:cNvPr id="850" name="Google Shape;850;p34"/>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851" name="Google Shape;851;p34"/>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52D9"/>
              </a:buClr>
              <a:buSzPts val="900"/>
              <a:buFont typeface="Arial"/>
              <a:buNone/>
            </a:pPr>
            <a:r>
              <a:rPr b="1" i="0" lang="en-US" sz="900" u="none" cap="none" strike="noStrike">
                <a:solidFill>
                  <a:srgbClr val="1652D9"/>
                </a:solidFill>
                <a:latin typeface="Arial"/>
                <a:ea typeface="Arial"/>
                <a:cs typeface="Arial"/>
                <a:sym typeface="Arial"/>
              </a:rPr>
              <a:t>Page 34 / 35</a:t>
            </a:r>
            <a:endParaRPr b="0" i="0" sz="900" u="none" cap="none" strike="noStrike">
              <a:solidFill>
                <a:schemeClr val="dk1"/>
              </a:solidFill>
              <a:latin typeface="Calibri"/>
              <a:ea typeface="Calibri"/>
              <a:cs typeface="Calibri"/>
              <a:sym typeface="Calibri"/>
            </a:endParaRPr>
          </a:p>
        </p:txBody>
      </p:sp>
      <p:pic>
        <p:nvPicPr>
          <p:cNvPr descr="icons/syncalt.png" id="852" name="Google Shape;852;p34"/>
          <p:cNvPicPr preferRelativeResize="0"/>
          <p:nvPr/>
        </p:nvPicPr>
        <p:blipFill rotWithShape="1">
          <a:blip r:embed="rId4">
            <a:alphaModFix/>
          </a:blip>
          <a:srcRect b="0" l="0" r="0" t="0"/>
          <a:stretch/>
        </p:blipFill>
        <p:spPr>
          <a:xfrm>
            <a:off x="457200" y="786384"/>
            <a:ext cx="365760" cy="365760"/>
          </a:xfrm>
          <a:prstGeom prst="rect">
            <a:avLst/>
          </a:prstGeom>
          <a:noFill/>
          <a:ln>
            <a:noFill/>
          </a:ln>
        </p:spPr>
      </p:pic>
      <p:sp>
        <p:nvSpPr>
          <p:cNvPr id="853" name="Google Shape;853;p34"/>
          <p:cNvSpPr/>
          <p:nvPr/>
        </p:nvSpPr>
        <p:spPr>
          <a:xfrm>
            <a:off x="932688" y="713232"/>
            <a:ext cx="10820095"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400"/>
              <a:buFont typeface="Arial"/>
              <a:buNone/>
            </a:pPr>
            <a:r>
              <a:rPr b="1" i="0" lang="en-US" sz="2400" u="none" cap="none" strike="noStrike">
                <a:solidFill>
                  <a:srgbClr val="1F2937"/>
                </a:solidFill>
                <a:latin typeface="Arial"/>
                <a:ea typeface="Arial"/>
                <a:cs typeface="Arial"/>
                <a:sym typeface="Arial"/>
              </a:rPr>
              <a:t>Monitoring : la Dérive dans le Temps</a:t>
            </a:r>
            <a:endParaRPr b="0" i="0" sz="2400" u="none" cap="none" strike="noStrike">
              <a:solidFill>
                <a:schemeClr val="dk1"/>
              </a:solidFill>
              <a:latin typeface="Calibri"/>
              <a:ea typeface="Calibri"/>
              <a:cs typeface="Calibri"/>
              <a:sym typeface="Calibri"/>
            </a:endParaRPr>
          </a:p>
        </p:txBody>
      </p:sp>
      <p:sp>
        <p:nvSpPr>
          <p:cNvPr id="854" name="Google Shape;854;p34"/>
          <p:cNvSpPr/>
          <p:nvPr/>
        </p:nvSpPr>
        <p:spPr>
          <a:xfrm>
            <a:off x="457200" y="1417320"/>
            <a:ext cx="1127729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4658"/>
              </a:buClr>
              <a:buSzPts val="1400"/>
              <a:buFont typeface="Arial"/>
              <a:buNone/>
            </a:pPr>
            <a:r>
              <a:rPr b="0" i="0" lang="en-US" sz="1400" u="none" cap="none" strike="noStrike">
                <a:solidFill>
                  <a:srgbClr val="3A4658"/>
                </a:solidFill>
                <a:latin typeface="Arial"/>
                <a:ea typeface="Arial"/>
                <a:cs typeface="Arial"/>
                <a:sym typeface="Arial"/>
              </a:rPr>
              <a:t>Une métrique évaluée une seule fois n'est valable qu'un temps : le monde change, les données aussi.</a:t>
            </a:r>
            <a:endParaRPr b="0" i="0" sz="1400" u="none" cap="none" strike="noStrike">
              <a:solidFill>
                <a:schemeClr val="dk1"/>
              </a:solidFill>
              <a:latin typeface="Calibri"/>
              <a:ea typeface="Calibri"/>
              <a:cs typeface="Calibri"/>
              <a:sym typeface="Calibri"/>
            </a:endParaRPr>
          </a:p>
        </p:txBody>
      </p:sp>
      <p:sp>
        <p:nvSpPr>
          <p:cNvPr id="855" name="Google Shape;855;p34"/>
          <p:cNvSpPr/>
          <p:nvPr/>
        </p:nvSpPr>
        <p:spPr>
          <a:xfrm>
            <a:off x="457200" y="2057400"/>
            <a:ext cx="5501488" cy="2377440"/>
          </a:xfrm>
          <a:prstGeom prst="roundRect">
            <a:avLst>
              <a:gd fmla="val 307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4"/>
          <p:cNvSpPr/>
          <p:nvPr/>
        </p:nvSpPr>
        <p:spPr>
          <a:xfrm>
            <a:off x="685800" y="224028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Data Drift</a:t>
            </a:r>
            <a:endParaRPr b="0" i="0" sz="1500" u="none" cap="none" strike="noStrike">
              <a:solidFill>
                <a:schemeClr val="dk1"/>
              </a:solidFill>
              <a:latin typeface="Calibri"/>
              <a:ea typeface="Calibri"/>
              <a:cs typeface="Calibri"/>
              <a:sym typeface="Calibri"/>
            </a:endParaRPr>
          </a:p>
        </p:txBody>
      </p:sp>
      <p:sp>
        <p:nvSpPr>
          <p:cNvPr id="857" name="Google Shape;857;p34"/>
          <p:cNvSpPr/>
          <p:nvPr/>
        </p:nvSpPr>
        <p:spPr>
          <a:xfrm>
            <a:off x="685800" y="2697480"/>
            <a:ext cx="4998568"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La distribution des données d'entrée évolue (nouveaux profils clients, nouvelles habitudes) même si le modèle ne change pas.</a:t>
            </a:r>
            <a:endParaRPr b="0" i="0" sz="1250" u="none" cap="none" strike="noStrike">
              <a:solidFill>
                <a:schemeClr val="dk1"/>
              </a:solidFill>
              <a:latin typeface="Calibri"/>
              <a:ea typeface="Calibri"/>
              <a:cs typeface="Calibri"/>
              <a:sym typeface="Calibri"/>
            </a:endParaRPr>
          </a:p>
        </p:txBody>
      </p:sp>
      <p:sp>
        <p:nvSpPr>
          <p:cNvPr id="858" name="Google Shape;858;p34"/>
          <p:cNvSpPr/>
          <p:nvPr/>
        </p:nvSpPr>
        <p:spPr>
          <a:xfrm>
            <a:off x="6233008" y="2057400"/>
            <a:ext cx="5501488" cy="2377440"/>
          </a:xfrm>
          <a:prstGeom prst="roundRect">
            <a:avLst>
              <a:gd fmla="val 3077" name="adj"/>
            </a:avLst>
          </a:prstGeom>
          <a:solidFill>
            <a:srgbClr val="F5F8FE"/>
          </a:solidFill>
          <a:ln cap="flat" cmpd="sng" w="12700">
            <a:solidFill>
              <a:srgbClr val="E2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4"/>
          <p:cNvSpPr/>
          <p:nvPr/>
        </p:nvSpPr>
        <p:spPr>
          <a:xfrm>
            <a:off x="6461608" y="2240280"/>
            <a:ext cx="504428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500"/>
              <a:buFont typeface="Arial"/>
              <a:buNone/>
            </a:pPr>
            <a:r>
              <a:rPr b="1" i="0" lang="en-US" sz="1500" u="none" cap="none" strike="noStrike">
                <a:solidFill>
                  <a:srgbClr val="1F2937"/>
                </a:solidFill>
                <a:latin typeface="Arial"/>
                <a:ea typeface="Arial"/>
                <a:cs typeface="Arial"/>
                <a:sym typeface="Arial"/>
              </a:rPr>
              <a:t>Concept Drift</a:t>
            </a:r>
            <a:endParaRPr b="0" i="0" sz="1500" u="none" cap="none" strike="noStrike">
              <a:solidFill>
                <a:schemeClr val="dk1"/>
              </a:solidFill>
              <a:latin typeface="Calibri"/>
              <a:ea typeface="Calibri"/>
              <a:cs typeface="Calibri"/>
              <a:sym typeface="Calibri"/>
            </a:endParaRPr>
          </a:p>
        </p:txBody>
      </p:sp>
      <p:sp>
        <p:nvSpPr>
          <p:cNvPr id="860" name="Google Shape;860;p34"/>
          <p:cNvSpPr/>
          <p:nvPr/>
        </p:nvSpPr>
        <p:spPr>
          <a:xfrm>
            <a:off x="6461608" y="2697480"/>
            <a:ext cx="4998568"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4658"/>
              </a:buClr>
              <a:buSzPts val="1250"/>
              <a:buFont typeface="Arial"/>
              <a:buNone/>
            </a:pPr>
            <a:r>
              <a:rPr b="0" i="0" lang="en-US" sz="1250" u="none" cap="none" strike="noStrike">
                <a:solidFill>
                  <a:srgbClr val="3A4658"/>
                </a:solidFill>
                <a:latin typeface="Arial"/>
                <a:ea typeface="Arial"/>
                <a:cs typeface="Arial"/>
                <a:sym typeface="Arial"/>
              </a:rPr>
              <a:t>La relation entre les variables et la cible change elle-même (nouvelles techniques de fraude, nouveaux comportements).</a:t>
            </a:r>
            <a:endParaRPr b="0" i="0" sz="1250" u="none" cap="none" strike="noStrike">
              <a:solidFill>
                <a:schemeClr val="dk1"/>
              </a:solidFill>
              <a:latin typeface="Calibri"/>
              <a:ea typeface="Calibri"/>
              <a:cs typeface="Calibri"/>
              <a:sym typeface="Calibri"/>
            </a:endParaRPr>
          </a:p>
        </p:txBody>
      </p:sp>
      <p:sp>
        <p:nvSpPr>
          <p:cNvPr id="861" name="Google Shape;861;p34"/>
          <p:cNvSpPr/>
          <p:nvPr/>
        </p:nvSpPr>
        <p:spPr>
          <a:xfrm>
            <a:off x="457200" y="4663440"/>
            <a:ext cx="11277295" cy="960120"/>
          </a:xfrm>
          <a:prstGeom prst="roundRect">
            <a:avLst>
              <a:gd fmla="val 7619" name="adj"/>
            </a:avLst>
          </a:prstGeom>
          <a:solidFill>
            <a:srgbClr val="FFF6EC"/>
          </a:solidFill>
          <a:ln cap="flat" cmpd="sng" w="19050">
            <a:solidFill>
              <a:srgbClr val="E895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4"/>
          <p:cNvSpPr/>
          <p:nvPr/>
        </p:nvSpPr>
        <p:spPr>
          <a:xfrm>
            <a:off x="731520" y="4663440"/>
            <a:ext cx="10728655" cy="96012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E8952F"/>
              </a:buClr>
              <a:buSzPts val="1300"/>
              <a:buFont typeface="Arial"/>
              <a:buNone/>
            </a:pPr>
            <a:r>
              <a:rPr b="0" i="1" lang="en-US" sz="1300" u="none" cap="none" strike="noStrike">
                <a:solidFill>
                  <a:srgbClr val="E8952F"/>
                </a:solidFill>
                <a:latin typeface="Arial"/>
                <a:ea typeface="Arial"/>
                <a:cs typeface="Arial"/>
                <a:sym typeface="Arial"/>
              </a:rPr>
              <a:t>Bonne pratique : ré-évaluer la métrique choisie sur des données fraîches à intervalle régulier, avec une alerte automatique si elle chute sous un seuil critique.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28"/>
        </a:solidFill>
      </p:bgPr>
    </p:bg>
    <p:spTree>
      <p:nvGrpSpPr>
        <p:cNvPr id="867" name="Shape 867"/>
        <p:cNvGrpSpPr/>
        <p:nvPr/>
      </p:nvGrpSpPr>
      <p:grpSpPr>
        <a:xfrm>
          <a:off x="0" y="0"/>
          <a:ext cx="0" cy="0"/>
          <a:chOff x="0" y="0"/>
          <a:chExt cx="0" cy="0"/>
        </a:xfrm>
      </p:grpSpPr>
      <p:sp>
        <p:nvSpPr>
          <p:cNvPr id="868" name="Google Shape;868;p35"/>
          <p:cNvSpPr/>
          <p:nvPr/>
        </p:nvSpPr>
        <p:spPr>
          <a:xfrm>
            <a:off x="0" y="0"/>
            <a:ext cx="12191695" cy="6858000"/>
          </a:xfrm>
          <a:prstGeom prst="rect">
            <a:avLst/>
          </a:prstGeom>
          <a:solidFill>
            <a:srgbClr val="16235A">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9" name="Google Shape;869;p35"/>
          <p:cNvCxnSpPr/>
          <p:nvPr/>
        </p:nvCxnSpPr>
        <p:spPr>
          <a:xfrm>
            <a:off x="457200" y="566928"/>
            <a:ext cx="11277295" cy="0"/>
          </a:xfrm>
          <a:prstGeom prst="straightConnector1">
            <a:avLst/>
          </a:prstGeom>
          <a:noFill/>
          <a:ln cap="flat" cmpd="sng" w="9525">
            <a:solidFill>
              <a:srgbClr val="2B3A6B"/>
            </a:solidFill>
            <a:prstDash val="solid"/>
            <a:round/>
            <a:headEnd len="sm" w="sm" type="none"/>
            <a:tailEnd len="sm" w="sm" type="none"/>
          </a:ln>
        </p:spPr>
      </p:cxnSp>
      <p:pic>
        <p:nvPicPr>
          <p:cNvPr descr="logo/logo_white.png" id="870" name="Google Shape;870;p35"/>
          <p:cNvPicPr preferRelativeResize="0"/>
          <p:nvPr/>
        </p:nvPicPr>
        <p:blipFill rotWithShape="1">
          <a:blip r:embed="rId3">
            <a:alphaModFix/>
          </a:blip>
          <a:srcRect b="0" l="0" r="0" t="0"/>
          <a:stretch/>
        </p:blipFill>
        <p:spPr>
          <a:xfrm>
            <a:off x="457200" y="189232"/>
            <a:ext cx="1051560" cy="307335"/>
          </a:xfrm>
          <a:prstGeom prst="rect">
            <a:avLst/>
          </a:prstGeom>
          <a:noFill/>
          <a:ln>
            <a:noFill/>
          </a:ln>
        </p:spPr>
      </p:pic>
      <p:sp>
        <p:nvSpPr>
          <p:cNvPr id="871" name="Google Shape;871;p35"/>
          <p:cNvSpPr/>
          <p:nvPr/>
        </p:nvSpPr>
        <p:spPr>
          <a:xfrm>
            <a:off x="4267048" y="182880"/>
            <a:ext cx="36576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E86D6"/>
              </a:buClr>
              <a:buSzPts val="1100"/>
              <a:buFont typeface="Arial"/>
              <a:buNone/>
            </a:pPr>
            <a:r>
              <a:rPr b="1" i="0" lang="en-US" sz="1100" u="none" cap="none" strike="noStrike">
                <a:solidFill>
                  <a:srgbClr val="6E86D6"/>
                </a:solidFill>
                <a:latin typeface="Arial"/>
                <a:ea typeface="Arial"/>
                <a:cs typeface="Arial"/>
                <a:sym typeface="Arial"/>
              </a:rPr>
              <a:t>Data Where Life Matters</a:t>
            </a:r>
            <a:endParaRPr b="0" i="0" sz="1100" u="none" cap="none" strike="noStrike">
              <a:solidFill>
                <a:schemeClr val="dk1"/>
              </a:solidFill>
              <a:latin typeface="Calibri"/>
              <a:ea typeface="Calibri"/>
              <a:cs typeface="Calibri"/>
              <a:sym typeface="Calibri"/>
            </a:endParaRPr>
          </a:p>
        </p:txBody>
      </p:sp>
      <p:sp>
        <p:nvSpPr>
          <p:cNvPr id="872" name="Google Shape;872;p35"/>
          <p:cNvSpPr/>
          <p:nvPr/>
        </p:nvSpPr>
        <p:spPr>
          <a:xfrm>
            <a:off x="10180015" y="182880"/>
            <a:ext cx="15544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952F"/>
              </a:buClr>
              <a:buSzPts val="1100"/>
              <a:buFont typeface="Arial"/>
              <a:buNone/>
            </a:pPr>
            <a:r>
              <a:rPr b="1" i="0" lang="en-US" sz="1100" u="none" cap="none" strike="noStrike">
                <a:solidFill>
                  <a:srgbClr val="E8952F"/>
                </a:solidFill>
                <a:latin typeface="Arial"/>
                <a:ea typeface="Arial"/>
                <a:cs typeface="Arial"/>
                <a:sym typeface="Arial"/>
              </a:rPr>
              <a:t>TLP Orange</a:t>
            </a:r>
            <a:endParaRPr b="0" i="0" sz="1100" u="none" cap="none" strike="noStrike">
              <a:solidFill>
                <a:schemeClr val="dk1"/>
              </a:solidFill>
              <a:latin typeface="Calibri"/>
              <a:ea typeface="Calibri"/>
              <a:cs typeface="Calibri"/>
              <a:sym typeface="Calibri"/>
            </a:endParaRPr>
          </a:p>
        </p:txBody>
      </p:sp>
      <p:cxnSp>
        <p:nvCxnSpPr>
          <p:cNvPr id="873" name="Google Shape;873;p35"/>
          <p:cNvCxnSpPr/>
          <p:nvPr/>
        </p:nvCxnSpPr>
        <p:spPr>
          <a:xfrm>
            <a:off x="457200" y="6355080"/>
            <a:ext cx="11277295" cy="0"/>
          </a:xfrm>
          <a:prstGeom prst="straightConnector1">
            <a:avLst/>
          </a:prstGeom>
          <a:noFill/>
          <a:ln cap="flat" cmpd="sng" w="9525">
            <a:solidFill>
              <a:srgbClr val="2B3A6B"/>
            </a:solidFill>
            <a:prstDash val="solid"/>
            <a:round/>
            <a:headEnd len="sm" w="sm" type="none"/>
            <a:tailEnd len="sm" w="sm" type="none"/>
          </a:ln>
        </p:spPr>
      </p:cxnSp>
      <p:sp>
        <p:nvSpPr>
          <p:cNvPr id="874" name="Google Shape;874;p35"/>
          <p:cNvSpPr/>
          <p:nvPr/>
        </p:nvSpPr>
        <p:spPr>
          <a:xfrm>
            <a:off x="457200"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Ingedata | R&amp;I</a:t>
            </a:r>
            <a:endParaRPr b="0" i="0" sz="900" u="none" cap="none" strike="noStrike">
              <a:solidFill>
                <a:schemeClr val="dk1"/>
              </a:solidFill>
              <a:latin typeface="Calibri"/>
              <a:ea typeface="Calibri"/>
              <a:cs typeface="Calibri"/>
              <a:sym typeface="Calibri"/>
            </a:endParaRPr>
          </a:p>
        </p:txBody>
      </p:sp>
      <p:sp>
        <p:nvSpPr>
          <p:cNvPr id="875" name="Google Shape;875;p35"/>
          <p:cNvSpPr/>
          <p:nvPr/>
        </p:nvSpPr>
        <p:spPr>
          <a:xfrm>
            <a:off x="8991295" y="6473952"/>
            <a:ext cx="27432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E86D6"/>
              </a:buClr>
              <a:buSzPts val="900"/>
              <a:buFont typeface="Arial"/>
              <a:buNone/>
            </a:pPr>
            <a:r>
              <a:rPr b="1" i="0" lang="en-US" sz="900" u="none" cap="none" strike="noStrike">
                <a:solidFill>
                  <a:srgbClr val="6E86D6"/>
                </a:solidFill>
                <a:latin typeface="Arial"/>
                <a:ea typeface="Arial"/>
                <a:cs typeface="Arial"/>
                <a:sym typeface="Arial"/>
              </a:rPr>
              <a:t>Page 35 / 35</a:t>
            </a:r>
            <a:endParaRPr b="0" i="0" sz="900" u="none" cap="none" strike="noStrike">
              <a:solidFill>
                <a:schemeClr val="dk1"/>
              </a:solidFill>
              <a:latin typeface="Calibri"/>
              <a:ea typeface="Calibri"/>
              <a:cs typeface="Calibri"/>
              <a:sym typeface="Calibri"/>
            </a:endParaRPr>
          </a:p>
        </p:txBody>
      </p:sp>
      <p:sp>
        <p:nvSpPr>
          <p:cNvPr id="876" name="Google Shape;876;p35"/>
          <p:cNvSpPr/>
          <p:nvPr/>
        </p:nvSpPr>
        <p:spPr>
          <a:xfrm>
            <a:off x="914400" y="2103120"/>
            <a:ext cx="10362895"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Merci pour votre Attention !</a:t>
            </a:r>
            <a:endParaRPr b="0" i="0" sz="3400" u="none" cap="none" strike="noStrike">
              <a:solidFill>
                <a:schemeClr val="dk1"/>
              </a:solidFill>
              <a:latin typeface="Calibri"/>
              <a:ea typeface="Calibri"/>
              <a:cs typeface="Calibri"/>
              <a:sym typeface="Calibri"/>
            </a:endParaRPr>
          </a:p>
        </p:txBody>
      </p:sp>
      <p:sp>
        <p:nvSpPr>
          <p:cNvPr id="877" name="Google Shape;877;p35"/>
          <p:cNvSpPr/>
          <p:nvPr/>
        </p:nvSpPr>
        <p:spPr>
          <a:xfrm>
            <a:off x="1645920" y="2971800"/>
            <a:ext cx="8899855" cy="82296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AEB9D6"/>
              </a:buClr>
              <a:buSzPts val="1500"/>
              <a:buFont typeface="Arial"/>
              <a:buNone/>
            </a:pPr>
            <a:r>
              <a:rPr b="0" i="1" lang="en-US" sz="1500" u="none" cap="none" strike="noStrike">
                <a:solidFill>
                  <a:srgbClr val="AEB9D6"/>
                </a:solidFill>
                <a:latin typeface="Arial"/>
                <a:ea typeface="Arial"/>
                <a:cs typeface="Arial"/>
                <a:sym typeface="Arial"/>
              </a:rPr>
              <a:t>“Une métrique sans vision métier n'est qu'une illusion statistique.</a:t>
            </a:r>
            <a:endParaRPr b="0" i="0" sz="15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AEB9D6"/>
              </a:buClr>
              <a:buSzPts val="1500"/>
              <a:buFont typeface="Arial"/>
              <a:buNone/>
            </a:pPr>
            <a:r>
              <a:rPr b="0" i="1" lang="en-US" sz="1500" u="none" cap="none" strike="noStrike">
                <a:solidFill>
                  <a:srgbClr val="AEB9D6"/>
                </a:solidFill>
                <a:latin typeface="Arial"/>
                <a:ea typeface="Arial"/>
                <a:cs typeface="Arial"/>
                <a:sym typeface="Arial"/>
              </a:rPr>
              <a:t>Choisissez vos juges avec discernement.”</a:t>
            </a:r>
            <a:endParaRPr b="0" i="0" sz="1500" u="none" cap="none" strike="noStrike">
              <a:solidFill>
                <a:schemeClr val="dk1"/>
              </a:solidFill>
              <a:latin typeface="Calibri"/>
              <a:ea typeface="Calibri"/>
              <a:cs typeface="Calibri"/>
              <a:sym typeface="Calibri"/>
            </a:endParaRPr>
          </a:p>
        </p:txBody>
      </p:sp>
      <p:sp>
        <p:nvSpPr>
          <p:cNvPr id="878" name="Google Shape;878;p35"/>
          <p:cNvSpPr/>
          <p:nvPr/>
        </p:nvSpPr>
        <p:spPr>
          <a:xfrm>
            <a:off x="4632808" y="4114800"/>
            <a:ext cx="2926080" cy="457200"/>
          </a:xfrm>
          <a:prstGeom prst="roundRect">
            <a:avLst>
              <a:gd fmla="val 50000" name="adj"/>
            </a:avLst>
          </a:prstGeom>
          <a:solidFill>
            <a:srgbClr val="1652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5"/>
          <p:cNvSpPr/>
          <p:nvPr/>
        </p:nvSpPr>
        <p:spPr>
          <a:xfrm>
            <a:off x="4632808" y="4114800"/>
            <a:ext cx="29260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Questions &amp; Échanges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2026-08-23T10:41:05Z</dcterms:created>
  <dc:creator>PptxGenJS</dc:creator>
</cp:coreProperties>
</file>