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59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4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6" r:id="rId28"/>
    <p:sldId id="287" r:id="rId29"/>
    <p:sldId id="285" r:id="rId30"/>
    <p:sldId id="288" r:id="rId31"/>
    <p:sldId id="289" r:id="rId32"/>
    <p:sldId id="29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7E462-EAF6-954E-99AE-C71BA5895FBC}" type="datetimeFigureOut">
              <a:rPr lang="fr-FR" smtClean="0"/>
              <a:t>18/08/2026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FEAAC-8CC9-2146-8E0E-AAB4173E7A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68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FEAAC-8CC9-2146-8E0E-AAB4173E7AE2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621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BAE9A-6A8C-0F4A-93A2-DC64C718C031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6329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90F5D-ACD2-C54E-AE24-1DE7CCDEA6EB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18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8AC8-1200-CA40-8B7F-6B2CD63C0DEC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2300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41348-D26B-2D4C-B1FD-FC14F649C832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554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D0623-5987-5445-976D-77E8A84048C2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213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AC3DD-D6B4-3D47-9077-593057BDA0E9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47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DDA09-D9BB-EB43-872F-2CB45821DA73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267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F1B9-AC43-C141-B7B7-40C15BDD5781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2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23546-8694-2340-B43A-98D6994D482C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940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852F3-EC35-D749-AFFC-1F6C6FE868DC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308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8AB8-DF7F-C842-8DB1-5A260739D6C9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9785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3236-8B13-3144-BE20-A4C5787D644B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3850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52C3D-FBAA-314E-B6F9-C4B921B4D3A2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4476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A3A06-A6DB-D341-9E7E-DD8347A1F118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9472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E069-D65F-6847-948F-C5F3BC2725F2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916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FB1E0-0434-AB4C-B946-283E33ABB2B7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084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3A927-FF13-384D-AC95-EF4054751B73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William - ODC - 2026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DCA0388-B08A-D149-8117-CAAD684FBE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142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E281D6-E550-940B-1C6D-AA476DA81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206170"/>
            <a:ext cx="7766936" cy="1005115"/>
          </a:xfrm>
        </p:spPr>
        <p:txBody>
          <a:bodyPr/>
          <a:lstStyle/>
          <a:p>
            <a:pPr algn="ctr"/>
            <a:r>
              <a:rPr lang="fr-FR" dirty="0"/>
              <a:t>COLLECTE &amp; PENDAS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F72E8A-65E7-9CD5-8627-9F0B8B8A9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Formation intensive et pratique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Orange Digital Center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Formateur: M. DIMBISOA William Germain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1BF2330-5A37-AE96-0834-4941ED1EB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074" y="294384"/>
            <a:ext cx="1104275" cy="13208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D98CCF9-82C8-0CBC-93AF-587B05039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889" y="502188"/>
            <a:ext cx="1005114" cy="100511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51410D1-7315-362B-2E3C-4F8F31E439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816428" y="337692"/>
            <a:ext cx="2226742" cy="1104900"/>
          </a:xfrm>
          <a:prstGeom prst="rect">
            <a:avLst/>
          </a:pr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18BA1F5F-E6AF-F1C2-1F46-C800B0FD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46C9-3BBE-3948-B769-CA242BFBE858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F792F1E7-58CC-6A20-2AC4-7C834A121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14B14997-FFFF-0A7C-A9FC-A4D450F1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43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E4708A-7CA9-B5DC-47D2-0772182B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 &amp; </a:t>
            </a:r>
            <a:r>
              <a:rPr lang="fr-FR" dirty="0" err="1"/>
              <a:t>scraping</a:t>
            </a:r>
            <a:br>
              <a:rPr lang="fr-FR" dirty="0"/>
            </a:br>
            <a:r>
              <a:rPr lang="fr-FR" dirty="0"/>
              <a:t>[Moissonnage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554D5185-39AE-93B5-0AB7-78895EDEF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 lnSpcReduction="10000"/>
          </a:bodyPr>
          <a:lstStyle/>
          <a:p>
            <a:pPr algn="just"/>
            <a:r>
              <a:rPr lang="fr-FR" sz="2800" dirty="0">
                <a:solidFill>
                  <a:schemeClr val="tx1"/>
                </a:solidFill>
              </a:rPr>
              <a:t>Technique automatisée pour extraire des données d'un site internet.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Un programme (script) télécharge le code HTML d'une page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Le Script repère les informations cibles de la page concernée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Le programme enregistre les informations collectées dans un format structuré comme un fichier CSV, JSON ou une base de données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DA8F163-4D2B-8FB9-C25C-380493030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3260F30-C9A8-539E-51D3-7F4EA9F46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D5C5C5E-3352-0440-F402-5B6BB26478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621AF518-7D54-0A13-13A7-B85A73D78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E7B62A25-95D0-881B-A2FF-6B77A52B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8AD6ABE0-B824-960E-60E3-B27A5508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7412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A9184-D9D1-8162-E4C5-4336FFC8B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B7D87C-9BA4-8CD3-85A5-5C3CD3C1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 &amp; </a:t>
            </a:r>
            <a:r>
              <a:rPr lang="fr-FR" dirty="0" err="1"/>
              <a:t>scraping</a:t>
            </a:r>
            <a:br>
              <a:rPr lang="fr-FR" dirty="0"/>
            </a:br>
            <a:r>
              <a:rPr lang="fr-FR" dirty="0"/>
              <a:t>[Moissonnage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2892A26D-A1C5-B7CA-69BF-AB816BB56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/>
          </a:bodyPr>
          <a:lstStyle/>
          <a:p>
            <a:pPr algn="just"/>
            <a:r>
              <a:rPr lang="fr-FR" sz="2800" dirty="0">
                <a:solidFill>
                  <a:schemeClr val="tx1"/>
                </a:solidFill>
              </a:rPr>
              <a:t>Trois grandes étapes: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Envoi d'une requête HTTP pour accéder à la page,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Analyse (</a:t>
            </a:r>
            <a:r>
              <a:rPr lang="fr-FR" sz="2400" dirty="0" err="1">
                <a:solidFill>
                  <a:schemeClr val="tx1"/>
                </a:solidFill>
              </a:rPr>
              <a:t>parsing</a:t>
            </a:r>
            <a:r>
              <a:rPr lang="fr-FR" sz="2400" dirty="0">
                <a:solidFill>
                  <a:schemeClr val="tx1"/>
                </a:solidFill>
              </a:rPr>
              <a:t>) de la structure HTML pour cibler les éléments précis,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Exportation des données propres.</a:t>
            </a:r>
            <a:endParaRPr lang="fr-FR" sz="32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D414C39-DB5E-227A-71BC-25FC948AB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8E338FD-9C6E-9AB5-86EA-959E4538F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6F3E0AA-7863-3F88-0B51-D34794D431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BB43CC0A-B3A2-82CF-B3A9-598B180D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01821AE6-893B-683A-14A8-50E069A7D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1DA69789-8EAC-AAA1-3F6C-501AF6F7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095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F2567-7CC2-1A3F-C593-05288D39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F1EB3-CE55-B343-8270-063251850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 &amp; </a:t>
            </a:r>
            <a:r>
              <a:rPr lang="fr-FR" dirty="0" err="1"/>
              <a:t>scraping</a:t>
            </a:r>
            <a:br>
              <a:rPr lang="fr-FR" dirty="0"/>
            </a:br>
            <a:r>
              <a:rPr lang="fr-FR" dirty="0"/>
              <a:t>[Moissonnage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E9BB53C6-ABA9-22D6-E108-364E3A7F1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fr-FR" sz="2400" b="1" dirty="0">
                <a:solidFill>
                  <a:schemeClr val="tx1"/>
                </a:solidFill>
              </a:rPr>
              <a:t>Exemple de cas d’étude : comparaison des prix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</a:rPr>
              <a:t>Comment développer une application capable de récupérer automatiquement les prix d'un même produit sur plusieurs sites Web afin de permettre à l'utilisateur de comparer les offres ?</a:t>
            </a:r>
          </a:p>
          <a:p>
            <a:pPr algn="just"/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DB6C743-F7CC-8923-8A1C-D17655BDC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C9A778C-3081-CE12-4EA9-F5FDC4AC1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44A10F5-4F23-D186-189C-B8BDAB32B2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4584C2BF-F8B3-8CAA-BA0A-9FB39BBB2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B5B2D4F9-52A0-ED7D-4AE6-2D4385A7E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F97E3A6C-E89F-7F46-6ED9-898446AA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471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B53CC-7E71-6599-6032-7C2D73380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9C2C9-FA77-6D9A-149E-D1C33A2B9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 &amp; </a:t>
            </a:r>
            <a:r>
              <a:rPr lang="fr-FR" dirty="0" err="1"/>
              <a:t>scraping</a:t>
            </a:r>
            <a:br>
              <a:rPr lang="fr-FR" dirty="0"/>
            </a:br>
            <a:r>
              <a:rPr lang="fr-FR" dirty="0"/>
              <a:t>[Moissonnage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64638595-162C-E753-8935-D13D0284A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dirty="0">
                <a:solidFill>
                  <a:schemeClr val="tx1"/>
                </a:solidFill>
              </a:rPr>
              <a:t>Fonctionnement</a:t>
            </a:r>
            <a:r>
              <a:rPr lang="fr-FR" sz="2800" dirty="0">
                <a:solidFill>
                  <a:schemeClr val="tx1"/>
                </a:solidFill>
              </a:rPr>
              <a:t>: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fr-FR" sz="2600" dirty="0">
                <a:solidFill>
                  <a:schemeClr val="tx1"/>
                </a:solidFill>
              </a:rPr>
              <a:t>Sites Web -&gt; Web </a:t>
            </a:r>
            <a:r>
              <a:rPr lang="fr-FR" sz="2600" dirty="0" err="1">
                <a:solidFill>
                  <a:schemeClr val="tx1"/>
                </a:solidFill>
              </a:rPr>
              <a:t>Scraping</a:t>
            </a:r>
            <a:r>
              <a:rPr lang="fr-FR" sz="2600" dirty="0">
                <a:solidFill>
                  <a:schemeClr val="tx1"/>
                </a:solidFill>
              </a:rPr>
              <a:t> -&gt; Extraction des données -&gt; Nettoyage des données -&gt;Base de données -&gt; Application Web -&gt;Comparaison des prix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FA325AD-B086-EE5C-81B2-30E50A1EA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D679903-4FF7-7827-4571-7ACD0B354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DE6B444-EB9F-7833-088C-9F1D109D4F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F1CEBF06-2D3C-3971-30C4-FADEC6FC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66A0513A-121E-D035-5D0A-5EDF245B3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EA36B55D-5CA1-CEC9-3E98-2B88FCE1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3748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0A915-64CA-10CD-D254-227708A50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D33907-5AE9-1D11-EAC7-B0AD9CA23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 &amp; </a:t>
            </a:r>
            <a:r>
              <a:rPr lang="fr-FR" dirty="0" err="1"/>
              <a:t>scraping</a:t>
            </a:r>
            <a:br>
              <a:rPr lang="fr-FR" dirty="0"/>
            </a:br>
            <a:r>
              <a:rPr lang="fr-FR" dirty="0"/>
              <a:t>[Moissonnage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BA17FBB-F1ED-FC7C-CC14-9509DB1AE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/>
          </a:bodyPr>
          <a:lstStyle/>
          <a:p>
            <a:pPr algn="just"/>
            <a:r>
              <a:rPr lang="fr-FR" sz="2800" b="1" dirty="0"/>
              <a:t>Données à extraire </a:t>
            </a:r>
            <a:r>
              <a:rPr lang="fr-FR" b="1" dirty="0"/>
              <a:t>:</a:t>
            </a:r>
            <a:endParaRPr lang="fr-FR" dirty="0"/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Nom du produit</a:t>
            </a:r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Prix</a:t>
            </a:r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Marque</a:t>
            </a:r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Catégorie</a:t>
            </a:r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Disponibilité</a:t>
            </a:r>
          </a:p>
          <a:p>
            <a:pPr lvl="1"/>
            <a:r>
              <a:rPr lang="fr-FR" sz="2400" dirty="0">
                <a:solidFill>
                  <a:schemeClr val="tx1"/>
                </a:solidFill>
              </a:rPr>
              <a:t>URL de la page</a:t>
            </a:r>
          </a:p>
          <a:p>
            <a:pPr algn="just"/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6F806DB-A5E8-41CE-D81C-291E2FB5F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6244E45-6488-08AF-6AD5-1D595850C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41D13F7-4A2A-CF26-0D50-48A47C96AA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422A5E03-33CE-6661-588E-A3AA2D3E4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C90AFAD3-54A1-4A91-F76A-7275D76A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4FF73AEB-59C0-7AD4-4E7A-DDCBF01B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665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E927D-5468-9BDB-DE80-98F6F2141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02DBA4-CCC7-0DA5-E9CA-7E02987EE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 &amp; </a:t>
            </a:r>
            <a:r>
              <a:rPr lang="fr-FR" dirty="0" err="1"/>
              <a:t>scraping</a:t>
            </a:r>
            <a:br>
              <a:rPr lang="fr-FR" dirty="0"/>
            </a:br>
            <a:r>
              <a:rPr lang="fr-FR" dirty="0"/>
              <a:t>[Moissonnage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3BA9225B-47F4-4969-EFF7-6E7FA0259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fr-FR" sz="2800" b="1" dirty="0">
                <a:solidFill>
                  <a:schemeClr val="tx1"/>
                </a:solidFill>
              </a:rPr>
              <a:t>Technologies possibles: </a:t>
            </a: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Langage de programmation: </a:t>
            </a:r>
            <a:r>
              <a:rPr lang="fr-FR" sz="2400" dirty="0">
                <a:solidFill>
                  <a:schemeClr val="tx1"/>
                </a:solidFill>
              </a:rPr>
              <a:t>Python</a:t>
            </a: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Base de données</a:t>
            </a:r>
            <a:r>
              <a:rPr lang="fr-FR" sz="2400" dirty="0">
                <a:solidFill>
                  <a:schemeClr val="tx1"/>
                </a:solidFill>
              </a:rPr>
              <a:t> : SGBD MySQL, PostgreSQL ou SQLite</a:t>
            </a: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Backend</a:t>
            </a:r>
            <a:r>
              <a:rPr lang="fr-FR" sz="2400" dirty="0">
                <a:solidFill>
                  <a:schemeClr val="tx1"/>
                </a:solidFill>
              </a:rPr>
              <a:t> : Framework Flask ou Django</a:t>
            </a: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Frontend</a:t>
            </a:r>
            <a:r>
              <a:rPr lang="fr-FR" sz="2400" dirty="0">
                <a:solidFill>
                  <a:schemeClr val="tx1"/>
                </a:solidFill>
              </a:rPr>
              <a:t> : langage HTML, CSS, JavaScript</a:t>
            </a: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Framework</a:t>
            </a:r>
            <a:r>
              <a:rPr lang="fr-FR" sz="2400" dirty="0">
                <a:solidFill>
                  <a:schemeClr val="tx1"/>
                </a:solidFill>
              </a:rPr>
              <a:t>: </a:t>
            </a:r>
            <a:r>
              <a:rPr lang="fr-FR" sz="2400" dirty="0" err="1">
                <a:solidFill>
                  <a:schemeClr val="tx1"/>
                </a:solidFill>
              </a:rPr>
              <a:t>Scrapy</a:t>
            </a:r>
            <a:r>
              <a:rPr lang="fr-FR" sz="2400" dirty="0">
                <a:solidFill>
                  <a:schemeClr val="tx1"/>
                </a:solidFill>
              </a:rPr>
              <a:t>, …</a:t>
            </a: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Requête</a:t>
            </a:r>
            <a:r>
              <a:rPr lang="fr-FR" sz="2400" dirty="0">
                <a:solidFill>
                  <a:schemeClr val="tx1"/>
                </a:solidFill>
              </a:rPr>
              <a:t>: bibliothèque </a:t>
            </a:r>
            <a:r>
              <a:rPr lang="fr-FR" sz="2400" dirty="0" err="1">
                <a:solidFill>
                  <a:schemeClr val="tx1"/>
                </a:solidFill>
              </a:rPr>
              <a:t>requests</a:t>
            </a:r>
            <a:endParaRPr lang="fr-FR" sz="2400" dirty="0">
              <a:solidFill>
                <a:schemeClr val="tx1"/>
              </a:solidFill>
            </a:endParaRPr>
          </a:p>
          <a:p>
            <a:pPr lvl="1" algn="just"/>
            <a:r>
              <a:rPr lang="fr-FR" sz="2400" b="1" dirty="0">
                <a:solidFill>
                  <a:schemeClr val="tx1"/>
                </a:solidFill>
              </a:rPr>
              <a:t>Bibliothèque</a:t>
            </a:r>
            <a:r>
              <a:rPr lang="fr-FR" sz="2400" dirty="0">
                <a:solidFill>
                  <a:schemeClr val="tx1"/>
                </a:solidFill>
              </a:rPr>
              <a:t>: </a:t>
            </a:r>
          </a:p>
          <a:p>
            <a:pPr lvl="2" algn="just"/>
            <a:r>
              <a:rPr lang="fr-FR" sz="2200" dirty="0" err="1">
                <a:solidFill>
                  <a:schemeClr val="tx1"/>
                </a:solidFill>
              </a:rPr>
              <a:t>BeautifulSoup</a:t>
            </a:r>
            <a:r>
              <a:rPr lang="fr-FR" sz="2200" dirty="0">
                <a:solidFill>
                  <a:schemeClr val="tx1"/>
                </a:solidFill>
              </a:rPr>
              <a:t> -&gt; web </a:t>
            </a:r>
            <a:r>
              <a:rPr lang="fr-FR" sz="2200" dirty="0" err="1">
                <a:solidFill>
                  <a:schemeClr val="tx1"/>
                </a:solidFill>
              </a:rPr>
              <a:t>scraping</a:t>
            </a:r>
            <a:endParaRPr lang="fr-FR" sz="2200" dirty="0">
              <a:solidFill>
                <a:schemeClr val="tx1"/>
              </a:solidFill>
            </a:endParaRPr>
          </a:p>
          <a:p>
            <a:pPr lvl="2" algn="just"/>
            <a:r>
              <a:rPr lang="fr-FR" sz="2400" dirty="0">
                <a:solidFill>
                  <a:schemeClr val="tx1"/>
                </a:solidFill>
              </a:rPr>
              <a:t>Pandas -&gt; analyse</a:t>
            </a:r>
          </a:p>
          <a:p>
            <a:pPr algn="just"/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025F319-BE8C-CE03-6C7B-749026313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8C3E033-461D-2CF3-5D52-47C9AD3D3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416AF13-D97D-F777-56C3-27A7CB91A0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13792931-D121-6B55-5B74-2004C8505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B78B1B48-B2F9-76FC-81BF-3B148E2E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169A89A1-5CCF-FD59-2349-A3D16AE9B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4469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54CF1-52D2-264C-1C8C-12FDD915B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32613B-2777-0807-6115-054DE6042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66" y="127362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[Application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11FB3600-D163-F980-69C5-AD928B196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71054"/>
            <a:ext cx="8596668" cy="3635603"/>
          </a:xfrm>
        </p:spPr>
        <p:txBody>
          <a:bodyPr>
            <a:normAutofit/>
          </a:bodyPr>
          <a:lstStyle/>
          <a:p>
            <a:pPr algn="just"/>
            <a:r>
              <a:rPr lang="fr-FR" sz="2800" b="1" dirty="0">
                <a:solidFill>
                  <a:schemeClr val="tx1"/>
                </a:solidFill>
              </a:rPr>
              <a:t>Rappel sur application web: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Logiciel qui s'utilise directement dans un navigateur internet.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Ne demande pas d'installation sur votre ordinateur ou votre téléphone.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Ouverte partout avec une connexion.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Exemples: les boîtes mail, les outils de travail en ligne, les sites de vente etc.</a:t>
            </a:r>
          </a:p>
          <a:p>
            <a:pPr marL="0" indent="0" algn="just">
              <a:buNone/>
            </a:pPr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6B6D83D-5FC4-C365-1114-5406E9819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9FF2DD4-36C2-7E87-3559-AEF6F0799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24DF0C5-03D5-D37C-8714-E5E81AC32F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E2ECBA6B-41D8-5C1B-222E-40E05CB39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499B5454-E92F-35C0-04B3-C14E46DA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14D091B0-39D6-AF0A-4FBB-B2B944E8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2580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D0CA9-1296-9369-750D-AA517386B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3DD23C-9EE6-CD24-EABB-5539DF85A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[Application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D38B036F-775B-62B0-C8C5-E25E97B41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fr-FR" sz="2600" b="1" dirty="0">
                <a:solidFill>
                  <a:schemeClr val="tx1"/>
                </a:solidFill>
              </a:rPr>
              <a:t>Fonctionnement: </a:t>
            </a:r>
          </a:p>
          <a:p>
            <a:pPr lvl="1" algn="just"/>
            <a:r>
              <a:rPr lang="fr-FR" sz="2600" dirty="0">
                <a:solidFill>
                  <a:schemeClr val="tx1"/>
                </a:solidFill>
              </a:rPr>
              <a:t>Un serveur distant traite les données. </a:t>
            </a:r>
          </a:p>
          <a:p>
            <a:pPr lvl="1" algn="just"/>
            <a:r>
              <a:rPr lang="fr-FR" sz="2600" dirty="0">
                <a:solidFill>
                  <a:schemeClr val="tx1"/>
                </a:solidFill>
              </a:rPr>
              <a:t>Le navigateur affiche les pages et permet d'agir.</a:t>
            </a:r>
            <a:endParaRPr lang="fr-FR" sz="2600" b="1" dirty="0">
              <a:solidFill>
                <a:schemeClr val="tx1"/>
              </a:solidFill>
            </a:endParaRPr>
          </a:p>
          <a:p>
            <a:pPr algn="just"/>
            <a:r>
              <a:rPr lang="fr-FR" sz="2600" b="1" dirty="0">
                <a:solidFill>
                  <a:schemeClr val="tx1"/>
                </a:solidFill>
              </a:rPr>
              <a:t>Types d'applications web</a:t>
            </a:r>
            <a:r>
              <a:rPr lang="fr-FR" sz="2600" dirty="0">
                <a:solidFill>
                  <a:schemeClr val="tx1"/>
                </a:solidFill>
              </a:rPr>
              <a:t>:</a:t>
            </a:r>
          </a:p>
          <a:p>
            <a:pPr lvl="1" algn="just"/>
            <a:r>
              <a:rPr lang="fr-FR" sz="2600" dirty="0">
                <a:solidFill>
                  <a:schemeClr val="tx1"/>
                </a:solidFill>
              </a:rPr>
              <a:t>Statiques : Pages fixes avec peu de mouvement, souvent faites en HTML.</a:t>
            </a:r>
          </a:p>
          <a:p>
            <a:pPr lvl="1" algn="just"/>
            <a:r>
              <a:rPr lang="fr-FR" sz="2600" dirty="0">
                <a:solidFill>
                  <a:schemeClr val="tx1"/>
                </a:solidFill>
              </a:rPr>
              <a:t>Dynamiques : Pages qui changent selon l'utilisateur, gérées par une base de données.</a:t>
            </a:r>
          </a:p>
          <a:p>
            <a:pPr lvl="1" algn="just"/>
            <a:r>
              <a:rPr lang="fr-FR" sz="2600" dirty="0">
                <a:solidFill>
                  <a:schemeClr val="tx1"/>
                </a:solidFill>
              </a:rPr>
              <a:t>E-commerce : Boutiques en ligne avec des paniers et des paiements sécurisés.</a:t>
            </a:r>
          </a:p>
          <a:p>
            <a:pPr lvl="1" algn="just"/>
            <a:endParaRPr lang="fr-FR" sz="2600" dirty="0"/>
          </a:p>
          <a:p>
            <a:pPr lvl="1" algn="just"/>
            <a:endParaRPr lang="fr-FR" sz="2600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013DE03-DB25-3C9B-E996-9A0E14FA6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C0130E5-DAC8-AE32-0530-9D189164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22D96ED-1243-8A62-B5A6-F1138370D3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C1AD2D21-35C1-DBCA-2465-82FFCC07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B716D691-3219-7244-BB9C-E3FFD7168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9CAC0741-B81E-4446-ECD5-214E06F1D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518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59C8A-E034-4598-8938-CE9B6EC6E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F76873-7BAC-A3BC-5677-CA9E45A5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[Application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26754FF0-EF27-65D2-39B3-F39CDDCF2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800" b="1" dirty="0"/>
              <a:t>Composants Clés:</a:t>
            </a:r>
            <a:endParaRPr lang="fr-FR" sz="2600" b="1" dirty="0">
              <a:solidFill>
                <a:schemeClr val="tx1"/>
              </a:solidFill>
            </a:endParaRP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Client (</a:t>
            </a:r>
            <a:r>
              <a:rPr lang="fr-FR" sz="2400" dirty="0" err="1">
                <a:solidFill>
                  <a:schemeClr val="tx1"/>
                </a:solidFill>
              </a:rPr>
              <a:t>Front-end</a:t>
            </a:r>
            <a:r>
              <a:rPr lang="fr-FR" sz="2400" dirty="0">
                <a:solidFill>
                  <a:schemeClr val="tx1"/>
                </a:solidFill>
              </a:rPr>
              <a:t>) : Le navigateur web de l'utilisateur affiche l'interface et envoie les requêtes HTTP.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Serveur (</a:t>
            </a:r>
            <a:r>
              <a:rPr lang="fr-FR" sz="2400" dirty="0" err="1">
                <a:solidFill>
                  <a:schemeClr val="tx1"/>
                </a:solidFill>
              </a:rPr>
              <a:t>Back-end</a:t>
            </a:r>
            <a:r>
              <a:rPr lang="fr-FR" sz="2400" dirty="0">
                <a:solidFill>
                  <a:schemeClr val="tx1"/>
                </a:solidFill>
              </a:rPr>
              <a:t>) : Le programme traite les requêtes, applique les règles de gestion et gère la logique de l'application.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Base de données : Le système de stockage persistant (relationnel ou non) des informations de l'application.</a:t>
            </a:r>
          </a:p>
          <a:p>
            <a:pPr lvl="1" algn="just"/>
            <a:endParaRPr lang="fr-FR" sz="2600" dirty="0"/>
          </a:p>
          <a:p>
            <a:pPr lvl="1" algn="just"/>
            <a:endParaRPr lang="fr-FR" sz="2600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65BDBD8-2827-0929-F3FC-173066ECD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C9105A6-3527-7958-F60D-C69859DCB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2E7E3A4-7C33-5CEA-F7C1-03557F0A2A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E0E89375-C6D8-CE0E-C888-D14CD838F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5BCCFBD6-E8B2-349E-B4E3-9EA9132EE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65025492-13AE-A455-2210-42AC1F84C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948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79B29-3914-0319-705C-5C42BAD42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12BE0F-F744-C5ED-7E97-7C14C1295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[Application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AAB79C6-5595-59A2-67EE-D43C7B4C9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800" b="1" dirty="0"/>
              <a:t>Modèles d'Architecture:</a:t>
            </a:r>
            <a:endParaRPr lang="fr-FR" sz="3600" b="1" dirty="0">
              <a:solidFill>
                <a:schemeClr val="tx1"/>
              </a:solidFill>
            </a:endParaRP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Client-Serveur / 3-tiers : Sépare l'interface, la logique serveur et la base de données sur des niveaux distincts pour plus de sécurité et de clarté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Monolithe : Tous les composants et le code source sont regroupés dans une seule et unique unité autonome</a:t>
            </a:r>
          </a:p>
          <a:p>
            <a:pPr lvl="1" algn="just"/>
            <a:r>
              <a:rPr lang="fr-FR" sz="2400" dirty="0" err="1">
                <a:solidFill>
                  <a:schemeClr val="tx1"/>
                </a:solidFill>
              </a:rPr>
              <a:t>Microservices</a:t>
            </a:r>
            <a:r>
              <a:rPr lang="fr-FR" sz="2400" dirty="0">
                <a:solidFill>
                  <a:schemeClr val="tx1"/>
                </a:solidFill>
              </a:rPr>
              <a:t> : L'application est découpée en petits services indépendants qui communiquent via des API.</a:t>
            </a:r>
            <a:endParaRPr lang="fr-FR" sz="3600" dirty="0">
              <a:solidFill>
                <a:schemeClr val="tx1"/>
              </a:solidFill>
            </a:endParaRPr>
          </a:p>
          <a:p>
            <a:pPr lvl="1" algn="just"/>
            <a:endParaRPr lang="fr-FR" sz="2600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fr-FR" sz="28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33E71A4-090E-E73F-5572-B725D9D08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71EEFBB-186E-8BEE-0DAA-B31013D8F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D02DD6E-0441-56DA-9EE3-C09EA5295A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C3B4C916-2178-88FA-4128-8E260094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0D8EB9EE-27D7-BFD8-416D-D534DA893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EBBE5647-1702-5404-0E41-02BE5949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5171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357A2-37DB-155F-A296-BE16654D8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16D5BC-B2BA-0F5A-641F-D82DA6088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[Application web]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DBBFD785-4391-FDC9-55F6-F6CFC8068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800" b="1" dirty="0"/>
              <a:t>Modèles d'Architecture:</a:t>
            </a:r>
            <a:endParaRPr lang="fr-FR" sz="3600" b="1" dirty="0">
              <a:solidFill>
                <a:schemeClr val="tx1"/>
              </a:solidFill>
            </a:endParaRP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SPA (Single Page Application) : Une seule page HTML est chargée, puis mise à jour dynamiquement via des appels API asynchrones (ex. </a:t>
            </a:r>
            <a:r>
              <a:rPr lang="fr-FR" sz="2400" dirty="0" err="1">
                <a:solidFill>
                  <a:schemeClr val="tx1"/>
                </a:solidFill>
              </a:rPr>
              <a:t>React</a:t>
            </a:r>
            <a:r>
              <a:rPr lang="fr-FR" sz="2400" dirty="0">
                <a:solidFill>
                  <a:schemeClr val="tx1"/>
                </a:solidFill>
              </a:rPr>
              <a:t>, Vue)</a:t>
            </a:r>
          </a:p>
          <a:p>
            <a:pPr marL="457200" lvl="1" indent="0" algn="just">
              <a:buNone/>
            </a:pPr>
            <a:r>
              <a:rPr lang="fr-FR" sz="1800" b="1" dirty="0">
                <a:solidFill>
                  <a:schemeClr val="tx1"/>
                </a:solidFill>
              </a:rPr>
              <a:t>[API: </a:t>
            </a:r>
            <a:r>
              <a:rPr lang="fr-FR" sz="1800" dirty="0">
                <a:solidFill>
                  <a:schemeClr val="tx1"/>
                </a:solidFill>
              </a:rPr>
              <a:t>Application </a:t>
            </a:r>
            <a:r>
              <a:rPr lang="fr-FR" sz="1800" dirty="0" err="1">
                <a:solidFill>
                  <a:schemeClr val="tx1"/>
                </a:solidFill>
              </a:rPr>
              <a:t>Programming</a:t>
            </a:r>
            <a:r>
              <a:rPr lang="fr-FR" sz="1800" dirty="0">
                <a:solidFill>
                  <a:schemeClr val="tx1"/>
                </a:solidFill>
              </a:rPr>
              <a:t> Interface: une interface qui permet à deux applications de communiquer entre elles et d'échanger des données]</a:t>
            </a:r>
            <a:endParaRPr lang="fr-FR" sz="2800" dirty="0">
              <a:solidFill>
                <a:schemeClr val="tx1"/>
              </a:solidFill>
            </a:endParaRP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MPA (Multi Page Application) : Chaque action de navigation charge une nouvelle page complète générée par le serveur (ex. </a:t>
            </a:r>
            <a:r>
              <a:rPr lang="fr-FR" sz="2400" dirty="0" err="1">
                <a:solidFill>
                  <a:schemeClr val="tx1"/>
                </a:solidFill>
              </a:rPr>
              <a:t>Laravel</a:t>
            </a:r>
            <a:r>
              <a:rPr lang="fr-FR" sz="2400" dirty="0">
                <a:solidFill>
                  <a:schemeClr val="tx1"/>
                </a:solidFill>
              </a:rPr>
              <a:t>, Symfony)</a:t>
            </a:r>
            <a:endParaRPr lang="fr-FR" sz="40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9BE1246-3E3C-E2A6-C731-0515E364F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C1DA8F1-4A1C-55C4-13AD-C6A0C55A3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D53943D-FDF6-AE29-BFEE-318CCFDF57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490B6DA2-397A-F7F7-503B-A22FC477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1661FAD2-29E2-17F9-729E-B362BE688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8DD5EC37-A7DB-1607-29BB-C31EF8D7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890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0AC57-941E-6DFC-C9C3-8225B33D1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6ADD1B-B444-C402-9D3B-8A9E54AB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[Application web]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0B40E61-2C07-D806-1C20-1B1A15C80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9F31127-6613-645D-461D-BB1402714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A00CDB05-F3A8-F24D-598D-95DF984F7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AF5B264C-09BA-541C-8F6C-BB8DE6783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EA673CE8-F8F6-1BB8-DBF2-1F97BD05E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ED7EB1DE-D415-3825-462C-0A340B76F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13</a:t>
            </a:fld>
            <a:endParaRPr lang="fr-FR"/>
          </a:p>
        </p:txBody>
      </p:sp>
      <p:pic>
        <p:nvPicPr>
          <p:cNvPr id="5" name="Espace réservé du contenu 4" descr="Web Application Architecture - Detailed Explanation - InterviewBit">
            <a:extLst>
              <a:ext uri="{FF2B5EF4-FFF2-40B4-BE49-F238E27FC236}">
                <a16:creationId xmlns:a16="http://schemas.microsoft.com/office/drawing/2014/main" id="{9FF2A205-3363-7682-9879-AF75C0FD2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38371" y="2160837"/>
            <a:ext cx="8596312" cy="377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45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403E4-285B-1C03-A212-789D56474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639E4B-7D8A-1471-5007-5A1BB29F4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[Protocole]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92F585A-5EA4-BEB5-574B-26795B4C6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F1D9FD5-8662-3FB6-7C71-41F4A5850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05108E1B-581C-A26F-0CD2-EFFE0142F2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45FDF7EF-6CCA-492C-0E99-75B47EAB1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C9EF29C9-4734-25F0-CBFB-04B24F2BA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05A64A38-3B27-DCE5-BB9C-8C70EB36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14</a:t>
            </a:fld>
            <a:endParaRPr lang="fr-FR"/>
          </a:p>
        </p:txBody>
      </p:sp>
      <p:graphicFrame>
        <p:nvGraphicFramePr>
          <p:cNvPr id="14" name="Espace réservé du contenu 13">
            <a:extLst>
              <a:ext uri="{FF2B5EF4-FFF2-40B4-BE49-F238E27FC236}">
                <a16:creationId xmlns:a16="http://schemas.microsoft.com/office/drawing/2014/main" id="{9FD7B826-0419-F673-AA4D-BD7E1DEEAB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979382"/>
              </p:ext>
            </p:extLst>
          </p:nvPr>
        </p:nvGraphicFramePr>
        <p:xfrm>
          <a:off x="677863" y="2160588"/>
          <a:ext cx="859631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080">
                  <a:extLst>
                    <a:ext uri="{9D8B030D-6E8A-4147-A177-3AD203B41FA5}">
                      <a16:colId xmlns:a16="http://schemas.microsoft.com/office/drawing/2014/main" val="4136754463"/>
                    </a:ext>
                  </a:extLst>
                </a:gridCol>
                <a:gridCol w="6411232">
                  <a:extLst>
                    <a:ext uri="{9D8B030D-6E8A-4147-A177-3AD203B41FA5}">
                      <a16:colId xmlns:a16="http://schemas.microsoft.com/office/drawing/2014/main" val="3317258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Protocole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Role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95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Communication entre navigateur et serveur Web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730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Version sécurisée de HTTP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359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Traduit un nom de domaine en adresse IP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699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TCP/IP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Permet la communication entre machines sur Internet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151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FTP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Transfert de fichiers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27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SMTP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Envoi des e-mails (Single Mail)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764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WebSocket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Communication Web en temps réel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681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7069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6FA9-7CCF-C8EB-1E0F-3D8E39EDE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F74624-8D07-9818-35C2-3531EAC0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[A retenir]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CC5EC506-0DDA-BAF8-0DC1-B9CA93A80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 fontScale="92500"/>
          </a:bodyPr>
          <a:lstStyle/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Application Web</a:t>
            </a:r>
            <a:r>
              <a:rPr lang="fr-FR" sz="2400" dirty="0">
                <a:solidFill>
                  <a:schemeClr val="tx1"/>
                </a:solidFill>
              </a:rPr>
              <a:t> → plateforme ou site accessible via le Web.</a:t>
            </a:r>
          </a:p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Protocole</a:t>
            </a:r>
            <a:r>
              <a:rPr lang="fr-FR" sz="2400" dirty="0">
                <a:solidFill>
                  <a:schemeClr val="tx1"/>
                </a:solidFill>
              </a:rPr>
              <a:t> → règles permettant aux machines de communiquer.</a:t>
            </a:r>
          </a:p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HTTP/HTTPS</a:t>
            </a:r>
            <a:r>
              <a:rPr lang="fr-FR" sz="2400" dirty="0">
                <a:solidFill>
                  <a:schemeClr val="tx1"/>
                </a:solidFill>
              </a:rPr>
              <a:t> → principaux protocoles utilisés par les applications Web.</a:t>
            </a:r>
          </a:p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API</a:t>
            </a:r>
            <a:r>
              <a:rPr lang="fr-FR" sz="2400" dirty="0">
                <a:solidFill>
                  <a:schemeClr val="tx1"/>
                </a:solidFill>
              </a:rPr>
              <a:t> → interface permettant à des applications d'échanger des données.</a:t>
            </a:r>
          </a:p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Web </a:t>
            </a:r>
            <a:r>
              <a:rPr lang="fr-FR" sz="2400" b="1" dirty="0" err="1">
                <a:solidFill>
                  <a:schemeClr val="tx1"/>
                </a:solidFill>
              </a:rPr>
              <a:t>scraping</a:t>
            </a:r>
            <a:r>
              <a:rPr lang="fr-FR" sz="2400" dirty="0">
                <a:solidFill>
                  <a:schemeClr val="tx1"/>
                </a:solidFill>
              </a:rPr>
              <a:t> → technique permettant d'extraire des données d'une page Web.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D58D436-F27B-AECA-EC34-3326BABE7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D8EC4B4-B88C-A7EF-2607-CECC436E7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CEB4D04-B23C-99A9-97E0-DB3FDC75F7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763F7709-88A6-3C24-943E-2A3B0C40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7A227BDA-E315-161D-3275-DB4EE4D3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7E625963-C3E7-EFE9-814C-37850019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5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A466E-3EB7-2E96-0698-E2A54742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B52D27-9606-6AEE-DD45-8024F4129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[XML - DOM]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22D43B9-32A5-78AC-A7A4-3A234E278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Rappel sur XML: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XML (</a:t>
            </a:r>
            <a:r>
              <a:rPr lang="fr-FR" sz="2400" dirty="0" err="1">
                <a:solidFill>
                  <a:schemeClr val="tx1"/>
                </a:solidFill>
              </a:rPr>
              <a:t>eXtensible</a:t>
            </a:r>
            <a:r>
              <a:rPr lang="fr-FR" sz="2400" dirty="0">
                <a:solidFill>
                  <a:schemeClr val="tx1"/>
                </a:solidFill>
              </a:rPr>
              <a:t> Markup </a:t>
            </a:r>
            <a:r>
              <a:rPr lang="fr-FR" sz="2400" dirty="0" err="1">
                <a:solidFill>
                  <a:schemeClr val="tx1"/>
                </a:solidFill>
              </a:rPr>
              <a:t>Language</a:t>
            </a:r>
            <a:r>
              <a:rPr lang="fr-FR" sz="2400" dirty="0">
                <a:solidFill>
                  <a:schemeClr val="tx1"/>
                </a:solidFill>
              </a:rPr>
              <a:t>) est un langage de balisage qui permet de structurer des documents de manière lisible par les humains et les machines. 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Il est souvent utilisé pour l'échange de données entre systèmes.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B3BCAA9-4FA5-301D-AE1E-7811B2B3E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D376B2F-4802-57DF-810C-9AE932427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A2B5414-845C-DC8B-0E5A-0EBBDBD84A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7E1F6E16-3B5A-A577-A643-9F1F9BE1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43B88712-FF4A-B517-CDFB-7242CFBC6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9386D9B8-212A-803E-F1F0-0BB6D05A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2788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A9824-C3B2-D18D-3ADB-82E9667AE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9AB848-1611-CB89-7DA0-6A1786DA9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[XML - DOM]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40EA0034-7894-C0BA-B853-DA624A72B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lvl="0" algn="just"/>
            <a:r>
              <a:rPr lang="fr-FR" sz="2400" b="1" dirty="0">
                <a:solidFill>
                  <a:schemeClr val="tx1"/>
                </a:solidFill>
              </a:rPr>
              <a:t>Structure d'un document XML: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Élément : Délimité par une balise ouvrante et une balise fermante (&lt;</a:t>
            </a:r>
            <a:r>
              <a:rPr lang="fr-FR" sz="2400" dirty="0" err="1">
                <a:solidFill>
                  <a:schemeClr val="tx1"/>
                </a:solidFill>
              </a:rPr>
              <a:t>nomElement</a:t>
            </a:r>
            <a:r>
              <a:rPr lang="fr-FR" sz="2400" dirty="0">
                <a:solidFill>
                  <a:schemeClr val="tx1"/>
                </a:solidFill>
              </a:rPr>
              <a:t>&gt;Contenu&lt;/</a:t>
            </a:r>
            <a:r>
              <a:rPr lang="fr-FR" sz="2400" dirty="0" err="1">
                <a:solidFill>
                  <a:schemeClr val="tx1"/>
                </a:solidFill>
              </a:rPr>
              <a:t>nomElement</a:t>
            </a:r>
            <a:r>
              <a:rPr lang="fr-FR" sz="2400" dirty="0">
                <a:solidFill>
                  <a:schemeClr val="tx1"/>
                </a:solidFill>
              </a:rPr>
              <a:t>&gt;)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Attribut : Fournit des informations supplémentaires sur un élément (&lt;</a:t>
            </a:r>
            <a:r>
              <a:rPr lang="fr-FR" sz="2400" dirty="0" err="1">
                <a:solidFill>
                  <a:schemeClr val="tx1"/>
                </a:solidFill>
              </a:rPr>
              <a:t>nomElement</a:t>
            </a:r>
            <a:r>
              <a:rPr lang="fr-FR" sz="2400" dirty="0">
                <a:solidFill>
                  <a:schemeClr val="tx1"/>
                </a:solidFill>
              </a:rPr>
              <a:t> attribut="valeur"&gt;).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Texte : Le contenu textuel d'un élément.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3983767-C0B8-E00F-3B4D-DF09A856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6176731-10C2-0D1E-381E-845B1BD51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A637BB23-15D5-B971-B031-82A9F99DA6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9968CD00-E0E1-B4F7-3ED4-694DC3C8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48DE6502-A5D1-9830-D7E0-FB8001C2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7A27DAF7-7BF8-B69F-1859-2A2A0513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576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B6ABB-400F-6DED-D594-4A77E6EE8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59B64E-2DE1-A88C-F5D3-42645A0B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[XML - DOM]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0946CD81-E577-01E0-2C65-8F44F5201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lvl="0" algn="just"/>
            <a:r>
              <a:rPr lang="fr-FR" sz="2400" dirty="0">
                <a:solidFill>
                  <a:schemeClr val="tx1"/>
                </a:solidFill>
              </a:rPr>
              <a:t>DOM (Document Object Model):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DOM est une interface de programmation qui permet aux développeurs d'interagir avec des documents XML (ou HTML).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Représente le document sous forme d'une arborescence d'objets, où chaque partie du document (éléments, attributs, texte) est un nœud de l'arbre.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63D0DAC-70AC-8D2D-6E9E-B8E7C156D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927096B-E5AB-F065-B38E-108E4934C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D5AB0AB-F808-BE7F-DF98-53DDD7A25B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377058D8-BA0C-5F3F-D9E4-4925AC19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8EDADA01-C04A-E7AF-FE08-F282CA8C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31E2B8CD-CA95-2352-51B0-AB4AB73B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5963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BE0AC-A966-CA3B-6097-444841C2D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E2BFD-5349-D181-E8C5-4D52636A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[XML - DOM]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1915F41E-C297-8550-5297-08F2164D6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400" dirty="0">
                <a:solidFill>
                  <a:schemeClr val="tx1"/>
                </a:solidFill>
              </a:rPr>
              <a:t>Avantages de DOM (Document Object Model):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Permet une manipulation aisée de la structure du document.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Offre une navigation flexible dans le document.</a:t>
            </a:r>
          </a:p>
          <a:p>
            <a:pPr lvl="1" algn="just"/>
            <a:r>
              <a:rPr lang="fr-FR" sz="2400" dirty="0">
                <a:solidFill>
                  <a:schemeClr val="tx1"/>
                </a:solidFill>
              </a:rPr>
              <a:t>Permet d'ajouter, de modifier et de supprimer des éléments.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F1138BE6-AA60-E7B8-8291-417D6DF3B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15153EC0-F13D-9B78-78A9-C3AB8CFA4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19F9A402-A1FE-DD9C-6F31-650EEEDC7B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D291B1A1-D766-7F96-2308-7470C7DB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FAA261D6-7E00-B281-31CC-4BA58FE3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BF841878-6AAD-FAEE-4136-0656F6ED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125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AD4DE-8091-3E32-6723-12A312FB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8AC85-8443-012A-070B-64E40812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[XML - DOM]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15A90697-0881-BC9E-2FA5-DDA7A3B10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400" dirty="0" err="1">
                <a:solidFill>
                  <a:schemeClr val="tx1"/>
                </a:solidFill>
              </a:rPr>
              <a:t>Parsing</a:t>
            </a:r>
            <a:r>
              <a:rPr lang="fr-FR" sz="2400" dirty="0">
                <a:solidFill>
                  <a:schemeClr val="tx1"/>
                </a:solidFill>
              </a:rPr>
              <a:t>:</a:t>
            </a:r>
          </a:p>
          <a:p>
            <a:pPr lvl="1" algn="just"/>
            <a:r>
              <a:rPr lang="fr-FR" sz="2400" dirty="0"/>
              <a:t>Pour </a:t>
            </a:r>
            <a:r>
              <a:rPr lang="fr-FR" sz="2400" dirty="0" err="1"/>
              <a:t>parser</a:t>
            </a:r>
            <a:r>
              <a:rPr lang="fr-FR" sz="2400" dirty="0"/>
              <a:t> (analyser) du XML avec le modèle DOM en Python, la bibliothèque standard fournit le module </a:t>
            </a:r>
            <a:r>
              <a:rPr lang="fr-FR" sz="2400" b="1" dirty="0" err="1"/>
              <a:t>xml.dom.minidom</a:t>
            </a:r>
            <a:r>
              <a:rPr lang="fr-FR" sz="2400" dirty="0"/>
              <a:t>. </a:t>
            </a:r>
          </a:p>
          <a:p>
            <a:pPr lvl="1" algn="just"/>
            <a:r>
              <a:rPr lang="fr-FR" sz="2400" dirty="0"/>
              <a:t>Le DOM charge l'intégralité du fichier XML en mémoire sous forme d'arbre, ce qui permet de naviguer librement entre les nœuds (parents, enfants, frères).</a:t>
            </a:r>
          </a:p>
          <a:p>
            <a:pPr algn="just"/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CEA730F-A587-FBFF-DFB4-C054A2E7C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E87450D-2670-ABC5-8147-88BDA6E04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B748967-2A17-1C87-F7C0-7844E2BF65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B32A8EA4-75B8-5165-2D1C-FD2CD44FE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2B1E0A9E-78AD-2EA0-2B69-583077920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B3E12704-1C61-AF85-3C13-F04569400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6524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5BE8-A837-E5AD-DB2F-A9B99068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1F44E0-6D4B-0A5D-0C0D-44CE26F8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Web apps</a:t>
            </a:r>
            <a:br>
              <a:rPr lang="fr-FR" dirty="0"/>
            </a:br>
            <a:r>
              <a:rPr lang="fr-FR" dirty="0"/>
              <a:t>[XML – DOM]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3E98A2CE-D4E1-7D68-AA90-9E402DDE4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lvl="0" algn="just"/>
            <a:r>
              <a:rPr lang="fr-FR" sz="2200" b="1" dirty="0" err="1"/>
              <a:t>dom.documentElement</a:t>
            </a:r>
            <a:r>
              <a:rPr lang="fr-FR" sz="2200" b="1" dirty="0"/>
              <a:t> </a:t>
            </a:r>
            <a:r>
              <a:rPr lang="fr-FR" sz="2200" dirty="0"/>
              <a:t>: Accède au nœud racine (le parent de tous les autres).</a:t>
            </a:r>
          </a:p>
          <a:p>
            <a:pPr lvl="0" algn="just"/>
            <a:r>
              <a:rPr lang="fr-FR" sz="2200" b="1" dirty="0" err="1"/>
              <a:t>element.getElementsByTagName</a:t>
            </a:r>
            <a:r>
              <a:rPr lang="fr-FR" sz="2200" b="1" dirty="0"/>
              <a:t>("nom") </a:t>
            </a:r>
            <a:r>
              <a:rPr lang="fr-FR" sz="2200" dirty="0"/>
              <a:t>: Recherche tous les éléments descendants portant ce nom de balise (renvoie une liste). </a:t>
            </a:r>
          </a:p>
          <a:p>
            <a:pPr lvl="0" algn="just"/>
            <a:r>
              <a:rPr lang="fr-FR" sz="2200" b="1" dirty="0" err="1"/>
              <a:t>element.getAttribute</a:t>
            </a:r>
            <a:r>
              <a:rPr lang="fr-FR" sz="2200" b="1" dirty="0"/>
              <a:t>("</a:t>
            </a:r>
            <a:r>
              <a:rPr lang="fr-FR" sz="2200" b="1" dirty="0" err="1"/>
              <a:t>nom_attribut</a:t>
            </a:r>
            <a:r>
              <a:rPr lang="fr-FR" sz="2200" b="1" dirty="0"/>
              <a:t>") </a:t>
            </a:r>
            <a:r>
              <a:rPr lang="fr-FR" sz="2200" dirty="0"/>
              <a:t>: Récupère la valeur textuelle d'un attribut. Renvoie une chaîne vide "" si l'attribut n'existe pas.</a:t>
            </a:r>
          </a:p>
          <a:p>
            <a:pPr lvl="0" algn="just"/>
            <a:r>
              <a:rPr lang="fr-FR" sz="2200" b="1" dirty="0" err="1"/>
              <a:t>element.firstChild.data</a:t>
            </a:r>
            <a:r>
              <a:rPr lang="fr-FR" sz="2200" b="1" dirty="0"/>
              <a:t> </a:t>
            </a:r>
            <a:r>
              <a:rPr lang="fr-FR" sz="2200" dirty="0"/>
              <a:t>: Récupère la valeur textuelle brute située entre la balise ouvrante et fermante.</a:t>
            </a:r>
          </a:p>
          <a:p>
            <a:pPr algn="just"/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CE0E528-3AC1-B638-86E9-47ECA19EC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187C0CE-C020-1F6F-1578-2927E6BFB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3297A8D-1F43-2CB2-DF87-06130630F3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037789C2-41D0-CCD1-98FD-14335641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9BBB8698-88A4-04EE-5852-B3F429F6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C4F5E2E8-1F6A-14B0-BD00-E3F4A899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9027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C4147-BD5B-F1EE-881D-604264CC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1B0-BA82-A28B-17E9-16AFE0742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XML – DOM - Python</a:t>
            </a:r>
            <a:br>
              <a:rPr lang="fr-FR" dirty="0"/>
            </a:br>
            <a:r>
              <a:rPr lang="fr-FR" dirty="0"/>
              <a:t>Exemple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07BD629B-F0EF-4C9C-FA72-41D2048B9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lvl="0" algn="just"/>
            <a:r>
              <a:rPr lang="fr-FR" sz="2200" b="1" dirty="0" err="1"/>
              <a:t>data.xml</a:t>
            </a:r>
            <a:r>
              <a:rPr lang="fr-FR" sz="2200" b="1" dirty="0"/>
              <a:t> </a:t>
            </a:r>
            <a:r>
              <a:rPr lang="fr-FR" sz="2200" dirty="0"/>
              <a:t>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	&lt;biblio&gt;</a:t>
            </a:r>
          </a:p>
          <a:p>
            <a:pPr marL="0" indent="0">
              <a:buNone/>
            </a:pPr>
            <a:r>
              <a:rPr lang="fr-FR" dirty="0"/>
              <a:t>	    &lt;livre </a:t>
            </a:r>
            <a:r>
              <a:rPr lang="fr-FR" dirty="0" err="1"/>
              <a:t>categorie</a:t>
            </a:r>
            <a:r>
              <a:rPr lang="fr-FR" dirty="0"/>
              <a:t>="Fiction"&gt;</a:t>
            </a:r>
          </a:p>
          <a:p>
            <a:pPr marL="0" indent="0">
              <a:buNone/>
            </a:pPr>
            <a:r>
              <a:rPr lang="fr-FR" dirty="0"/>
              <a:t>	        &lt;titre&gt;Web </a:t>
            </a:r>
            <a:r>
              <a:rPr lang="fr-FR" dirty="0" err="1"/>
              <a:t>Scraping</a:t>
            </a:r>
            <a:r>
              <a:rPr lang="fr-FR" dirty="0"/>
              <a:t>&lt;/titre&gt;</a:t>
            </a:r>
          </a:p>
          <a:p>
            <a:pPr marL="0" indent="0">
              <a:buNone/>
            </a:pPr>
            <a:r>
              <a:rPr lang="fr-FR" dirty="0"/>
              <a:t>	        &lt;auteur&gt;William Germain&lt;/auteur&gt;</a:t>
            </a:r>
          </a:p>
          <a:p>
            <a:pPr marL="0" indent="0">
              <a:buNone/>
            </a:pPr>
            <a:r>
              <a:rPr lang="fr-FR" dirty="0"/>
              <a:t>	    &lt;/livre&gt;</a:t>
            </a:r>
          </a:p>
          <a:p>
            <a:pPr marL="0" indent="0">
              <a:buNone/>
            </a:pPr>
            <a:r>
              <a:rPr lang="fr-FR" dirty="0"/>
              <a:t>	&lt;/biblio&gt;</a:t>
            </a:r>
          </a:p>
          <a:p>
            <a:pPr lvl="0" algn="just"/>
            <a:endParaRPr lang="fr-FR" sz="24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7A2C7D4-488D-5D42-A35B-7C8217CBA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678847B-EE40-01C4-2ED0-E96247C12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89F0DD0-7768-5059-BB50-DCA3F42A4A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EBF54BFD-26B1-F71A-CB85-892B5F458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D09863D8-D4CC-67AE-CB7E-1C2A37A23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2362171B-9DAE-EC27-FEC8-7BB8C344B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035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E2D94-55D1-5254-9D7E-B1EDA8BF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576581-FBAF-54E4-A0AF-68BF0C624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XML – DOM - Python</a:t>
            </a:r>
            <a:br>
              <a:rPr lang="fr-FR" dirty="0"/>
            </a:br>
            <a:r>
              <a:rPr lang="fr-FR" dirty="0"/>
              <a:t>Exemple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0CF7519A-AE61-C423-704E-25D5B1E86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 fontScale="85000" lnSpcReduction="20000"/>
          </a:bodyPr>
          <a:lstStyle/>
          <a:p>
            <a:pPr lvl="0" algn="just"/>
            <a:r>
              <a:rPr lang="fr-FR" sz="2200" b="1" dirty="0"/>
              <a:t>Python </a:t>
            </a:r>
            <a:r>
              <a:rPr lang="fr-FR" sz="2200" dirty="0"/>
              <a:t>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import </a:t>
            </a:r>
            <a:r>
              <a:rPr lang="fr-FR" dirty="0" err="1"/>
              <a:t>xml.dom.minidom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	# 1. Charger le fichier XML</a:t>
            </a:r>
          </a:p>
          <a:p>
            <a:pPr marL="0" indent="0">
              <a:buNone/>
            </a:pPr>
            <a:r>
              <a:rPr lang="fr-FR" dirty="0"/>
              <a:t>	dom = </a:t>
            </a:r>
            <a:r>
              <a:rPr lang="fr-FR" dirty="0" err="1"/>
              <a:t>xml.dom.minidom.parse</a:t>
            </a:r>
            <a:r>
              <a:rPr lang="fr-FR" dirty="0"/>
              <a:t>( »</a:t>
            </a:r>
            <a:r>
              <a:rPr lang="fr-FR" dirty="0" err="1"/>
              <a:t>data.xml</a:t>
            </a:r>
            <a:r>
              <a:rPr lang="fr-FR" dirty="0"/>
              <a:t>")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	# 2. Convertir en chaîne de caractères bien formatée</a:t>
            </a:r>
          </a:p>
          <a:p>
            <a:pPr marL="0" indent="0">
              <a:buNone/>
            </a:pPr>
            <a:r>
              <a:rPr lang="fr-FR" dirty="0"/>
              <a:t>	# </a:t>
            </a:r>
            <a:r>
              <a:rPr lang="fr-FR" dirty="0" err="1"/>
              <a:t>indent</a:t>
            </a:r>
            <a:r>
              <a:rPr lang="fr-FR" dirty="0"/>
              <a:t>="  " ajoute deux espaces à chaque niveau d'imbrication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/>
              <a:t>xml_propre</a:t>
            </a:r>
            <a:r>
              <a:rPr lang="fr-FR" dirty="0"/>
              <a:t> = </a:t>
            </a:r>
            <a:r>
              <a:rPr lang="fr-FR" dirty="0" err="1"/>
              <a:t>dom.toprettyxml</a:t>
            </a:r>
            <a:r>
              <a:rPr lang="fr-FR" dirty="0"/>
              <a:t>(</a:t>
            </a:r>
            <a:r>
              <a:rPr lang="fr-FR" dirty="0" err="1"/>
              <a:t>indent</a:t>
            </a:r>
            <a:r>
              <a:rPr lang="fr-FR" dirty="0"/>
              <a:t>="  ")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	# 3. Afficher le résultat</a:t>
            </a:r>
          </a:p>
          <a:p>
            <a:pPr marL="0" indent="0">
              <a:buNone/>
            </a:pPr>
            <a:r>
              <a:rPr lang="fr-FR" dirty="0"/>
              <a:t>	</a:t>
            </a: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xml_propre</a:t>
            </a:r>
            <a:r>
              <a:rPr lang="fr-FR" dirty="0"/>
              <a:t>)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4491BC8-5DAC-E93E-78FC-1A4A790DE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F80296C-A2F6-64BB-6224-3529A4708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B42C527-8AA8-61CF-1F38-2CF272F638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B4BD1F9A-92CB-C6D0-EAFF-B72D6344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2E7EE6EA-8F21-2FF2-46AB-D94F1AB7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260B7A80-22B5-CB48-DE9C-20D307920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3912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10682-3747-3F6D-1AF1-BF8124400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C3683A-7753-3B9A-C0CE-6F8FD2B12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XML – DOM - Python</a:t>
            </a:r>
            <a:br>
              <a:rPr lang="fr-FR" dirty="0"/>
            </a:br>
            <a:r>
              <a:rPr lang="fr-FR" dirty="0"/>
              <a:t>Exemple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A439FC44-496C-1EB7-9350-7B053052B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 fontScale="92500" lnSpcReduction="20000"/>
          </a:bodyPr>
          <a:lstStyle/>
          <a:p>
            <a:pPr lvl="0" algn="just"/>
            <a:r>
              <a:rPr lang="fr-FR" sz="2200" b="1" dirty="0"/>
              <a:t>Python </a:t>
            </a:r>
            <a:r>
              <a:rPr lang="fr-FR" sz="2200" dirty="0"/>
              <a:t>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import </a:t>
            </a:r>
            <a:r>
              <a:rPr lang="fr-FR" dirty="0" err="1"/>
              <a:t>xml.dom.minidom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# 1. Charger le fichier</a:t>
            </a:r>
          </a:p>
          <a:p>
            <a:pPr marL="0" indent="0">
              <a:buNone/>
            </a:pPr>
            <a:r>
              <a:rPr lang="fr-FR" dirty="0"/>
              <a:t>	dom = </a:t>
            </a:r>
            <a:r>
              <a:rPr lang="fr-FR" dirty="0" err="1"/>
              <a:t>xml.dom.minidom.parse</a:t>
            </a:r>
            <a:r>
              <a:rPr lang="fr-FR" dirty="0"/>
              <a:t>("</a:t>
            </a:r>
            <a:r>
              <a:rPr lang="fr-FR" dirty="0" err="1"/>
              <a:t>donnees.xml</a:t>
            </a:r>
            <a:r>
              <a:rPr lang="fr-FR" dirty="0"/>
              <a:t>")</a:t>
            </a:r>
          </a:p>
          <a:p>
            <a:pPr marL="0" indent="0">
              <a:buNone/>
            </a:pPr>
            <a:r>
              <a:rPr lang="fr-FR" dirty="0"/>
              <a:t>	racine = </a:t>
            </a:r>
            <a:r>
              <a:rPr lang="fr-FR" dirty="0" err="1"/>
              <a:t>dom.documentElement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# 2. Récupérer et afficher les éléments</a:t>
            </a:r>
          </a:p>
          <a:p>
            <a:pPr marL="0" indent="0">
              <a:buNone/>
            </a:pPr>
            <a:r>
              <a:rPr lang="fr-FR" dirty="0"/>
              <a:t>	livres = </a:t>
            </a:r>
            <a:r>
              <a:rPr lang="fr-FR" dirty="0" err="1"/>
              <a:t>racine.getElementsByTagName</a:t>
            </a:r>
            <a:r>
              <a:rPr lang="fr-FR" dirty="0"/>
              <a:t>("livre")</a:t>
            </a:r>
          </a:p>
          <a:p>
            <a:pPr marL="0" indent="0">
              <a:buNone/>
            </a:pPr>
            <a:r>
              <a:rPr lang="fr-FR" dirty="0"/>
              <a:t>	for livre in livres:</a:t>
            </a:r>
          </a:p>
          <a:p>
            <a:pPr marL="0" indent="0">
              <a:buNone/>
            </a:pPr>
            <a:r>
              <a:rPr lang="fr-FR" dirty="0"/>
              <a:t>	 # Afficher un attribut si présent</a:t>
            </a:r>
          </a:p>
          <a:p>
            <a:pPr marL="0" indent="0">
              <a:buNone/>
            </a:pPr>
            <a:r>
              <a:rPr lang="fr-FR" dirty="0"/>
              <a:t>	cat = </a:t>
            </a:r>
            <a:r>
              <a:rPr lang="fr-FR" dirty="0" err="1"/>
              <a:t>livre.getAttribute</a:t>
            </a:r>
            <a:r>
              <a:rPr lang="fr-FR" dirty="0"/>
              <a:t>("</a:t>
            </a:r>
            <a:r>
              <a:rPr lang="fr-FR" dirty="0" err="1"/>
              <a:t>categorie</a:t>
            </a:r>
            <a:r>
              <a:rPr lang="fr-FR" dirty="0"/>
              <a:t>")</a:t>
            </a:r>
          </a:p>
          <a:p>
            <a:pPr marL="0" indent="0">
              <a:buNone/>
            </a:pPr>
            <a:r>
              <a:rPr lang="fr-FR" dirty="0"/>
              <a:t>	 </a:t>
            </a:r>
            <a:r>
              <a:rPr lang="fr-FR" dirty="0" err="1"/>
              <a:t>print</a:t>
            </a:r>
            <a:r>
              <a:rPr lang="fr-FR" dirty="0"/>
              <a:t>(f"--- Catégorie : {cat} ---")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FE7B02A-EA5A-1A5E-BBE7-F3ADDF1F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DDEFF2F-2449-18EE-1535-04FD31577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77017BD-7C53-ADAF-4C19-D109EF87CE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09D147FB-9BB4-1B28-D76B-0E0DA9B66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511F2298-AEC2-68D8-89B2-C6572780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4F71745D-06A3-177F-24BC-112FEB43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4145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D0EA6-6651-DA2A-CE37-D22AFF2C4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583D29-4C30-BD4D-B0C5-6BB08EE6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XML – DOM - Python</a:t>
            </a:r>
            <a:br>
              <a:rPr lang="fr-FR" dirty="0"/>
            </a:br>
            <a:r>
              <a:rPr lang="fr-FR" dirty="0"/>
              <a:t>Exemple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0D595C20-7D4E-E68E-20CD-827F62823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lvl="0" algn="just"/>
            <a:r>
              <a:rPr lang="fr-FR" sz="2200" b="1" dirty="0"/>
              <a:t>Python </a:t>
            </a:r>
            <a:r>
              <a:rPr lang="fr-FR" sz="2200" dirty="0"/>
              <a:t>: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# Récupérer les balises enfants </a:t>
            </a:r>
          </a:p>
          <a:p>
            <a:pPr marL="0" indent="0">
              <a:buNone/>
            </a:pPr>
            <a:r>
              <a:rPr lang="fr-FR" dirty="0" err="1"/>
              <a:t>titre_element</a:t>
            </a:r>
            <a:r>
              <a:rPr lang="fr-FR" dirty="0"/>
              <a:t> = </a:t>
            </a:r>
            <a:r>
              <a:rPr lang="fr-FR" dirty="0" err="1"/>
              <a:t>livre.getElementsByTagName</a:t>
            </a:r>
            <a:r>
              <a:rPr lang="fr-FR" dirty="0"/>
              <a:t>("titre")[0]</a:t>
            </a:r>
          </a:p>
          <a:p>
            <a:pPr marL="0" indent="0">
              <a:buNone/>
            </a:pPr>
            <a:r>
              <a:rPr lang="fr-FR" dirty="0" err="1"/>
              <a:t>auteur_element</a:t>
            </a:r>
            <a:r>
              <a:rPr lang="fr-FR" dirty="0"/>
              <a:t> = </a:t>
            </a:r>
            <a:r>
              <a:rPr lang="fr-FR" dirty="0" err="1"/>
              <a:t>livre.getElementsByTagName</a:t>
            </a:r>
            <a:r>
              <a:rPr lang="fr-FR" dirty="0"/>
              <a:t>("auteur")[0] </a:t>
            </a:r>
          </a:p>
          <a:p>
            <a:pPr marL="0" indent="0">
              <a:buNone/>
            </a:pPr>
            <a:r>
              <a:rPr lang="fr-FR" dirty="0"/>
              <a:t># .</a:t>
            </a:r>
            <a:r>
              <a:rPr lang="fr-FR" dirty="0" err="1"/>
              <a:t>firstChild.data</a:t>
            </a:r>
            <a:r>
              <a:rPr lang="fr-FR" dirty="0"/>
              <a:t> extrait le texte contenu entre les balises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f"Titre</a:t>
            </a:r>
            <a:r>
              <a:rPr lang="fr-FR" dirty="0"/>
              <a:t> : {</a:t>
            </a:r>
            <a:r>
              <a:rPr lang="fr-FR" dirty="0" err="1"/>
              <a:t>titre_element.firstChild.data</a:t>
            </a:r>
            <a:r>
              <a:rPr lang="fr-FR" dirty="0"/>
              <a:t>}") 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</a:t>
            </a:r>
            <a:r>
              <a:rPr lang="fr-FR" dirty="0" err="1"/>
              <a:t>f"Auteur</a:t>
            </a:r>
            <a:r>
              <a:rPr lang="fr-FR" dirty="0"/>
              <a:t> : {</a:t>
            </a:r>
            <a:r>
              <a:rPr lang="fr-FR" dirty="0" err="1"/>
              <a:t>auteur_element.firstChild.data</a:t>
            </a:r>
            <a:r>
              <a:rPr lang="fr-FR" dirty="0"/>
              <a:t>}\n")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E2D9011-5456-6F16-75D1-5682F760B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A3F9130-E79A-23B5-A8D7-8A3F9BB70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2862699-E01C-7BFE-321C-DAAE77FEF0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01DD0360-2B57-84EF-14AD-AB55029D7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CF7DD07C-E80C-7126-A2A0-BAED712F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08B6D672-8E5F-4235-E514-23A87C2C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7973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D7CB4-F907-990C-0BBC-C41FF64BD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CB2AA4-F75A-5EB6-DBAF-3FBAB0111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[Définition]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650C56CE-952B-205B-8A12-B8F399F99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U</a:t>
            </a:r>
            <a:r>
              <a:rPr lang="fr-FR" sz="2000" dirty="0">
                <a:solidFill>
                  <a:schemeClr val="tx1"/>
                </a:solidFill>
              </a:rPr>
              <a:t>ne </a:t>
            </a:r>
            <a:r>
              <a:rPr lang="fr-FR" sz="2000" b="1" dirty="0">
                <a:solidFill>
                  <a:schemeClr val="tx1"/>
                </a:solidFill>
              </a:rPr>
              <a:t>bibliothèque Python</a:t>
            </a:r>
            <a:r>
              <a:rPr lang="fr-FR" sz="2000" dirty="0">
                <a:solidFill>
                  <a:schemeClr val="tx1"/>
                </a:solidFill>
              </a:rPr>
              <a:t> qui permet d’</a:t>
            </a:r>
            <a:r>
              <a:rPr lang="fr-FR" sz="2000" b="1" dirty="0">
                <a:solidFill>
                  <a:schemeClr val="tx1"/>
                </a:solidFill>
              </a:rPr>
              <a:t>extraire des données à partir du code HTML ou XML d’une page Web</a:t>
            </a:r>
            <a:r>
              <a:rPr lang="fr-FR" sz="20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fr-FR" sz="2000" dirty="0">
                <a:solidFill>
                  <a:schemeClr val="tx1"/>
                </a:solidFill>
              </a:rPr>
              <a:t>Une bibliothèque utilisée pour faire du </a:t>
            </a:r>
            <a:r>
              <a:rPr lang="fr-FR" sz="2000" b="1" dirty="0">
                <a:solidFill>
                  <a:schemeClr val="tx1"/>
                </a:solidFill>
              </a:rPr>
              <a:t>Web </a:t>
            </a:r>
            <a:r>
              <a:rPr lang="fr-FR" sz="2000" b="1" dirty="0" err="1">
                <a:solidFill>
                  <a:schemeClr val="tx1"/>
                </a:solidFill>
              </a:rPr>
              <a:t>Scraping</a:t>
            </a:r>
            <a:endParaRPr lang="fr-FR" sz="2000" b="1" dirty="0">
              <a:solidFill>
                <a:schemeClr val="tx1"/>
              </a:solidFill>
            </a:endParaRPr>
          </a:p>
          <a:p>
            <a:pPr lvl="0"/>
            <a:r>
              <a:rPr lang="fr-FR" sz="2000" dirty="0">
                <a:solidFill>
                  <a:schemeClr val="tx1"/>
                </a:solidFill>
              </a:rPr>
              <a:t>Elle permet de:</a:t>
            </a:r>
          </a:p>
          <a:p>
            <a:pPr lvl="1"/>
            <a:r>
              <a:rPr lang="fr-FR" sz="2000" dirty="0">
                <a:solidFill>
                  <a:schemeClr val="tx1"/>
                </a:solidFill>
              </a:rPr>
              <a:t>rechercher des </a:t>
            </a:r>
            <a:r>
              <a:rPr lang="fr-FR" sz="2000" b="1" dirty="0">
                <a:solidFill>
                  <a:schemeClr val="tx1"/>
                </a:solidFill>
              </a:rPr>
              <a:t>balises HTML</a:t>
            </a:r>
            <a:r>
              <a:rPr lang="fr-FR" sz="2000" dirty="0">
                <a:solidFill>
                  <a:schemeClr val="tx1"/>
                </a:solidFill>
              </a:rPr>
              <a:t> ;</a:t>
            </a:r>
          </a:p>
          <a:p>
            <a:pPr lvl="1"/>
            <a:r>
              <a:rPr lang="fr-FR" sz="2000" dirty="0">
                <a:solidFill>
                  <a:schemeClr val="tx1"/>
                </a:solidFill>
              </a:rPr>
              <a:t>récupérer du </a:t>
            </a:r>
            <a:r>
              <a:rPr lang="fr-FR" sz="2000" b="1" dirty="0">
                <a:solidFill>
                  <a:schemeClr val="tx1"/>
                </a:solidFill>
              </a:rPr>
              <a:t>texte, </a:t>
            </a:r>
            <a:r>
              <a:rPr lang="fr-FR" sz="2000" dirty="0">
                <a:solidFill>
                  <a:schemeClr val="tx1"/>
                </a:solidFill>
              </a:rPr>
              <a:t>des </a:t>
            </a:r>
            <a:r>
              <a:rPr lang="fr-FR" sz="2000" b="1" dirty="0">
                <a:solidFill>
                  <a:schemeClr val="tx1"/>
                </a:solidFill>
              </a:rPr>
              <a:t>liens, </a:t>
            </a:r>
            <a:r>
              <a:rPr lang="fr-FR" sz="2000" dirty="0">
                <a:solidFill>
                  <a:schemeClr val="tx1"/>
                </a:solidFill>
              </a:rPr>
              <a:t>des </a:t>
            </a:r>
            <a:r>
              <a:rPr lang="fr-FR" sz="2000" b="1" dirty="0">
                <a:solidFill>
                  <a:schemeClr val="tx1"/>
                </a:solidFill>
              </a:rPr>
              <a:t>données</a:t>
            </a:r>
            <a:r>
              <a:rPr lang="fr-FR" sz="2000" dirty="0">
                <a:solidFill>
                  <a:schemeClr val="tx1"/>
                </a:solidFill>
              </a:rPr>
              <a:t> textes et </a:t>
            </a:r>
            <a:r>
              <a:rPr lang="fr-FR" sz="2000" b="1" dirty="0">
                <a:solidFill>
                  <a:schemeClr val="tx1"/>
                </a:solidFill>
              </a:rPr>
              <a:t>images</a:t>
            </a:r>
            <a:r>
              <a:rPr lang="fr-FR" sz="2000" dirty="0">
                <a:solidFill>
                  <a:schemeClr val="tx1"/>
                </a:solidFill>
              </a:rPr>
              <a:t> ;</a:t>
            </a:r>
          </a:p>
          <a:p>
            <a:pPr lvl="1"/>
            <a:r>
              <a:rPr lang="fr-FR" sz="2000" dirty="0">
                <a:solidFill>
                  <a:schemeClr val="tx1"/>
                </a:solidFill>
              </a:rPr>
              <a:t>parcourir la structure HTML ;</a:t>
            </a:r>
          </a:p>
          <a:p>
            <a:pPr lvl="1"/>
            <a:r>
              <a:rPr lang="fr-FR" sz="2000" dirty="0">
                <a:solidFill>
                  <a:schemeClr val="tx1"/>
                </a:solidFill>
              </a:rPr>
              <a:t>extraire des données pour ensuite les analyser [</a:t>
            </a:r>
            <a:r>
              <a:rPr lang="fr-FR" sz="2000" b="1" dirty="0">
                <a:solidFill>
                  <a:schemeClr val="tx1"/>
                </a:solidFill>
              </a:rPr>
              <a:t>Pandas]</a:t>
            </a:r>
            <a:endParaRPr lang="fr-FR" sz="20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EF344A1-3C33-AE37-7C9E-207E3F8C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098CF78-6FA5-3A59-7CD4-666E01C9E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60B6ED9-890A-42D6-2E73-28B1C9F0BD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06D35AA5-3665-35A6-A461-5AB0D05E9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961E8FD9-4EBE-BF8D-E175-0995E3FA6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1B7D14BB-DE70-471F-5FC1-F01F9904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6590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3F4AD-768D-4208-315F-14B66CDF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202C35-7260-2D3A-C906-0A8D9F3FB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[Mise en œuvre]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6695AC02-CAC1-3443-6B87-71F89C6AA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Installation:</a:t>
            </a: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pip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install</a:t>
            </a:r>
            <a:r>
              <a:rPr lang="fr-FR" sz="1800" dirty="0">
                <a:solidFill>
                  <a:schemeClr val="tx1"/>
                </a:solidFill>
              </a:rPr>
              <a:t> beautifulsoup4</a:t>
            </a: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pip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install</a:t>
            </a:r>
            <a:r>
              <a:rPr lang="fr-FR" sz="1800" dirty="0">
                <a:solidFill>
                  <a:schemeClr val="tx1"/>
                </a:solidFill>
              </a:rPr>
              <a:t> </a:t>
            </a:r>
            <a:r>
              <a:rPr lang="fr-FR" sz="1800" dirty="0" err="1">
                <a:solidFill>
                  <a:schemeClr val="tx1"/>
                </a:solidFill>
              </a:rPr>
              <a:t>requests</a:t>
            </a:r>
            <a:endParaRPr lang="fr-FR" sz="1800" dirty="0">
              <a:solidFill>
                <a:schemeClr val="tx1"/>
              </a:solidFill>
            </a:endParaRPr>
          </a:p>
          <a:p>
            <a:pPr algn="just"/>
            <a:r>
              <a:rPr lang="fr-FR" sz="2000" b="1" dirty="0">
                <a:solidFill>
                  <a:schemeClr val="tx1"/>
                </a:solidFill>
              </a:rPr>
              <a:t>Importer les packages: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import </a:t>
            </a:r>
            <a:r>
              <a:rPr lang="fr-FR" sz="1800" dirty="0" err="1">
                <a:solidFill>
                  <a:schemeClr val="tx1"/>
                </a:solidFill>
              </a:rPr>
              <a:t>requests</a:t>
            </a:r>
            <a:endParaRPr lang="fr-FR" sz="1800" dirty="0">
              <a:solidFill>
                <a:schemeClr val="tx1"/>
              </a:solidFill>
            </a:endParaRP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from</a:t>
            </a:r>
            <a:r>
              <a:rPr lang="fr-FR" sz="1800" dirty="0">
                <a:solidFill>
                  <a:schemeClr val="tx1"/>
                </a:solidFill>
              </a:rPr>
              <a:t> bs4 import </a:t>
            </a:r>
            <a:r>
              <a:rPr lang="fr-FR" sz="1800" dirty="0" err="1">
                <a:solidFill>
                  <a:schemeClr val="tx1"/>
                </a:solidFill>
              </a:rPr>
              <a:t>BeautifulSoup</a:t>
            </a:r>
            <a:endParaRPr lang="fr-FR" sz="1800" dirty="0">
              <a:solidFill>
                <a:schemeClr val="tx1"/>
              </a:solidFill>
            </a:endParaRP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import Pandas as </a:t>
            </a:r>
            <a:r>
              <a:rPr lang="fr-FR" sz="1800" dirty="0" err="1">
                <a:solidFill>
                  <a:schemeClr val="tx1"/>
                </a:solidFill>
              </a:rPr>
              <a:t>pd</a:t>
            </a:r>
            <a:endParaRPr lang="fr-FR" sz="1800" dirty="0">
              <a:solidFill>
                <a:schemeClr val="tx1"/>
              </a:solidFill>
            </a:endParaRPr>
          </a:p>
          <a:p>
            <a:pPr lvl="1" algn="just"/>
            <a:endParaRPr lang="fr-FR" sz="1800" dirty="0">
              <a:solidFill>
                <a:schemeClr val="tx1"/>
              </a:solidFill>
            </a:endParaRPr>
          </a:p>
          <a:p>
            <a:pPr lvl="1" algn="just"/>
            <a:endParaRPr lang="fr-FR" sz="18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2003054-BC38-2C7D-547B-9BA8B8764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05DB02B-79AA-CC92-3362-6A6D1C939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7EE86A9-C268-1333-DD49-86CAE01E27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1E9E53BD-DD2D-4B66-E726-71209FB9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EDC092B6-486A-B0A0-1E89-900CC8FF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487F0FF0-8949-4828-98DB-B3A73C848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8407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CC79-B931-FDE5-D971-BAD1E6055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BC8B63-3CC8-94EC-7EC0-1FA77D08F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[Mise en œuvre]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E4FEB078-6995-EB40-A3B1-1EE2D3694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Saisir l’URL: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url=« adresse de la page à </a:t>
            </a:r>
            <a:r>
              <a:rPr lang="fr-FR" sz="1800" dirty="0" err="1">
                <a:solidFill>
                  <a:schemeClr val="tx1"/>
                </a:solidFill>
              </a:rPr>
              <a:t>extracter</a:t>
            </a:r>
            <a:r>
              <a:rPr lang="fr-FR" sz="1800" dirty="0">
                <a:solidFill>
                  <a:schemeClr val="tx1"/>
                </a:solidFill>
              </a:rPr>
              <a:t> »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</a:rPr>
              <a:t>Importer le code de la page:</a:t>
            </a: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response</a:t>
            </a:r>
            <a:r>
              <a:rPr lang="fr-FR" sz="1800" dirty="0">
                <a:solidFill>
                  <a:schemeClr val="tx1"/>
                </a:solidFill>
              </a:rPr>
              <a:t>=</a:t>
            </a:r>
            <a:r>
              <a:rPr lang="fr-FR" sz="1800" dirty="0" err="1">
                <a:solidFill>
                  <a:schemeClr val="tx1"/>
                </a:solidFill>
              </a:rPr>
              <a:t>requests.get</a:t>
            </a:r>
            <a:r>
              <a:rPr lang="fr-FR" sz="1800" dirty="0">
                <a:solidFill>
                  <a:schemeClr val="tx1"/>
                </a:solidFill>
              </a:rPr>
              <a:t>(url)</a:t>
            </a: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soup</a:t>
            </a:r>
            <a:r>
              <a:rPr lang="fr-FR" sz="1800" dirty="0">
                <a:solidFill>
                  <a:schemeClr val="tx1"/>
                </a:solidFill>
              </a:rPr>
              <a:t>=</a:t>
            </a:r>
            <a:r>
              <a:rPr lang="fr-FR" sz="1800" dirty="0" err="1">
                <a:solidFill>
                  <a:schemeClr val="tx1"/>
                </a:solidFill>
              </a:rPr>
              <a:t>BeautifulSoup</a:t>
            </a:r>
            <a:r>
              <a:rPr lang="fr-FR" sz="1800" dirty="0">
                <a:solidFill>
                  <a:schemeClr val="tx1"/>
                </a:solidFill>
              </a:rPr>
              <a:t>(</a:t>
            </a:r>
            <a:r>
              <a:rPr lang="fr-FR" sz="1800" dirty="0" err="1">
                <a:solidFill>
                  <a:schemeClr val="tx1"/>
                </a:solidFill>
              </a:rPr>
              <a:t>response.text</a:t>
            </a:r>
            <a:r>
              <a:rPr lang="fr-FR" sz="1800" dirty="0">
                <a:solidFill>
                  <a:schemeClr val="tx1"/>
                </a:solidFill>
              </a:rPr>
              <a:t>, « </a:t>
            </a:r>
            <a:r>
              <a:rPr lang="fr-FR" sz="1800" dirty="0" err="1">
                <a:solidFill>
                  <a:schemeClr val="tx1"/>
                </a:solidFill>
              </a:rPr>
              <a:t>html.parser</a:t>
            </a:r>
            <a:r>
              <a:rPr lang="fr-FR" sz="1800" dirty="0">
                <a:solidFill>
                  <a:schemeClr val="tx1"/>
                </a:solidFill>
              </a:rPr>
              <a:t> »)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#affichage des informations brutes</a:t>
            </a: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soup</a:t>
            </a:r>
            <a:endParaRPr lang="fr-FR" sz="18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377958E-355F-2509-F9A4-CF3BCA8EA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A12A845-DF73-42F4-0B9A-9F43C70D2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DCDCE9E-5A0E-6625-12B0-112975E9CE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56F339C8-8CCE-1D2C-CE1B-3114894EE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20822E13-2BE4-CBC8-6B58-2B4BFC4D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58B23DB3-FC43-3FAB-ACBC-DD61B50D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6143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47331-E72A-0B6F-9C00-F5D99C099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7CDBA0-5DAD-AA55-FD9B-F638318A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[Mise en œuvre]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A60A37D4-EC2A-D883-B13F-B38FCB4E8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Rechercher éléments: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items=</a:t>
            </a:r>
            <a:r>
              <a:rPr lang="fr-FR" sz="1800" dirty="0" err="1">
                <a:solidFill>
                  <a:schemeClr val="tx1"/>
                </a:solidFill>
              </a:rPr>
              <a:t>soup.findAll</a:t>
            </a:r>
            <a:r>
              <a:rPr lang="fr-FR" sz="1800" dirty="0">
                <a:solidFill>
                  <a:schemeClr val="tx1"/>
                </a:solidFill>
              </a:rPr>
              <a:t>(‘item’)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items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# affichage du premier élément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items[0]</a:t>
            </a: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#afficher le titre de la page</a:t>
            </a: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Items.title.text</a:t>
            </a:r>
            <a:endParaRPr lang="fr-FR" sz="1800" dirty="0">
              <a:solidFill>
                <a:schemeClr val="tx1"/>
              </a:solidFill>
            </a:endParaRPr>
          </a:p>
          <a:p>
            <a:pPr marL="457200" lvl="1" indent="0" algn="just">
              <a:buNone/>
            </a:pPr>
            <a:r>
              <a:rPr lang="fr-FR" sz="1800" dirty="0" err="1">
                <a:solidFill>
                  <a:schemeClr val="tx1"/>
                </a:solidFill>
              </a:rPr>
              <a:t>Items.description.text</a:t>
            </a:r>
            <a:endParaRPr lang="fr-FR" sz="1800" dirty="0">
              <a:solidFill>
                <a:schemeClr val="tx1"/>
              </a:solidFill>
            </a:endParaRPr>
          </a:p>
          <a:p>
            <a:pPr marL="457200" lvl="1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….</a:t>
            </a:r>
          </a:p>
          <a:p>
            <a:pPr marL="457200" lvl="1" indent="0" algn="just">
              <a:buNone/>
            </a:pPr>
            <a:endParaRPr lang="fr-FR" sz="18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126F3AD-4AE8-3670-D466-F28310CD6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3293174-A451-C62D-D785-8A32FF93B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74E1E54-DF89-90E7-1D78-00578CAE54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586E9D93-04F0-4AC0-868A-25B82978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ECE7567B-889E-5C3C-6639-67D9A9F3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8BDDE8EF-B5EE-3892-D41F-A906A369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142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70350-6636-5684-D9DB-859A07989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3942CB-E2EF-8898-FEA3-BC17BCA4C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[Mise en œuvre]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9A2D60D5-6B3E-DD17-EE46-F0F58D748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Création de liste / tableau / dictionnaire:</a:t>
            </a:r>
          </a:p>
          <a:p>
            <a:pPr marL="0" indent="0" algn="just">
              <a:buNone/>
            </a:pPr>
            <a:r>
              <a:rPr lang="fr-FR" sz="2000" b="1" dirty="0">
                <a:solidFill>
                  <a:schemeClr val="tx1"/>
                </a:solidFill>
              </a:rPr>
              <a:t>	</a:t>
            </a:r>
            <a:r>
              <a:rPr lang="fr-FR" sz="2000" dirty="0" err="1">
                <a:solidFill>
                  <a:schemeClr val="tx1"/>
                </a:solidFill>
              </a:rPr>
              <a:t>news_items</a:t>
            </a:r>
            <a:r>
              <a:rPr lang="fr-FR" sz="2000" dirty="0">
                <a:solidFill>
                  <a:schemeClr val="tx1"/>
                </a:solidFill>
              </a:rPr>
              <a:t>[]</a:t>
            </a: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for i in items:</a:t>
            </a: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	</a:t>
            </a:r>
            <a:r>
              <a:rPr lang="fr-FR" sz="2000" dirty="0" err="1">
                <a:solidFill>
                  <a:schemeClr val="tx1"/>
                </a:solidFill>
              </a:rPr>
              <a:t>news_i</a:t>
            </a:r>
            <a:r>
              <a:rPr lang="fr-FR" sz="2000" dirty="0">
                <a:solidFill>
                  <a:schemeClr val="tx1"/>
                </a:solidFill>
              </a:rPr>
              <a:t>={}</a:t>
            </a: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	</a:t>
            </a:r>
            <a:r>
              <a:rPr lang="fr-FR" sz="2000" dirty="0" err="1">
                <a:solidFill>
                  <a:schemeClr val="tx1"/>
                </a:solidFill>
              </a:rPr>
              <a:t>news_i</a:t>
            </a:r>
            <a:r>
              <a:rPr lang="fr-FR" sz="2000" dirty="0">
                <a:solidFill>
                  <a:schemeClr val="tx1"/>
                </a:solidFill>
              </a:rPr>
              <a:t>[‘</a:t>
            </a:r>
            <a:r>
              <a:rPr lang="fr-FR" sz="2000" dirty="0" err="1">
                <a:solidFill>
                  <a:schemeClr val="tx1"/>
                </a:solidFill>
              </a:rPr>
              <a:t>title</a:t>
            </a:r>
            <a:r>
              <a:rPr lang="fr-FR" sz="2000" dirty="0">
                <a:solidFill>
                  <a:schemeClr val="tx1"/>
                </a:solidFill>
              </a:rPr>
              <a:t>’]=</a:t>
            </a:r>
            <a:r>
              <a:rPr lang="fr-FR" sz="2000" dirty="0" err="1">
                <a:solidFill>
                  <a:schemeClr val="tx1"/>
                </a:solidFill>
              </a:rPr>
              <a:t>i.title.text</a:t>
            </a:r>
            <a:endParaRPr lang="fr-FR" sz="20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	</a:t>
            </a:r>
            <a:r>
              <a:rPr lang="fr-FR" dirty="0" err="1">
                <a:solidFill>
                  <a:schemeClr val="tx1"/>
                </a:solidFill>
              </a:rPr>
              <a:t>news_i</a:t>
            </a:r>
            <a:r>
              <a:rPr lang="fr-FR" dirty="0">
                <a:solidFill>
                  <a:schemeClr val="tx1"/>
                </a:solidFill>
              </a:rPr>
              <a:t>[‘description’]=</a:t>
            </a:r>
            <a:r>
              <a:rPr lang="fr-FR" dirty="0" err="1">
                <a:solidFill>
                  <a:schemeClr val="tx1"/>
                </a:solidFill>
              </a:rPr>
              <a:t>i.description.text</a:t>
            </a:r>
            <a:endParaRPr lang="fr-FR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		……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tx1"/>
                </a:solidFill>
              </a:rPr>
              <a:t>		</a:t>
            </a:r>
            <a:r>
              <a:rPr lang="fr-FR" dirty="0" err="1">
                <a:solidFill>
                  <a:schemeClr val="tx1"/>
                </a:solidFill>
              </a:rPr>
              <a:t>news_items.append</a:t>
            </a:r>
            <a:r>
              <a:rPr lang="fr-FR" dirty="0">
                <a:solidFill>
                  <a:schemeClr val="tx1"/>
                </a:solidFill>
              </a:rPr>
              <a:t>(</a:t>
            </a:r>
            <a:r>
              <a:rPr lang="fr-FR" dirty="0" err="1">
                <a:solidFill>
                  <a:schemeClr val="tx1"/>
                </a:solidFill>
              </a:rPr>
              <a:t>news_i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pPr marL="0" indent="0" algn="just">
              <a:buNone/>
            </a:pPr>
            <a:r>
              <a:rPr lang="fr-FR" sz="1800" dirty="0">
                <a:solidFill>
                  <a:schemeClr val="tx1"/>
                </a:solidFill>
              </a:rPr>
              <a:t>		</a:t>
            </a:r>
            <a:r>
              <a:rPr lang="fr-FR" sz="1800" dirty="0" err="1">
                <a:solidFill>
                  <a:schemeClr val="tx1"/>
                </a:solidFill>
              </a:rPr>
              <a:t>news_</a:t>
            </a:r>
            <a:r>
              <a:rPr lang="fr-FR" dirty="0" err="1">
                <a:solidFill>
                  <a:schemeClr val="tx1"/>
                </a:solidFill>
              </a:rPr>
              <a:t>items</a:t>
            </a:r>
            <a:endParaRPr lang="fr-FR" sz="1800" dirty="0">
              <a:solidFill>
                <a:schemeClr val="tx1"/>
              </a:solidFill>
            </a:endParaRPr>
          </a:p>
          <a:p>
            <a:pPr marL="457200" lvl="1" indent="0" algn="just">
              <a:buNone/>
            </a:pPr>
            <a:endParaRPr lang="fr-FR" sz="1800" dirty="0">
              <a:solidFill>
                <a:schemeClr val="tx1"/>
              </a:solidFill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DF85F40-1C47-DAF6-5516-9B4E2CD32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161730B-57E2-4557-A955-311AB5F3D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3D74D4D-1557-DC04-541A-53214A308C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4B490CCF-4C2D-3698-6E25-8CBDA623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776308B7-EFA2-66F3-41CA-46DAE5AE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96D5AAB3-C853-349B-6536-9B5A6AAB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977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76F7-1BC6-66C4-D613-B30E7543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1C7ED-C107-E367-0F02-40A42772A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[Mise en œuvre]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BD45C88A-CF55-4F49-31D8-EBF200648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Convertir la liste en base de données:</a:t>
            </a:r>
            <a:endParaRPr lang="fr-FR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000" b="1" dirty="0">
                <a:solidFill>
                  <a:schemeClr val="tx1"/>
                </a:solidFill>
              </a:rPr>
              <a:t>	</a:t>
            </a:r>
            <a:r>
              <a:rPr lang="fr-FR" sz="2000" dirty="0" err="1">
                <a:solidFill>
                  <a:schemeClr val="tx1"/>
                </a:solidFill>
              </a:rPr>
              <a:t>df</a:t>
            </a:r>
            <a:r>
              <a:rPr lang="fr-FR" sz="2000" dirty="0">
                <a:solidFill>
                  <a:schemeClr val="tx1"/>
                </a:solidFill>
              </a:rPr>
              <a:t>=</a:t>
            </a:r>
            <a:r>
              <a:rPr lang="fr-FR" sz="2000" dirty="0" err="1">
                <a:solidFill>
                  <a:schemeClr val="tx1"/>
                </a:solidFill>
              </a:rPr>
              <a:t>pd.DataFrame</a:t>
            </a:r>
            <a:r>
              <a:rPr lang="fr-FR" sz="2000" dirty="0">
                <a:solidFill>
                  <a:schemeClr val="tx1"/>
                </a:solidFill>
              </a:rPr>
              <a:t>(</a:t>
            </a:r>
            <a:r>
              <a:rPr lang="fr-FR" sz="2000" dirty="0" err="1">
                <a:solidFill>
                  <a:schemeClr val="tx1"/>
                </a:solidFill>
              </a:rPr>
              <a:t>new_items</a:t>
            </a:r>
            <a:r>
              <a:rPr lang="fr-FR" sz="2000" dirty="0">
                <a:solidFill>
                  <a:schemeClr val="tx1"/>
                </a:solidFill>
              </a:rPr>
              <a:t>, </a:t>
            </a:r>
            <a:r>
              <a:rPr lang="fr-FR" sz="2000" dirty="0" err="1">
                <a:solidFill>
                  <a:schemeClr val="tx1"/>
                </a:solidFill>
              </a:rPr>
              <a:t>columns</a:t>
            </a:r>
            <a:r>
              <a:rPr lang="fr-FR" sz="2000" dirty="0">
                <a:solidFill>
                  <a:schemeClr val="tx1"/>
                </a:solidFill>
              </a:rPr>
              <a:t>=[‘</a:t>
            </a:r>
            <a:r>
              <a:rPr lang="fr-FR" sz="2000" dirty="0" err="1">
                <a:solidFill>
                  <a:schemeClr val="tx1"/>
                </a:solidFill>
              </a:rPr>
              <a:t>title</a:t>
            </a:r>
            <a:r>
              <a:rPr lang="fr-FR" sz="2000" dirty="0">
                <a:solidFill>
                  <a:schemeClr val="tx1"/>
                </a:solidFill>
              </a:rPr>
              <a:t>’, ‘description’, …])</a:t>
            </a: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</a:t>
            </a:r>
            <a:r>
              <a:rPr lang="fr-FR" sz="2000" dirty="0" err="1">
                <a:solidFill>
                  <a:schemeClr val="tx1"/>
                </a:solidFill>
              </a:rPr>
              <a:t>df.head</a:t>
            </a:r>
            <a:r>
              <a:rPr lang="fr-FR" sz="2000" dirty="0">
                <a:solidFill>
                  <a:schemeClr val="tx1"/>
                </a:solidFill>
              </a:rPr>
              <a:t>()</a:t>
            </a: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#afficher 10 lignes</a:t>
            </a:r>
          </a:p>
          <a:p>
            <a:pPr marL="0" indent="0" algn="just">
              <a:buNone/>
            </a:pPr>
            <a:r>
              <a:rPr lang="fr-FR" sz="2000" dirty="0">
                <a:solidFill>
                  <a:schemeClr val="tx1"/>
                </a:solidFill>
              </a:rPr>
              <a:t>	</a:t>
            </a:r>
            <a:r>
              <a:rPr lang="fr-FR" sz="2000" dirty="0" err="1">
                <a:solidFill>
                  <a:schemeClr val="tx1"/>
                </a:solidFill>
              </a:rPr>
              <a:t>df.head</a:t>
            </a:r>
            <a:r>
              <a:rPr lang="fr-FR" sz="2000" dirty="0">
                <a:solidFill>
                  <a:schemeClr val="tx1"/>
                </a:solidFill>
              </a:rPr>
              <a:t>(10)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D788BBF5-BED5-E4A8-98E0-88644ED7A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8B686566-BB55-2400-96AC-95D3E1436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75D1D8E1-D658-3F68-8E3E-55806D0672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80C1711D-DA07-7973-F45A-F60E9BC9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613C877C-6F71-C146-D6F8-FCAC8A58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ADCA5AC6-200C-B186-45B0-44FA768B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0039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8410A-0729-8BB7-AE9B-1E7805F6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840278-9EBC-4545-93E5-FA0D95C4E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5" y="1055909"/>
            <a:ext cx="5976257" cy="117565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BeautifulSoup</a:t>
            </a:r>
            <a:br>
              <a:rPr lang="fr-FR" dirty="0"/>
            </a:br>
            <a:r>
              <a:rPr lang="fr-FR" dirty="0"/>
              <a:t>[Mise en œuvre]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936FD99-AB47-428B-C527-70C0E3177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68192"/>
            <a:ext cx="8596668" cy="3838465"/>
          </a:xfrm>
        </p:spPr>
        <p:txBody>
          <a:bodyPr>
            <a:normAutofit/>
          </a:bodyPr>
          <a:lstStyle/>
          <a:p>
            <a:pPr algn="just"/>
            <a:r>
              <a:rPr lang="fr-FR" sz="2000" b="1" dirty="0">
                <a:solidFill>
                  <a:schemeClr val="tx1"/>
                </a:solidFill>
              </a:rPr>
              <a:t>Générer le fichier csv:</a:t>
            </a:r>
            <a:endParaRPr lang="fr-FR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000" b="1" dirty="0">
                <a:solidFill>
                  <a:schemeClr val="tx1"/>
                </a:solidFill>
              </a:rPr>
              <a:t>	</a:t>
            </a:r>
            <a:r>
              <a:rPr lang="fr-FR" sz="2000" dirty="0" err="1">
                <a:solidFill>
                  <a:schemeClr val="tx1"/>
                </a:solidFill>
              </a:rPr>
              <a:t>df.to_csv</a:t>
            </a:r>
            <a:r>
              <a:rPr lang="fr-FR" sz="2000" dirty="0">
                <a:solidFill>
                  <a:schemeClr val="tx1"/>
                </a:solidFill>
              </a:rPr>
              <a:t>(‘</a:t>
            </a:r>
            <a:r>
              <a:rPr lang="fr-FR" sz="2000" dirty="0" err="1">
                <a:solidFill>
                  <a:schemeClr val="tx1"/>
                </a:solidFill>
              </a:rPr>
              <a:t>web_scraping_out.csv</a:t>
            </a:r>
            <a:r>
              <a:rPr lang="fr-FR" sz="2000" dirty="0">
                <a:solidFill>
                  <a:schemeClr val="tx1"/>
                </a:solidFill>
              </a:rPr>
              <a:t>’, index=False, </a:t>
            </a:r>
            <a:r>
              <a:rPr lang="fr-FR" sz="2000" dirty="0" err="1">
                <a:solidFill>
                  <a:schemeClr val="tx1"/>
                </a:solidFill>
              </a:rPr>
              <a:t>encoding</a:t>
            </a:r>
            <a:r>
              <a:rPr lang="fr-FR" sz="2000" dirty="0">
                <a:solidFill>
                  <a:schemeClr val="tx1"/>
                </a:solidFill>
              </a:rPr>
              <a:t>=‘utf-8’)</a:t>
            </a:r>
          </a:p>
          <a:p>
            <a:pPr marL="0" indent="0" algn="just">
              <a:buNone/>
            </a:pPr>
            <a:endParaRPr lang="fr-FR" sz="2000" b="1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fr-FR" sz="2000" b="1" dirty="0">
                <a:solidFill>
                  <a:schemeClr val="tx1"/>
                </a:solidFill>
              </a:rPr>
              <a:t>Retrouver le fichier csv et à télécharger!!!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94F9917-CFEB-0CC8-D5D7-C88BEAC4E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87" y="116452"/>
            <a:ext cx="1005114" cy="120219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1033212-2DB1-9609-3D88-30903AA4E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861" y="220094"/>
            <a:ext cx="1005114" cy="10051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EDF737D4-227F-24E7-0D0F-1C2234E399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74" t="33858" r="13868" b="29993"/>
          <a:stretch>
            <a:fillRect/>
          </a:stretch>
        </p:blipFill>
        <p:spPr>
          <a:xfrm>
            <a:off x="0" y="12925"/>
            <a:ext cx="2226742" cy="1104900"/>
          </a:xfrm>
          <a:prstGeom prst="rect">
            <a:avLst/>
          </a:prstGeom>
        </p:spPr>
      </p:pic>
      <p:sp>
        <p:nvSpPr>
          <p:cNvPr id="18" name="Espace réservé de la date 17">
            <a:extLst>
              <a:ext uri="{FF2B5EF4-FFF2-40B4-BE49-F238E27FC236}">
                <a16:creationId xmlns:a16="http://schemas.microsoft.com/office/drawing/2014/main" id="{D0E56F07-E8B9-025B-9F21-5E7556B9E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2C3E8-803F-7A43-9247-3BA625675C44}" type="datetime2">
              <a:rPr lang="fr-FR" smtClean="0"/>
              <a:t>mardi 18 août 2026</a:t>
            </a:fld>
            <a:endParaRPr lang="fr-FR"/>
          </a:p>
        </p:txBody>
      </p:sp>
      <p:sp>
        <p:nvSpPr>
          <p:cNvPr id="19" name="Espace réservé du pied de page 18">
            <a:extLst>
              <a:ext uri="{FF2B5EF4-FFF2-40B4-BE49-F238E27FC236}">
                <a16:creationId xmlns:a16="http://schemas.microsoft.com/office/drawing/2014/main" id="{A4AA69FC-7CA8-E5C9-011E-C32A763D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William - ODC - 2026</a:t>
            </a: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A1E41868-C9F2-5C9D-C02F-F20AC592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A0388-B08A-D149-8117-CAAD684FBECB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65282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{ECE80127-14BE-7545-9EA9-42EDA82B2A6C}TFcf488932-7984-4950-a1ef-8fba56a4224ac0cdb1e3-d167ae73de9c</Template>
  <TotalTime>1139</TotalTime>
  <Words>2046</Words>
  <Application>Microsoft Office PowerPoint</Application>
  <PresentationFormat>Grand écran</PresentationFormat>
  <Paragraphs>315</Paragraphs>
  <Slides>32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7" baseType="lpstr">
      <vt:lpstr>Arial</vt:lpstr>
      <vt:lpstr>Calibri</vt:lpstr>
      <vt:lpstr>Trebuchet MS</vt:lpstr>
      <vt:lpstr>Wingdings 3</vt:lpstr>
      <vt:lpstr>Facette</vt:lpstr>
      <vt:lpstr>COLLECTE &amp; PENDAS</vt:lpstr>
      <vt:lpstr>Web apps &amp; scraping [Moissonnage web]</vt:lpstr>
      <vt:lpstr>Web apps &amp; scraping [Moissonnage web]</vt:lpstr>
      <vt:lpstr>Web apps &amp; scraping [Moissonnage web]</vt:lpstr>
      <vt:lpstr>Web apps &amp; scraping [Moissonnage web]</vt:lpstr>
      <vt:lpstr>Web apps &amp; scraping [Moissonnage web]</vt:lpstr>
      <vt:lpstr>Web apps &amp; scraping [Moissonnage web]</vt:lpstr>
      <vt:lpstr>Web apps [Application web]</vt:lpstr>
      <vt:lpstr>Web apps [Application web]</vt:lpstr>
      <vt:lpstr>Web apps [Application web]</vt:lpstr>
      <vt:lpstr>Web apps [Application web]</vt:lpstr>
      <vt:lpstr>Web apps [Application web]</vt:lpstr>
      <vt:lpstr>Web apps [Application web]</vt:lpstr>
      <vt:lpstr>Web apps [Protocole]</vt:lpstr>
      <vt:lpstr>Web apps [A retenir]</vt:lpstr>
      <vt:lpstr>Web apps [XML - DOM]</vt:lpstr>
      <vt:lpstr>Web apps [XML - DOM]</vt:lpstr>
      <vt:lpstr>Web apps [XML - DOM]</vt:lpstr>
      <vt:lpstr>Web apps [XML - DOM]</vt:lpstr>
      <vt:lpstr>Web apps [XML - DOM]</vt:lpstr>
      <vt:lpstr>Web apps [XML – DOM]</vt:lpstr>
      <vt:lpstr>XML – DOM - Python Exemple</vt:lpstr>
      <vt:lpstr>XML – DOM - Python Exemple</vt:lpstr>
      <vt:lpstr>XML – DOM - Python Exemple</vt:lpstr>
      <vt:lpstr>XML – DOM - Python Exemple</vt:lpstr>
      <vt:lpstr>BeautifulSoup [Définition]</vt:lpstr>
      <vt:lpstr>BeautifulSoup [Mise en œuvre]</vt:lpstr>
      <vt:lpstr>BeautifulSoup [Mise en œuvre]</vt:lpstr>
      <vt:lpstr>BeautifulSoup [Mise en œuvre]</vt:lpstr>
      <vt:lpstr>BeautifulSoup [Mise en œuvre]</vt:lpstr>
      <vt:lpstr>BeautifulSoup [Mise en œuvre]</vt:lpstr>
      <vt:lpstr>BeautifulSoup [Mise en œuvre]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</dc:creator>
  <cp:lastModifiedBy>PC05, EDC</cp:lastModifiedBy>
  <cp:revision>141</cp:revision>
  <dcterms:created xsi:type="dcterms:W3CDTF">2026-08-17T12:26:27Z</dcterms:created>
  <dcterms:modified xsi:type="dcterms:W3CDTF">2026-08-18T08:58:42Z</dcterms:modified>
</cp:coreProperties>
</file>