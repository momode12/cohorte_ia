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88950"/>
  <p:notesSz cx="6858000" cy="12188950"/>
  <p:embeddedFontLst>
    <p:embeddedFont>
      <p:font typeface="Golos Text"/>
      <p:regular r:id="rId20"/>
      <p:bold r:id="rId21"/>
    </p:embeddedFont>
    <p:embeddedFont>
      <p:font typeface="Golos Text Medium"/>
      <p:regular r:id="rId22"/>
      <p:bold r:id="rId23"/>
    </p:embeddedFont>
    <p:embeddedFont>
      <p:font typeface="Open Sans ExtraBold"/>
      <p:bold r:id="rId24"/>
      <p:boldItalic r:id="rId25"/>
    </p:embeddedFont>
    <p:embeddedFont>
      <p:font typeface="Golos Text SemiBold"/>
      <p:regular r:id="rId26"/>
      <p:bold r:id="rId27"/>
    </p:embeddedFont>
    <p:embeddedFont>
      <p:font typeface="Open Sa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02FF4C-C538-46AD-83A8-E4EA13E49821}">
  <a:tblStyle styleId="{EB02FF4C-C538-46AD-83A8-E4EA13E498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-regular.fntdata"/><Relationship Id="rId22" Type="http://schemas.openxmlformats.org/officeDocument/2006/relationships/font" Target="fonts/GolosTextMedium-regular.fntdata"/><Relationship Id="rId21" Type="http://schemas.openxmlformats.org/officeDocument/2006/relationships/font" Target="fonts/GolosText-bold.fntdata"/><Relationship Id="rId24" Type="http://schemas.openxmlformats.org/officeDocument/2006/relationships/font" Target="fonts/OpenSansExtraBold-bold.fntdata"/><Relationship Id="rId23" Type="http://schemas.openxmlformats.org/officeDocument/2006/relationships/font" Target="fonts/GolosText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losTextSemiBold-regular.fntdata"/><Relationship Id="rId25" Type="http://schemas.openxmlformats.org/officeDocument/2006/relationships/font" Target="fonts/OpenSansExtraBold-boldItalic.fntdata"/><Relationship Id="rId28" Type="http://schemas.openxmlformats.org/officeDocument/2006/relationships/font" Target="fonts/OpenSans-bold.fntdata"/><Relationship Id="rId27" Type="http://schemas.openxmlformats.org/officeDocument/2006/relationships/font" Target="fonts/GolosTex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6cd585e50_94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f6cd585e50_94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6cd585e50_94_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6cd585e50_94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g3f6cd585e50_94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6cd585e50_94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e1003bea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6e1003bea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6e1003bea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6e1003bea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6e1003bea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f6e1003bea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e1003bea_99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6e1003bea_99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6e1003bea_99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e1003bea_99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f6e1003bea_99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6e1003bea_99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6e1003bea_99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6e1003bea_99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6e1003bea_99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6e1003bea_99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f6e1003bea_99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6e1003bea_99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6cd585e50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6cd585e50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6cd585e50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00000">
            <a:off x="-1931926" y="4666040"/>
            <a:ext cx="3862053" cy="38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19">
            <a:off x="9632569" y="-1960843"/>
            <a:ext cx="4907437" cy="490743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9211479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143500" y="1285875"/>
            <a:ext cx="1905000" cy="342900"/>
          </a:xfrm>
          <a:prstGeom prst="flowChartAlternateProcess">
            <a:avLst/>
          </a:prstGeom>
          <a:solidFill>
            <a:srgbClr val="E6EFFA"/>
          </a:solidFill>
          <a:ln cap="flat" cmpd="sng" w="14300">
            <a:solidFill>
              <a:srgbClr val="4B8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SUPPORT DE TP</a:t>
            </a:r>
            <a:endParaRPr b="1" sz="1100">
              <a:solidFill>
                <a:srgbClr val="1B3B6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333500" y="1857375"/>
            <a:ext cx="9525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1B3B6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Apache </a:t>
            </a:r>
            <a:r>
              <a:rPr b="0" lang="en-US" sz="5400">
                <a:solidFill>
                  <a:srgbClr val="4B86D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Superset</a:t>
            </a:r>
            <a:endParaRPr b="0" sz="5400">
              <a:solidFill>
                <a:srgbClr val="1B3B6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333500" y="2905125"/>
            <a:ext cx="952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B6472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Installation Docker Compose &amp; prise en main par la pratique</a:t>
            </a:r>
            <a:endParaRPr b="0" sz="1800">
              <a:solidFill>
                <a:srgbClr val="5B6472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476500" y="3714750"/>
            <a:ext cx="2095500" cy="381000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Windows · macOS · Linux</a:t>
            </a:r>
            <a:endParaRPr b="0" sz="1100">
              <a:solidFill>
                <a:srgbClr val="1B3B6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762500" y="3714750"/>
            <a:ext cx="1524000" cy="381000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Docker Compose</a:t>
            </a:r>
            <a:endParaRPr b="0" sz="1100">
              <a:solidFill>
                <a:srgbClr val="1B3B6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77000" y="3714750"/>
            <a:ext cx="1524000" cy="381000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Dataset Kaggle</a:t>
            </a:r>
            <a:endParaRPr b="0" sz="1100">
              <a:solidFill>
                <a:srgbClr val="1B3B6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191500" y="3714750"/>
            <a:ext cx="1524000" cy="381000"/>
          </a:xfrm>
          <a:prstGeom prst="rect">
            <a:avLst/>
          </a:prstGeom>
          <a:solidFill>
            <a:srgbClr val="E6EF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Dashboard final</a:t>
            </a:r>
            <a:endParaRPr b="0" sz="1100">
              <a:solidFill>
                <a:srgbClr val="1B3B6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333500" y="5522976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Elaboré par : </a:t>
            </a: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Shirley TAFITA </a:t>
            </a:r>
            <a:r>
              <a:rPr b="0" lang="en-US" sz="110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&amp;</a:t>
            </a: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 Davys RASOANAIVO</a:t>
            </a:r>
            <a:r>
              <a:rPr b="0" lang="en-US" sz="110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· Durée indicative : </a:t>
            </a: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2h30</a:t>
            </a:r>
            <a:r>
              <a:rPr b="0" lang="en-US" sz="110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· Public : </a:t>
            </a:r>
            <a:r>
              <a:rPr b="0" lang="en-US" sz="11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apprenants Data / BI</a:t>
            </a:r>
            <a:endParaRPr b="0" sz="110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420624" y="6428300"/>
            <a:ext cx="192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1B3B6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6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Objectifs du TP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472184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Open Sans"/>
              <a:buNone/>
            </a:pPr>
            <a:r>
              <a:rPr i="0" lang="en-US" sz="1200" u="none" cap="none" strike="noStrike">
                <a:solidFill>
                  <a:srgbClr val="5B6472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À l'issue de ce TP, chaque apprenant sera capable de :</a:t>
            </a:r>
            <a:endParaRPr i="0" sz="1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39" name="Google Shape;39;p4"/>
          <p:cNvGrpSpPr/>
          <p:nvPr/>
        </p:nvGrpSpPr>
        <p:grpSpPr>
          <a:xfrm>
            <a:off x="576072" y="2095500"/>
            <a:ext cx="3429000" cy="4000500"/>
            <a:chOff x="552450" y="2095500"/>
            <a:chExt cx="3429000" cy="4000500"/>
          </a:xfrm>
        </p:grpSpPr>
        <p:sp>
          <p:nvSpPr>
            <p:cNvPr id="40" name="Google Shape;40;p4"/>
            <p:cNvSpPr/>
            <p:nvPr/>
          </p:nvSpPr>
          <p:spPr>
            <a:xfrm>
              <a:off x="552450" y="209550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E6E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762000" y="2305050"/>
              <a:ext cx="533400" cy="5334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762000" y="230505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 b="1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;p4"/>
            <p:cNvSpPr txBox="1"/>
            <p:nvPr/>
          </p:nvSpPr>
          <p:spPr>
            <a:xfrm>
              <a:off x="781050" y="3048000"/>
              <a:ext cx="29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Déployer Superset avec Docker</a:t>
              </a:r>
              <a:endParaRPr b="1" sz="15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44" name="Google Shape;44;p4"/>
            <p:cNvSpPr txBox="1"/>
            <p:nvPr/>
          </p:nvSpPr>
          <p:spPr>
            <a:xfrm>
              <a:off x="781050" y="3714750"/>
              <a:ext cx="29718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Installer et lancer Apache Superset via Docker Compose.</a:t>
              </a:r>
              <a:endParaRPr sz="1300">
                <a:solidFill>
                  <a:srgbClr val="333333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Compatible avec Windows, macOS, et Linux.</a:t>
              </a:r>
              <a:endParaRPr sz="11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4407408" y="2095500"/>
            <a:ext cx="3429000" cy="4000500"/>
            <a:chOff x="4381500" y="2095500"/>
            <a:chExt cx="3429000" cy="4000500"/>
          </a:xfrm>
        </p:grpSpPr>
        <p:sp>
          <p:nvSpPr>
            <p:cNvPr id="46" name="Google Shape;46;p4"/>
            <p:cNvSpPr/>
            <p:nvPr/>
          </p:nvSpPr>
          <p:spPr>
            <a:xfrm>
              <a:off x="4381500" y="209550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E6E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4591050" y="2305050"/>
              <a:ext cx="533400" cy="5334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 txBox="1"/>
            <p:nvPr/>
          </p:nvSpPr>
          <p:spPr>
            <a:xfrm>
              <a:off x="4591050" y="230505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 b="1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4610100" y="3048000"/>
              <a:ext cx="29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Ingérer</a:t>
              </a: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 des </a:t>
              </a: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données</a:t>
              </a:r>
              <a:endParaRPr b="1" sz="15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4610100" y="3714750"/>
              <a:ext cx="29718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Charger un jeu de données dans Superset.</a:t>
              </a:r>
              <a:endParaRPr b="0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Via l’interface graphique et via le back-end.</a:t>
              </a:r>
              <a:endParaRPr b="0" sz="1150">
                <a:solidFill>
                  <a:srgbClr val="5B647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8229600" y="2095500"/>
            <a:ext cx="3429000" cy="4000500"/>
            <a:chOff x="8210550" y="2095500"/>
            <a:chExt cx="3429000" cy="4000500"/>
          </a:xfrm>
        </p:grpSpPr>
        <p:sp>
          <p:nvSpPr>
            <p:cNvPr id="52" name="Google Shape;52;p4"/>
            <p:cNvSpPr/>
            <p:nvPr/>
          </p:nvSpPr>
          <p:spPr>
            <a:xfrm>
              <a:off x="8210550" y="209550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E6E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420100" y="2305050"/>
              <a:ext cx="533400" cy="5334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 txBox="1"/>
            <p:nvPr/>
          </p:nvSpPr>
          <p:spPr>
            <a:xfrm>
              <a:off x="8420100" y="2305050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 b="1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" name="Google Shape;55;p4"/>
            <p:cNvSpPr txBox="1"/>
            <p:nvPr/>
          </p:nvSpPr>
          <p:spPr>
            <a:xfrm>
              <a:off x="8439150" y="3048000"/>
              <a:ext cx="2971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Construire </a:t>
              </a: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des</a:t>
              </a: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 insights</a:t>
              </a:r>
              <a:endParaRPr b="1" sz="15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56" name="Google Shape;56;p4"/>
            <p:cNvSpPr txBox="1"/>
            <p:nvPr/>
          </p:nvSpPr>
          <p:spPr>
            <a:xfrm>
              <a:off x="8439150" y="3714750"/>
              <a:ext cx="29718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33333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Explorer un jeu de données métier multi-thématique (ventes, produits, clients).</a:t>
              </a:r>
              <a:endParaRPr b="0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Livrer un dashboard interactif complet répondant à un backlog produit défini.</a:t>
              </a:r>
              <a:endParaRPr b="0" sz="1150">
                <a:solidFill>
                  <a:srgbClr val="5B647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7" name="Google Shape;57;p4"/>
          <p:cNvSpPr/>
          <p:nvPr/>
        </p:nvSpPr>
        <p:spPr>
          <a:xfrm>
            <a:off x="11134908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62" name="Google Shape;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Plan du TP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70" name="Google Shape;70;p5"/>
          <p:cNvGrpSpPr/>
          <p:nvPr/>
        </p:nvGrpSpPr>
        <p:grpSpPr>
          <a:xfrm>
            <a:off x="571500" y="2000250"/>
            <a:ext cx="11049000" cy="3238500"/>
            <a:chOff x="571500" y="2000250"/>
            <a:chExt cx="11049000" cy="3238500"/>
          </a:xfrm>
        </p:grpSpPr>
        <p:sp>
          <p:nvSpPr>
            <p:cNvPr id="71" name="Google Shape;71;p5"/>
            <p:cNvSpPr/>
            <p:nvPr/>
          </p:nvSpPr>
          <p:spPr>
            <a:xfrm>
              <a:off x="571500" y="200025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571500" y="2000250"/>
              <a:ext cx="2476500" cy="954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762000" y="2333625"/>
              <a:ext cx="857400" cy="304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762000" y="2333625"/>
              <a:ext cx="857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Étape 01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75" name="Google Shape;75;p5"/>
            <p:cNvSpPr txBox="1"/>
            <p:nvPr/>
          </p:nvSpPr>
          <p:spPr>
            <a:xfrm>
              <a:off x="762000" y="2809875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Installer Docker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Selon votre OS</a:t>
              </a:r>
              <a:r>
                <a:rPr b="0"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.</a:t>
              </a:r>
              <a:endParaRPr b="0" sz="11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pic>
          <p:nvPicPr>
            <p:cNvPr id="76" name="Google Shape;7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76588" y="3509963"/>
              <a:ext cx="104700" cy="18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5"/>
            <p:cNvSpPr/>
            <p:nvPr/>
          </p:nvSpPr>
          <p:spPr>
            <a:xfrm>
              <a:off x="3429000" y="200025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3429000" y="2000250"/>
              <a:ext cx="2476500" cy="954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3619500" y="2333625"/>
              <a:ext cx="857400" cy="3048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 txBox="1"/>
            <p:nvPr/>
          </p:nvSpPr>
          <p:spPr>
            <a:xfrm>
              <a:off x="3619500" y="2333625"/>
              <a:ext cx="857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Étape 02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81" name="Google Shape;81;p5"/>
            <p:cNvSpPr txBox="1"/>
            <p:nvPr/>
          </p:nvSpPr>
          <p:spPr>
            <a:xfrm>
              <a:off x="3619500" y="2809875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Déployer Superset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Via Docker Compose</a:t>
              </a:r>
              <a:r>
                <a:rPr b="0"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.</a:t>
              </a:r>
              <a:endParaRPr b="0" sz="11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34088" y="3509963"/>
              <a:ext cx="104700" cy="18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5"/>
            <p:cNvSpPr/>
            <p:nvPr/>
          </p:nvSpPr>
          <p:spPr>
            <a:xfrm>
              <a:off x="6286500" y="200025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286500" y="2000250"/>
              <a:ext cx="2476500" cy="954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6477000" y="2333625"/>
              <a:ext cx="857400" cy="304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6477000" y="2333625"/>
              <a:ext cx="857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Étape 03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87" name="Google Shape;87;p5"/>
            <p:cNvSpPr txBox="1"/>
            <p:nvPr/>
          </p:nvSpPr>
          <p:spPr>
            <a:xfrm>
              <a:off x="6477000" y="2809875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Ingérer les données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UI + back-end</a:t>
              </a:r>
              <a:r>
                <a:rPr b="0"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.</a:t>
              </a:r>
              <a:endParaRPr b="0" sz="11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pic>
          <p:nvPicPr>
            <p:cNvPr id="88" name="Google Shape;8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91588" y="3509963"/>
              <a:ext cx="104700" cy="180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5"/>
            <p:cNvSpPr/>
            <p:nvPr/>
          </p:nvSpPr>
          <p:spPr>
            <a:xfrm>
              <a:off x="9144000" y="2000250"/>
              <a:ext cx="2476500" cy="3238500"/>
            </a:xfrm>
            <a:prstGeom prst="roundRect">
              <a:avLst>
                <a:gd fmla="val 6153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9144000" y="2000250"/>
              <a:ext cx="2476500" cy="954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9334500" y="2333625"/>
              <a:ext cx="857400" cy="3048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5"/>
            <p:cNvSpPr txBox="1"/>
            <p:nvPr/>
          </p:nvSpPr>
          <p:spPr>
            <a:xfrm>
              <a:off x="9334500" y="2333625"/>
              <a:ext cx="857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Étape 04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93" name="Google Shape;93;p5"/>
            <p:cNvSpPr txBox="1"/>
            <p:nvPr/>
          </p:nvSpPr>
          <p:spPr>
            <a:xfrm>
              <a:off x="9334500" y="2809875"/>
              <a:ext cx="2095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Livrer le dashboard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Backlog d’insights</a:t>
              </a:r>
              <a:r>
                <a:rPr b="0" lang="en-US" sz="11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.</a:t>
              </a:r>
              <a:endParaRPr b="0" sz="11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94" name="Google Shape;94;p5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Pourquoi Docker Compose ?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07" name="Google Shape;107;p6"/>
          <p:cNvGrpSpPr/>
          <p:nvPr/>
        </p:nvGrpSpPr>
        <p:grpSpPr>
          <a:xfrm>
            <a:off x="547688" y="1524000"/>
            <a:ext cx="5049353" cy="4667400"/>
            <a:chOff x="547688" y="1524000"/>
            <a:chExt cx="5049353" cy="4667400"/>
          </a:xfrm>
        </p:grpSpPr>
        <p:sp>
          <p:nvSpPr>
            <p:cNvPr id="108" name="Google Shape;108;p6"/>
            <p:cNvSpPr/>
            <p:nvPr/>
          </p:nvSpPr>
          <p:spPr>
            <a:xfrm>
              <a:off x="548640" y="1524000"/>
              <a:ext cx="5048400" cy="4667400"/>
            </a:xfrm>
            <a:prstGeom prst="roundRect">
              <a:avLst>
                <a:gd fmla="val 3265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" name="Google Shape;10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7688" y="1524000"/>
              <a:ext cx="157200" cy="36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6"/>
            <p:cNvSpPr txBox="1"/>
            <p:nvPr/>
          </p:nvSpPr>
          <p:spPr>
            <a:xfrm>
              <a:off x="809625" y="1714500"/>
              <a:ext cx="452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La méthode recommandée pour un TP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334155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Superset propose plusieurs méthodes d'installation (pip, Docker Compose, Kubernetes). Pour un TP en salle avec des postes hétérogènes, Docker Compose est la méthode que l'équipe Superset elle-même recommande pour une prise en main rapide, en environnement de type bac à sable / développement.</a:t>
              </a:r>
              <a:endParaRPr sz="1150">
                <a:solidFill>
                  <a:srgbClr val="334155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B45309"/>
                  </a:solidFill>
                  <a:highlight>
                    <a:srgbClr val="FFFBEB"/>
                  </a:highlight>
                  <a:latin typeface="Golos Text"/>
                  <a:ea typeface="Golos Text"/>
                  <a:cs typeface="Golos Text"/>
                  <a:sym typeface="Golos Text"/>
                </a:rPr>
                <a:t>⚠️ À ne pas utiliser telle quelle en production.</a:t>
              </a:r>
              <a:endParaRPr b="1" sz="1200">
                <a:solidFill>
                  <a:srgbClr val="B45309"/>
                </a:solidFill>
                <a:highlight>
                  <a:srgbClr val="FFFBEB"/>
                </a:highlight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1" lang="en-US" sz="1000">
                  <a:solidFill>
                    <a:srgbClr val="78350F"/>
                  </a:solidFill>
                  <a:highlight>
                    <a:srgbClr val="FFFBEB"/>
                  </a:highlight>
                  <a:latin typeface="Golos Text"/>
                  <a:ea typeface="Golos Text"/>
                  <a:cs typeface="Golos Text"/>
                  <a:sym typeface="Golos Text"/>
                </a:rPr>
                <a:t>Doc. officielle : superset.apache.org/docs/quickstart</a:t>
              </a:r>
              <a:endParaRPr b="0" i="1" sz="1000">
                <a:solidFill>
                  <a:srgbClr val="78350F"/>
                </a:solidFill>
                <a:highlight>
                  <a:srgbClr val="FFFBEB"/>
                </a:highlight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grpSp>
        <p:nvGrpSpPr>
          <p:cNvPr id="111" name="Google Shape;111;p6"/>
          <p:cNvGrpSpPr/>
          <p:nvPr/>
        </p:nvGrpSpPr>
        <p:grpSpPr>
          <a:xfrm>
            <a:off x="6000750" y="1524000"/>
            <a:ext cx="5638800" cy="4667250"/>
            <a:chOff x="6000750" y="1524000"/>
            <a:chExt cx="5638800" cy="4667250"/>
          </a:xfrm>
        </p:grpSpPr>
        <p:sp>
          <p:nvSpPr>
            <p:cNvPr id="112" name="Google Shape;112;p6"/>
            <p:cNvSpPr txBox="1"/>
            <p:nvPr/>
          </p:nvSpPr>
          <p:spPr>
            <a:xfrm>
              <a:off x="6000750" y="1524000"/>
              <a:ext cx="5638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Prérequis communs (tous OS)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grpSp>
          <p:nvGrpSpPr>
            <p:cNvPr id="113" name="Google Shape;113;p6"/>
            <p:cNvGrpSpPr/>
            <p:nvPr/>
          </p:nvGrpSpPr>
          <p:grpSpPr>
            <a:xfrm>
              <a:off x="6000750" y="2000250"/>
              <a:ext cx="5638800" cy="809700"/>
              <a:chOff x="6000750" y="2000250"/>
              <a:chExt cx="5638800" cy="809700"/>
            </a:xfrm>
          </p:grpSpPr>
          <p:sp>
            <p:nvSpPr>
              <p:cNvPr id="114" name="Google Shape;114;p6"/>
              <p:cNvSpPr/>
              <p:nvPr/>
            </p:nvSpPr>
            <p:spPr>
              <a:xfrm>
                <a:off x="6000750" y="2000250"/>
                <a:ext cx="56388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3F7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6234113" y="2233613"/>
                <a:ext cx="342900" cy="342900"/>
              </a:xfrm>
              <a:prstGeom prst="ellipse">
                <a:avLst/>
              </a:prstGeom>
              <a:solidFill>
                <a:srgbClr val="2E75D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6"/>
              <p:cNvSpPr txBox="1"/>
              <p:nvPr/>
            </p:nvSpPr>
            <p:spPr>
              <a:xfrm>
                <a:off x="6234113" y="2233613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✓</a:t>
                </a:r>
                <a:endParaRPr b="1" sz="14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  <p:sp>
            <p:nvSpPr>
              <p:cNvPr id="117" name="Google Shape;117;p6"/>
              <p:cNvSpPr txBox="1"/>
              <p:nvPr/>
            </p:nvSpPr>
            <p:spPr>
              <a:xfrm>
                <a:off x="6715125" y="2000250"/>
                <a:ext cx="4762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B3B6F"/>
                    </a:solidFill>
                    <a:latin typeface="Golos Text SemiBold"/>
                    <a:ea typeface="Golos Text SemiBold"/>
                    <a:cs typeface="Golos Text SemiBold"/>
                    <a:sym typeface="Golos Text SemiBold"/>
                  </a:rPr>
                  <a:t>Docker Desktop</a:t>
                </a:r>
                <a:endParaRPr b="0" sz="1300">
                  <a:solidFill>
                    <a:srgbClr val="1B3B6F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5B6472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(ou Docker Engine + Compose sous Linux)</a:t>
                </a:r>
                <a:endParaRPr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</p:grpSp>
        <p:grpSp>
          <p:nvGrpSpPr>
            <p:cNvPr id="118" name="Google Shape;118;p6"/>
            <p:cNvGrpSpPr/>
            <p:nvPr/>
          </p:nvGrpSpPr>
          <p:grpSpPr>
            <a:xfrm>
              <a:off x="6000750" y="2952750"/>
              <a:ext cx="5638800" cy="809700"/>
              <a:chOff x="6000750" y="2952750"/>
              <a:chExt cx="5638800" cy="809700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6000750" y="2952750"/>
                <a:ext cx="56388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3F7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6234113" y="3186113"/>
                <a:ext cx="342900" cy="342900"/>
              </a:xfrm>
              <a:prstGeom prst="ellipse">
                <a:avLst/>
              </a:prstGeom>
              <a:solidFill>
                <a:srgbClr val="2E75D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6"/>
              <p:cNvSpPr txBox="1"/>
              <p:nvPr/>
            </p:nvSpPr>
            <p:spPr>
              <a:xfrm>
                <a:off x="6234113" y="3186113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✓</a:t>
                </a:r>
                <a:endParaRPr b="1" sz="14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  <p:sp>
            <p:nvSpPr>
              <p:cNvPr id="122" name="Google Shape;122;p6"/>
              <p:cNvSpPr txBox="1"/>
              <p:nvPr/>
            </p:nvSpPr>
            <p:spPr>
              <a:xfrm>
                <a:off x="6715125" y="2952750"/>
                <a:ext cx="4762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B3B6F"/>
                    </a:solidFill>
                    <a:latin typeface="Golos Text SemiBold"/>
                    <a:ea typeface="Golos Text SemiBold"/>
                    <a:cs typeface="Golos Text SemiBold"/>
                    <a:sym typeface="Golos Text SemiBold"/>
                  </a:rPr>
                  <a:t>Git</a:t>
                </a:r>
                <a:endParaRPr b="0" sz="1300">
                  <a:solidFill>
                    <a:srgbClr val="1B3B6F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5B6472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pour cloner le dépôt officiel Superset</a:t>
                </a:r>
                <a:endParaRPr b="0" sz="10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</p:grpSp>
        <p:grpSp>
          <p:nvGrpSpPr>
            <p:cNvPr id="123" name="Google Shape;123;p6"/>
            <p:cNvGrpSpPr/>
            <p:nvPr/>
          </p:nvGrpSpPr>
          <p:grpSpPr>
            <a:xfrm>
              <a:off x="6000750" y="3905250"/>
              <a:ext cx="5638800" cy="809700"/>
              <a:chOff x="6000750" y="3905250"/>
              <a:chExt cx="5638800" cy="809700"/>
            </a:xfrm>
          </p:grpSpPr>
          <p:sp>
            <p:nvSpPr>
              <p:cNvPr id="124" name="Google Shape;124;p6"/>
              <p:cNvSpPr/>
              <p:nvPr/>
            </p:nvSpPr>
            <p:spPr>
              <a:xfrm>
                <a:off x="6000750" y="3905250"/>
                <a:ext cx="56388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3F7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6234113" y="4138613"/>
                <a:ext cx="342900" cy="342900"/>
              </a:xfrm>
              <a:prstGeom prst="ellipse">
                <a:avLst/>
              </a:prstGeom>
              <a:solidFill>
                <a:srgbClr val="2E75D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6"/>
              <p:cNvSpPr txBox="1"/>
              <p:nvPr/>
            </p:nvSpPr>
            <p:spPr>
              <a:xfrm>
                <a:off x="6234113" y="4138613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✓</a:t>
                </a:r>
                <a:endParaRPr b="1" sz="14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  <p:sp>
            <p:nvSpPr>
              <p:cNvPr id="127" name="Google Shape;127;p6"/>
              <p:cNvSpPr txBox="1"/>
              <p:nvPr/>
            </p:nvSpPr>
            <p:spPr>
              <a:xfrm>
                <a:off x="6715125" y="3905250"/>
                <a:ext cx="4762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1B3B6F"/>
                    </a:solidFill>
                    <a:latin typeface="Golos Text SemiBold"/>
                    <a:ea typeface="Golos Text SemiBold"/>
                    <a:cs typeface="Golos Text SemiBold"/>
                    <a:sym typeface="Golos Text SemiBold"/>
                  </a:rPr>
                  <a:t>~8 Go de RAM &amp; ~6 Go de disque libres</a:t>
                </a:r>
                <a:endParaRPr b="0" sz="1300">
                  <a:solidFill>
                    <a:srgbClr val="1B3B6F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5B6472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pour faire tourner Superset + Postgres + Redis + Celery</a:t>
                </a:r>
                <a:endParaRPr b="0" sz="105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</p:grpSp>
        <p:grpSp>
          <p:nvGrpSpPr>
            <p:cNvPr id="128" name="Google Shape;128;p6"/>
            <p:cNvGrpSpPr/>
            <p:nvPr/>
          </p:nvGrpSpPr>
          <p:grpSpPr>
            <a:xfrm>
              <a:off x="6000750" y="4857750"/>
              <a:ext cx="5638800" cy="1333500"/>
              <a:chOff x="6000750" y="4857750"/>
              <a:chExt cx="5638800" cy="1333500"/>
            </a:xfrm>
          </p:grpSpPr>
          <p:sp>
            <p:nvSpPr>
              <p:cNvPr id="129" name="Google Shape;129;p6"/>
              <p:cNvSpPr/>
              <p:nvPr/>
            </p:nvSpPr>
            <p:spPr>
              <a:xfrm>
                <a:off x="6000750" y="4857750"/>
                <a:ext cx="5638800" cy="1333500"/>
              </a:xfrm>
              <a:prstGeom prst="roundRect">
                <a:avLst>
                  <a:gd fmla="val 8571" name="adj"/>
                </a:avLst>
              </a:prstGeom>
              <a:solidFill>
                <a:srgbClr val="FEF2F2"/>
              </a:solidFill>
              <a:ln cap="flat" cmpd="sng" w="114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 txBox="1"/>
              <p:nvPr/>
            </p:nvSpPr>
            <p:spPr>
              <a:xfrm>
                <a:off x="6238875" y="4857750"/>
                <a:ext cx="51627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991B1B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📌 </a:t>
                </a:r>
                <a:r>
                  <a:rPr b="1" lang="en-US" sz="1300">
                    <a:solidFill>
                      <a:srgbClr val="991B1B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Point de vigilance</a:t>
                </a:r>
                <a:endParaRPr b="1" sz="1300">
                  <a:solidFill>
                    <a:srgbClr val="991B1B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7F1D1D"/>
                    </a:solidFill>
                    <a:latin typeface="Golos Text"/>
                    <a:ea typeface="Golos Text"/>
                    <a:cs typeface="Golos Text"/>
                    <a:sym typeface="Golos Text"/>
                  </a:rPr>
                  <a:t>Vérifier impérativement la virtualisation BIOS et les droits d'administration sur les machines avant le début de la session.</a:t>
                </a:r>
                <a:endParaRPr b="0" sz="1100">
                  <a:solidFill>
                    <a:srgbClr val="7F1D1D"/>
                  </a:solidFill>
                  <a:latin typeface="Golos Text"/>
                  <a:ea typeface="Golos Text"/>
                  <a:cs typeface="Golos Text"/>
                  <a:sym typeface="Golos Text"/>
                </a:endParaRPr>
              </a:p>
            </p:txBody>
          </p:sp>
        </p:grpSp>
      </p:grpSp>
      <p:sp>
        <p:nvSpPr>
          <p:cNvPr id="131" name="Google Shape;131;p6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Installer Docker — selon votre OS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44" name="Google Shape;144;p7"/>
          <p:cNvGrpSpPr/>
          <p:nvPr/>
        </p:nvGrpSpPr>
        <p:grpSpPr>
          <a:xfrm>
            <a:off x="762000" y="1524000"/>
            <a:ext cx="3429000" cy="4286400"/>
            <a:chOff x="762000" y="1524000"/>
            <a:chExt cx="3429000" cy="4286400"/>
          </a:xfrm>
        </p:grpSpPr>
        <p:sp>
          <p:nvSpPr>
            <p:cNvPr id="145" name="Google Shape;145;p7"/>
            <p:cNvSpPr/>
            <p:nvPr/>
          </p:nvSpPr>
          <p:spPr>
            <a:xfrm>
              <a:off x="762000" y="152400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7620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1047750" y="1857375"/>
              <a:ext cx="666900" cy="304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 txBox="1"/>
            <p:nvPr/>
          </p:nvSpPr>
          <p:spPr>
            <a:xfrm>
              <a:off x="1047750" y="1857375"/>
              <a:ext cx="666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01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9" name="Google Shape;149;p7"/>
            <p:cNvSpPr txBox="1"/>
            <p:nvPr/>
          </p:nvSpPr>
          <p:spPr>
            <a:xfrm>
              <a:off x="1047750" y="228600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Windows 10 / 11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2E75D6"/>
                  </a:solidFill>
                  <a:latin typeface="Golos Text"/>
                  <a:ea typeface="Golos Text"/>
                  <a:cs typeface="Golos Text"/>
                  <a:sym typeface="Golos Text"/>
                </a:rPr>
                <a:t>WSL2</a:t>
              </a:r>
              <a:endParaRPr b="0" i="1" sz="120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Activer la virtualisation matérielle (Gestionnaire des tâches)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PowerShell admin : </a:t>
              </a:r>
              <a:r>
                <a:rPr b="1" lang="en-US" sz="1150">
                  <a:solidFill>
                    <a:srgbClr val="334155"/>
                  </a:solidFill>
                  <a:highlight>
                    <a:srgbClr val="E2ECF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wsl --install</a:t>
              </a: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, puis redémarrer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Installer Docker Desktop pour Windows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Choisir le backend WSL2 (recommandé)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4381500" y="1524000"/>
            <a:ext cx="3429000" cy="4286400"/>
            <a:chOff x="4381500" y="1524000"/>
            <a:chExt cx="3429000" cy="4286400"/>
          </a:xfrm>
        </p:grpSpPr>
        <p:sp>
          <p:nvSpPr>
            <p:cNvPr id="151" name="Google Shape;151;p7"/>
            <p:cNvSpPr/>
            <p:nvPr/>
          </p:nvSpPr>
          <p:spPr>
            <a:xfrm>
              <a:off x="4381500" y="152400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3815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667250" y="1857375"/>
              <a:ext cx="666900" cy="3048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 txBox="1"/>
            <p:nvPr/>
          </p:nvSpPr>
          <p:spPr>
            <a:xfrm>
              <a:off x="4667250" y="1857375"/>
              <a:ext cx="666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02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5" name="Google Shape;155;p7"/>
            <p:cNvSpPr txBox="1"/>
            <p:nvPr/>
          </p:nvSpPr>
          <p:spPr>
            <a:xfrm>
              <a:off x="4667250" y="228600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MacOS</a:t>
              </a:r>
              <a:endParaRPr b="1" sz="15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2E75D6"/>
                  </a:solidFill>
                  <a:latin typeface="Golos Text"/>
                  <a:ea typeface="Golos Text"/>
                  <a:cs typeface="Golos Text"/>
                  <a:sym typeface="Golos Text"/>
                </a:rPr>
                <a:t>Intel / Apple Silicon</a:t>
              </a:r>
              <a:endParaRPr b="0" i="1" sz="120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Télécharger le .dmg correspondant à l'architecture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Glisser </a:t>
              </a:r>
              <a:r>
                <a:rPr b="1" lang="en-US" sz="115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Docker.app</a:t>
              </a: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 dans Applications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Lancer Docker depuis Applications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Accepter les autorisations demandées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8001000" y="1524000"/>
            <a:ext cx="3429000" cy="4286400"/>
            <a:chOff x="8001000" y="1524000"/>
            <a:chExt cx="3429000" cy="4286400"/>
          </a:xfrm>
        </p:grpSpPr>
        <p:sp>
          <p:nvSpPr>
            <p:cNvPr id="157" name="Google Shape;157;p7"/>
            <p:cNvSpPr/>
            <p:nvPr/>
          </p:nvSpPr>
          <p:spPr>
            <a:xfrm>
              <a:off x="8001000" y="1524000"/>
              <a:ext cx="3429000" cy="4286400"/>
            </a:xfrm>
            <a:prstGeom prst="roundRect">
              <a:avLst>
                <a:gd fmla="val 4444" name="adj"/>
              </a:avLst>
            </a:prstGeom>
            <a:solidFill>
              <a:srgbClr val="F3F7FC"/>
            </a:solidFill>
            <a:ln cap="flat" cmpd="sng" w="19050">
              <a:solidFill>
                <a:srgbClr val="E2EC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8001000" y="1524000"/>
              <a:ext cx="3429000" cy="954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8286750" y="1857375"/>
              <a:ext cx="666900" cy="304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 txBox="1"/>
            <p:nvPr/>
          </p:nvSpPr>
          <p:spPr>
            <a:xfrm>
              <a:off x="8286750" y="1857375"/>
              <a:ext cx="666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03</a:t>
              </a:r>
              <a:endParaRPr b="1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8286750" y="228600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Linux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2E75D6"/>
                  </a:solidFill>
                  <a:latin typeface="Golos Text"/>
                  <a:ea typeface="Golos Text"/>
                  <a:cs typeface="Golos Text"/>
                  <a:sym typeface="Golos Text"/>
                </a:rPr>
                <a:t>Ubuntu / Debian / Fedora</a:t>
              </a:r>
              <a:endParaRPr b="0" i="1" sz="120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1B3B6F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Option A :</a:t>
              </a: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 Docker Desktop pour Linux (interface graphique)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1B3B6F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Option B :</a:t>
              </a: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 Docker Engine + Compose (CLI, plus léger)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150"/>
                <a:buFont typeface="Golos Text"/>
                <a:buChar char="●"/>
              </a:pPr>
              <a:r>
                <a:rPr b="0" lang="en-US" sz="1150">
                  <a:solidFill>
                    <a:srgbClr val="33415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Choix selon l'aisance du groupe en CLI</a:t>
              </a:r>
              <a:endParaRPr b="0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62" name="Google Shape;162;p7"/>
          <p:cNvSpPr/>
          <p:nvPr/>
        </p:nvSpPr>
        <p:spPr>
          <a:xfrm>
            <a:off x="548640" y="61081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Open Sans"/>
              <a:buNone/>
            </a:pPr>
            <a:r>
              <a:rPr i="1" lang="en-US" sz="1000" u="none" cap="none" strike="noStrike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Doc. officielle Docker : docs.docker.com/get-started/get-docker</a:t>
            </a:r>
            <a:endParaRPr i="0" sz="1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Déployer Superset avec Docker Compose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48640" y="1508760"/>
            <a:ext cx="6000900" cy="3429000"/>
          </a:xfrm>
          <a:prstGeom prst="roundRect">
            <a:avLst>
              <a:gd fmla="val 3333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62000" y="1685925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95350" y="1685925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028700" y="1685925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761780" y="1608352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1" sz="1100">
              <a:solidFill>
                <a:srgbClr val="9CA3A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809625" y="2000250"/>
            <a:ext cx="54768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1. Cloner le dépôt officiel</a:t>
            </a:r>
            <a:endParaRPr sz="1100">
              <a:solidFill>
                <a:srgbClr val="9CA3A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git clone </a:t>
            </a:r>
            <a:r>
              <a:rPr lang="en-US" sz="110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--depth=1</a:t>
            </a:r>
            <a:r>
              <a:rPr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https://github.com/apache/superset.git</a:t>
            </a:r>
            <a:endParaRPr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cd </a:t>
            </a:r>
            <a:r>
              <a:rPr lang="en-US" sz="110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superset</a:t>
            </a:r>
            <a:endParaRPr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2. Se placer sur la dernière version stable</a:t>
            </a:r>
            <a:endParaRPr sz="1100">
              <a:solidFill>
                <a:srgbClr val="9CA3A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</a:t>
            </a:r>
            <a:r>
              <a:rPr lang="en-US" sz="110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tags/6.0.0</a:t>
            </a:r>
            <a:endParaRPr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3. Lancer la stack complète</a:t>
            </a:r>
            <a:endParaRPr sz="1100">
              <a:solidFill>
                <a:srgbClr val="9CA3A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</a:t>
            </a:r>
            <a:r>
              <a:rPr lang="en-US" sz="110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-f docker-compose-image-tag.yml up</a:t>
            </a:r>
            <a:endParaRPr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858000" y="1508760"/>
            <a:ext cx="4381500" cy="1524000"/>
          </a:xfrm>
          <a:prstGeom prst="roundRect">
            <a:avLst>
              <a:gd fmla="val 7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858000" y="1508760"/>
            <a:ext cx="57300" cy="1524000"/>
          </a:xfrm>
          <a:prstGeom prst="roundRect">
            <a:avLst>
              <a:gd fmla="val 50000" name="adj"/>
            </a:avLst>
          </a:prstGeom>
          <a:solidFill>
            <a:srgbClr val="2E75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7096125" y="1638300"/>
            <a:ext cx="3952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Accès à Superset</a:t>
            </a:r>
            <a:endParaRPr b="1" sz="1600">
              <a:solidFill>
                <a:srgbClr val="1B3B6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URL :</a:t>
            </a:r>
            <a:r>
              <a:rPr lang="en-US" sz="115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15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rPr>
              <a:t>http://localhost:8088</a:t>
            </a:r>
            <a:r>
              <a:rPr lang="en-US" sz="115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150">
                <a:solidFill>
                  <a:srgbClr val="D97706"/>
                </a:solidFill>
                <a:latin typeface="Golos Text"/>
                <a:ea typeface="Golos Text"/>
                <a:cs typeface="Golos Text"/>
                <a:sym typeface="Golos Text"/>
              </a:rPr>
              <a:t>(⚠ http, pas https)</a:t>
            </a:r>
            <a:endParaRPr sz="1150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Identifiants :</a:t>
            </a:r>
            <a:r>
              <a:rPr lang="en-US" sz="1150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 admin / admin</a:t>
            </a:r>
            <a:endParaRPr sz="1150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Premier lancement plus long : téléchargement des images + données d'exemple.</a:t>
            </a:r>
            <a:endParaRPr i="1" sz="100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858000" y="3185160"/>
            <a:ext cx="4381500" cy="1762200"/>
          </a:xfrm>
          <a:prstGeom prst="roundRect">
            <a:avLst>
              <a:gd fmla="val 6486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858000" y="3185160"/>
            <a:ext cx="57300" cy="1762200"/>
          </a:xfrm>
          <a:prstGeom prst="roundRect">
            <a:avLst>
              <a:gd fmla="val 50000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7096125" y="3314700"/>
            <a:ext cx="39528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Checklist « installation réussie »</a:t>
            </a:r>
            <a:endParaRPr b="1" sz="1600">
              <a:solidFill>
                <a:srgbClr val="1B3B6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E75D6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 docker compose ps → conteneurs Up</a:t>
            </a:r>
            <a:endParaRPr sz="115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E75D6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 localhost:8088 affiche la page de connexion</a:t>
            </a:r>
            <a:endParaRPr sz="115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E75D6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  <a:r>
              <a:rPr lang="en-US" sz="11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 Connexion admin / admin fonctionnelle</a:t>
            </a:r>
            <a:endParaRPr sz="115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48640" y="5238750"/>
            <a:ext cx="10690800" cy="609600"/>
          </a:xfrm>
          <a:prstGeom prst="roundRect">
            <a:avLst>
              <a:gd fmla="val 125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739140" y="5238750"/>
            <a:ext cx="1030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1B1B"/>
                </a:solidFill>
                <a:latin typeface="Golos Text"/>
                <a:ea typeface="Golos Text"/>
                <a:cs typeface="Golos Text"/>
                <a:sym typeface="Golos Text"/>
              </a:rPr>
              <a:t>📌 Point de vigilance / Erreur fréquente</a:t>
            </a:r>
            <a:endParaRPr b="1" sz="1100">
              <a:solidFill>
                <a:srgbClr val="991B1B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F1D1D"/>
                </a:solidFill>
                <a:latin typeface="Golos Text"/>
                <a:ea typeface="Golos Text"/>
                <a:cs typeface="Golos Text"/>
                <a:sym typeface="Golos Text"/>
              </a:rPr>
              <a:t>« services.superset-worker-beat.env_file.0 must be a string » → Mettre à jour Docker Compose pour corriger l'anomalie.</a:t>
            </a:r>
            <a:endParaRPr b="0" sz="1000">
              <a:solidFill>
                <a:srgbClr val="7F1D1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Le jeu de données — Retail Sales Dataset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8640" y="1417320"/>
            <a:ext cx="10789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Open Sans"/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Dataset simulé, déjà découpé en 4 fichiers CSV liés entre eux (modèle en étoile) : idéal pour travailler jointures et modélisation dans Superset.</a:t>
            </a:r>
            <a:endParaRPr i="0" sz="1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aphicFrame>
        <p:nvGraphicFramePr>
          <p:cNvPr id="204" name="Google Shape;204;p9"/>
          <p:cNvGraphicFramePr/>
          <p:nvPr/>
        </p:nvGraphicFramePr>
        <p:xfrm>
          <a:off x="548640" y="2386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{EB02FF4C-C538-46AD-83A8-E4EA13E49821}</a:tableStyleId>
              </a:tblPr>
              <a:tblGrid>
                <a:gridCol w="2377450"/>
                <a:gridCol w="3017525"/>
                <a:gridCol w="5669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250" u="none" cap="none" strike="noStrike">
                          <a:solidFill>
                            <a:srgbClr val="FFFFFF"/>
                          </a:solidFill>
                          <a:latin typeface="Golos Text SemiBold"/>
                          <a:ea typeface="Golos Text SemiBold"/>
                          <a:cs typeface="Golos Text SemiBold"/>
                          <a:sym typeface="Golos Text SemiBold"/>
                        </a:rPr>
                        <a:t>Fichier</a:t>
                      </a:r>
                      <a:endParaRPr sz="1250" u="none" cap="none" strike="noStrike">
                        <a:latin typeface="Golos Text SemiBold"/>
                        <a:ea typeface="Golos Text SemiBold"/>
                        <a:cs typeface="Golos Text SemiBold"/>
                        <a:sym typeface="Golos Text SemiBold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250">
                          <a:solidFill>
                            <a:srgbClr val="FFFFFF"/>
                          </a:solidFill>
                          <a:latin typeface="Golos Text SemiBold"/>
                          <a:ea typeface="Golos Text SemiBold"/>
                          <a:cs typeface="Golos Text SemiBold"/>
                          <a:sym typeface="Golos Text SemiBold"/>
                        </a:rPr>
                        <a:t>Contenu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250">
                          <a:solidFill>
                            <a:srgbClr val="FFFFFF"/>
                          </a:solidFill>
                          <a:latin typeface="Golos Text SemiBold"/>
                          <a:ea typeface="Golos Text SemiBold"/>
                          <a:cs typeface="Golos Text SemiBold"/>
                          <a:sym typeface="Golos Text SemiBold"/>
                        </a:rPr>
                        <a:t>Colonnes clés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B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Customers.csv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Dimension clients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customer_id, nom, genre, ville, date d'adhésion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Products.csv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Dimension produits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product_id, nom, catégorie, prix, coût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F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Stores.csv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Dimension magasins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store_id, nom, ville, région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Transactions</a:t>
                      </a: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.csv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Faits (transactions)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Open Sans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date, customer_id, product_id, store_id, quantité, remise</a:t>
                      </a:r>
                      <a:endParaRPr sz="1150" u="none" cap="none" strike="noStrike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50800" marB="50800" marR="101600" marL="101600" anchor="ctr">
                    <a:lnL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FFA"/>
                    </a:solidFill>
                  </a:tcPr>
                </a:tc>
              </a:tr>
            </a:tbl>
          </a:graphicData>
        </a:graphic>
      </p:graphicFrame>
      <p:grpSp>
        <p:nvGrpSpPr>
          <p:cNvPr id="205" name="Google Shape;205;p9"/>
          <p:cNvGrpSpPr/>
          <p:nvPr/>
        </p:nvGrpSpPr>
        <p:grpSpPr>
          <a:xfrm>
            <a:off x="548640" y="5185142"/>
            <a:ext cx="11064300" cy="548700"/>
            <a:chOff x="548640" y="5080323"/>
            <a:chExt cx="11064300" cy="548700"/>
          </a:xfrm>
        </p:grpSpPr>
        <p:sp>
          <p:nvSpPr>
            <p:cNvPr id="206" name="Google Shape;206;p9"/>
            <p:cNvSpPr/>
            <p:nvPr/>
          </p:nvSpPr>
          <p:spPr>
            <a:xfrm>
              <a:off x="548640" y="5080323"/>
              <a:ext cx="11064300" cy="548700"/>
            </a:xfrm>
            <a:prstGeom prst="roundRect">
              <a:avLst>
                <a:gd fmla="val 20000" name="adj"/>
              </a:avLst>
            </a:prstGeom>
            <a:solidFill>
              <a:srgbClr val="E6EF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77240" y="5080323"/>
              <a:ext cx="10607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B6F"/>
                </a:buClr>
                <a:buSzPts val="1050"/>
                <a:buFont typeface="Open Sans"/>
                <a:buNone/>
              </a:pPr>
              <a:r>
                <a:rPr i="0" lang="en-US" sz="1000" u="none" cap="none" strike="noStrike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🔗</a:t>
              </a:r>
              <a:r>
                <a:rPr lang="en-US" sz="10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 </a:t>
              </a:r>
              <a:r>
                <a:rPr i="0" lang="en-US" sz="1000" u="none" cap="none" strike="noStrike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kaggle.com/datasets/buharishehu/retail-sales-dataset</a:t>
              </a:r>
              <a:endParaRPr i="0" sz="1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08" name="Google Shape;208;p9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Ingestion — </a:t>
            </a:r>
            <a:r>
              <a:rPr b="1" lang="en-US" sz="30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Méthode 1 : </a:t>
            </a: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via l'interface Superset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221" name="Google Shape;221;p10"/>
          <p:cNvGrpSpPr/>
          <p:nvPr/>
        </p:nvGrpSpPr>
        <p:grpSpPr>
          <a:xfrm>
            <a:off x="548640" y="1428750"/>
            <a:ext cx="11087100" cy="3524175"/>
            <a:chOff x="548640" y="1428750"/>
            <a:chExt cx="11087100" cy="3524175"/>
          </a:xfrm>
        </p:grpSpPr>
        <p:sp>
          <p:nvSpPr>
            <p:cNvPr id="222" name="Google Shape;222;p10"/>
            <p:cNvSpPr/>
            <p:nvPr/>
          </p:nvSpPr>
          <p:spPr>
            <a:xfrm>
              <a:off x="548640" y="1428750"/>
              <a:ext cx="3429000" cy="1666800"/>
            </a:xfrm>
            <a:prstGeom prst="roundRect">
              <a:avLst>
                <a:gd fmla="val 6857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548640" y="1428750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0"/>
            <p:cNvSpPr txBox="1"/>
            <p:nvPr/>
          </p:nvSpPr>
          <p:spPr>
            <a:xfrm>
              <a:off x="714375" y="1428750"/>
              <a:ext cx="3143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95250" spcFirstLastPara="1" rIns="952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01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Upload CSV</a:t>
              </a:r>
              <a:endParaRPr b="1" sz="15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Data → Upload CSV to database</a:t>
              </a:r>
              <a:endParaRPr sz="1200">
                <a:solidFill>
                  <a:srgbClr val="334155"/>
                </a:solidFill>
                <a:latin typeface="Golos Text SemiBold"/>
                <a:ea typeface="Golos Text SemiBold"/>
                <a:cs typeface="Golos Text SemiBold"/>
                <a:sym typeface="Golos Tex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Menu « + » en haut à droite de Superset</a:t>
              </a:r>
              <a:endParaRPr i="1" sz="110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4377690" y="1428750"/>
              <a:ext cx="3429000" cy="1666800"/>
            </a:xfrm>
            <a:prstGeom prst="roundRect">
              <a:avLst>
                <a:gd fmla="val 6857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4377690" y="1428750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0"/>
            <p:cNvSpPr txBox="1"/>
            <p:nvPr/>
          </p:nvSpPr>
          <p:spPr>
            <a:xfrm>
              <a:off x="4543425" y="1428750"/>
              <a:ext cx="3143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95250" spcFirstLastPara="1" rIns="952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E75D6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02</a:t>
              </a:r>
              <a:endParaRPr b="1" sz="160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Choisir le fichier</a:t>
              </a:r>
              <a:endParaRPr b="1" sz="125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Sélectionner le fichier CSV</a:t>
              </a:r>
              <a:endParaRPr b="1" sz="10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ex. Customers.csv</a:t>
              </a:r>
              <a:endParaRPr i="1" sz="9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8206740" y="1428750"/>
              <a:ext cx="3429000" cy="1666800"/>
            </a:xfrm>
            <a:prstGeom prst="roundRect">
              <a:avLst>
                <a:gd fmla="val 6857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8206740" y="1428750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0"/>
            <p:cNvSpPr txBox="1"/>
            <p:nvPr/>
          </p:nvSpPr>
          <p:spPr>
            <a:xfrm>
              <a:off x="8372475" y="1428750"/>
              <a:ext cx="3143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95250" spcFirstLastPara="1" rIns="952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03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Base cible</a:t>
              </a:r>
              <a:endParaRPr b="1" sz="125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Sélectionner la base cible</a:t>
              </a:r>
              <a:endParaRPr b="1" sz="10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par défaut : base « examples » Postgres</a:t>
              </a:r>
              <a:endParaRPr i="1" sz="9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548640" y="3286125"/>
              <a:ext cx="3429000" cy="1666800"/>
            </a:xfrm>
            <a:prstGeom prst="roundRect">
              <a:avLst>
                <a:gd fmla="val 6857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548640" y="3286125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0"/>
            <p:cNvSpPr txBox="1"/>
            <p:nvPr/>
          </p:nvSpPr>
          <p:spPr>
            <a:xfrm>
              <a:off x="714375" y="3286125"/>
              <a:ext cx="3143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95250" spcFirstLastPara="1" rIns="952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E75D6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04</a:t>
              </a:r>
              <a:endParaRPr b="1" sz="160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Nommer la table</a:t>
              </a:r>
              <a:endParaRPr b="1" sz="125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Préciser les paramètres</a:t>
              </a:r>
              <a:endParaRPr b="1" sz="10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ex. customers — préciser séparateur / encodage / en-têtes</a:t>
              </a:r>
              <a:endParaRPr i="1" sz="9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4377690" y="3286125"/>
              <a:ext cx="3429000" cy="1666800"/>
            </a:xfrm>
            <a:prstGeom prst="roundRect">
              <a:avLst>
                <a:gd fmla="val 6857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4377690" y="3286125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0"/>
            <p:cNvSpPr txBox="1"/>
            <p:nvPr/>
          </p:nvSpPr>
          <p:spPr>
            <a:xfrm>
              <a:off x="4543425" y="3286125"/>
              <a:ext cx="3143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95250" spcFirstLastPara="1" rIns="952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05</a:t>
              </a:r>
              <a:endParaRPr b="1" sz="16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Valider</a:t>
              </a:r>
              <a:endParaRPr b="1" sz="125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Finaliser l'importation</a:t>
              </a:r>
              <a:endParaRPr b="1" sz="10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la table apparaît dans Data → Datasets</a:t>
              </a:r>
              <a:endParaRPr i="1" sz="9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8206740" y="3286125"/>
              <a:ext cx="3429000" cy="1666800"/>
            </a:xfrm>
            <a:prstGeom prst="roundRect">
              <a:avLst>
                <a:gd fmla="val 6857" name="adj"/>
              </a:avLst>
            </a:prstGeom>
            <a:solidFill>
              <a:srgbClr val="F3F7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8206740" y="3286125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0"/>
            <p:cNvSpPr txBox="1"/>
            <p:nvPr/>
          </p:nvSpPr>
          <p:spPr>
            <a:xfrm>
              <a:off x="8372475" y="3286125"/>
              <a:ext cx="3143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95250" spcFirstLastPara="1" rIns="9525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E75D6"/>
                  </a:solidFill>
                  <a:latin typeface="Golos Text"/>
                  <a:ea typeface="Golos Text"/>
                  <a:cs typeface="Golos Text"/>
                  <a:sym typeface="Golos Text"/>
                </a:rPr>
                <a:t>06</a:t>
              </a:r>
              <a:endParaRPr b="1" sz="1600">
                <a:solidFill>
                  <a:srgbClr val="2E75D6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Répéter</a:t>
              </a:r>
              <a:endParaRPr b="1" sz="125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34155"/>
                  </a:solidFill>
                  <a:latin typeface="Golos Text SemiBold"/>
                  <a:ea typeface="Golos Text SemiBold"/>
                  <a:cs typeface="Golos Text SemiBold"/>
                  <a:sym typeface="Golos Text SemiBold"/>
                </a:rPr>
                <a:t>Charger les autres tables</a:t>
              </a:r>
              <a:endParaRPr b="1" sz="105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5B6472"/>
                  </a:solidFill>
                  <a:latin typeface="Golos Text"/>
                  <a:ea typeface="Golos Text"/>
                  <a:cs typeface="Golos Text"/>
                  <a:sym typeface="Golos Text"/>
                </a:rPr>
                <a:t>pour Products.csv, Stores.csv et Sales.csv</a:t>
              </a:r>
              <a:endParaRPr i="1" sz="9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grpSp>
        <p:nvGrpSpPr>
          <p:cNvPr id="240" name="Google Shape;240;p10"/>
          <p:cNvGrpSpPr/>
          <p:nvPr/>
        </p:nvGrpSpPr>
        <p:grpSpPr>
          <a:xfrm>
            <a:off x="548640" y="5191125"/>
            <a:ext cx="11087100" cy="609600"/>
            <a:chOff x="548640" y="5191125"/>
            <a:chExt cx="11087100" cy="609600"/>
          </a:xfrm>
        </p:grpSpPr>
        <p:sp>
          <p:nvSpPr>
            <p:cNvPr id="241" name="Google Shape;241;p10"/>
            <p:cNvSpPr/>
            <p:nvPr/>
          </p:nvSpPr>
          <p:spPr>
            <a:xfrm>
              <a:off x="548640" y="5191125"/>
              <a:ext cx="11087100" cy="609600"/>
            </a:xfrm>
            <a:prstGeom prst="roundRect">
              <a:avLst>
                <a:gd fmla="val 12500" name="adj"/>
              </a:avLst>
            </a:prstGeom>
            <a:solidFill>
              <a:srgbClr val="FFFBEB"/>
            </a:solidFill>
            <a:ln cap="flat" cmpd="sng" w="11425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 txBox="1"/>
            <p:nvPr/>
          </p:nvSpPr>
          <p:spPr>
            <a:xfrm>
              <a:off x="739140" y="5191125"/>
              <a:ext cx="107061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45309"/>
                  </a:solidFill>
                  <a:latin typeface="Golos Text"/>
                  <a:ea typeface="Golos Text"/>
                  <a:cs typeface="Golos Text"/>
                  <a:sym typeface="Golos Text"/>
                </a:rPr>
                <a:t>⚠ Point de vigilance</a:t>
              </a:r>
              <a:endParaRPr b="1" sz="1100">
                <a:solidFill>
                  <a:srgbClr val="B45309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78350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Si « Upload CSV » n'apparaît pas : vérifier le feature flag CSV_UPLOAD côté configuration, ou basculer sur la méthode back-end.</a:t>
              </a:r>
              <a:endParaRPr b="0" sz="1000">
                <a:solidFill>
                  <a:srgbClr val="78350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243" name="Google Shape;243;p10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44" name="Google Shape;244;p10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48" name="Google Shape;2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Ingestion — Méthode 2 : via le back-end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48640" y="1507165"/>
            <a:ext cx="53949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A</a:t>
            </a:r>
            <a:r>
              <a:rPr b="1" lang="en-US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.</a:t>
            </a:r>
            <a:r>
              <a:rPr b="1" lang="en-US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en-US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Copier les CSV puis charger avec psql</a:t>
            </a:r>
            <a:endParaRPr b="1" sz="1400">
              <a:solidFill>
                <a:srgbClr val="1B3B6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48650" y="1993516"/>
            <a:ext cx="5394900" cy="3301200"/>
          </a:xfrm>
          <a:prstGeom prst="roundRect">
            <a:avLst>
              <a:gd fmla="val 320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91515" y="2136391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34390" y="2136391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977265" y="2136391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822950" y="2403091"/>
            <a:ext cx="4846200" cy="266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docker cp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Customers.csv \</a:t>
            </a:r>
            <a:endParaRPr b="0"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superset_db:/tmp/customers.csv</a:t>
            </a:r>
            <a:endParaRPr b="0"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-it superset_db \</a:t>
            </a:r>
            <a:endParaRPr b="0"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psql -U superset -d superset</a:t>
            </a:r>
            <a:endParaRPr b="0"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-- puis, dans psql :</a:t>
            </a:r>
            <a:endParaRPr b="0" sz="110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customers (...);</a:t>
            </a:r>
            <a:endParaRPr b="0" sz="1100">
              <a:solidFill>
                <a:srgbClr val="F43F5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\copy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 FROM</a:t>
            </a:r>
            <a:endParaRPr b="0" sz="1100">
              <a:solidFill>
                <a:srgbClr val="F43F5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'/tmp/customers.csv'</a:t>
            </a:r>
            <a:endParaRPr b="0" sz="1100">
              <a:solidFill>
                <a:srgbClr val="A855F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DELIMITER 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 CSV HEADER;</a:t>
            </a:r>
            <a:endParaRPr b="0"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217920" y="1507165"/>
            <a:ext cx="53949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B.</a:t>
            </a:r>
            <a:r>
              <a:rPr b="1" lang="en-US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en-US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Charger avec Python / pandas</a:t>
            </a:r>
            <a:endParaRPr b="1" sz="1400">
              <a:solidFill>
                <a:srgbClr val="1B3B6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217925" y="1993516"/>
            <a:ext cx="5394900" cy="3301200"/>
          </a:xfrm>
          <a:prstGeom prst="roundRect">
            <a:avLst>
              <a:gd fmla="val 320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6360795" y="2136391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6503670" y="2136391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6646545" y="2136391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6492250" y="2403091"/>
            <a:ext cx="4846200" cy="266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 as 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pd</a:t>
            </a:r>
            <a:endParaRPr b="0" sz="1100">
              <a:solidFill>
                <a:srgbClr val="F43F5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sqlalchemy</a:t>
            </a: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 import 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create_engine</a:t>
            </a:r>
            <a:endParaRPr b="0" sz="1100">
              <a:solidFill>
                <a:srgbClr val="F43F5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engine = create_engine(</a:t>
            </a:r>
            <a:endParaRPr b="0"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'postgresql://superset:superset@</a:t>
            </a:r>
            <a:endParaRPr b="0" sz="1100">
              <a:solidFill>
                <a:srgbClr val="A855F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localhost:5432/superset')</a:t>
            </a:r>
            <a:endParaRPr b="0" sz="1100">
              <a:solidFill>
                <a:srgbClr val="A855F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f, table</a:t>
            </a:r>
            <a:r>
              <a:rPr b="0" lang="en-US" sz="1100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0" sz="1100">
              <a:solidFill>
                <a:srgbClr val="F43F5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('Customers.csv','customers')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s.csv','</a:t>
            </a:r>
            <a:r>
              <a:rPr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transactions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')</a:t>
            </a:r>
            <a:r>
              <a:rPr b="0" lang="en-US" sz="11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sz="1100">
              <a:solidFill>
                <a:srgbClr val="38BDF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pd.read_csv(f)</a:t>
            </a:r>
            <a:endParaRPr b="0"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df.to_sql(table, engine,</a:t>
            </a:r>
            <a:endParaRPr b="0"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if_exists=</a:t>
            </a:r>
            <a:r>
              <a:rPr b="0" lang="en-US" sz="1100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'replace'</a:t>
            </a:r>
            <a:r>
              <a:rPr b="0" lang="en-US"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1137392" y="6554350"/>
            <a:ext cx="72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48640" y="5623560"/>
            <a:ext cx="11064300" cy="609600"/>
          </a:xfrm>
          <a:prstGeom prst="roundRect">
            <a:avLst>
              <a:gd fmla="val 12500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11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548640" y="5623560"/>
            <a:ext cx="57300" cy="609600"/>
          </a:xfrm>
          <a:prstGeom prst="roundRect">
            <a:avLst>
              <a:gd fmla="val 50000" name="adj"/>
            </a:avLst>
          </a:prstGeom>
          <a:solidFill>
            <a:srgbClr val="0064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723900" y="576707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064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info</a:t>
            </a:r>
            <a:endParaRPr b="0" sz="2000">
              <a:solidFill>
                <a:srgbClr val="0064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200150" y="5623560"/>
            <a:ext cx="9715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Dans les deux cas :</a:t>
            </a:r>
            <a:r>
              <a:rPr b="0" lang="en-US" sz="1000">
                <a:solidFill>
                  <a:srgbClr val="1B3B6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déclarer ensuite les tables côté Superset via </a:t>
            </a:r>
            <a:r>
              <a:rPr b="0" lang="en-US" sz="1000">
                <a:solidFill>
                  <a:srgbClr val="1B3B6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Data → Datasets → + Dataset (base, schéma, table).</a:t>
            </a:r>
            <a:endParaRPr b="0" sz="1000">
              <a:solidFill>
                <a:srgbClr val="1B3B6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 txBox="1"/>
          <p:nvPr/>
        </p:nvSpPr>
        <p:spPr>
          <a:xfrm>
            <a:off x="716858" y="2057576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1" sz="1100">
              <a:solidFill>
                <a:srgbClr val="9CA3A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6319845" y="2060235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endParaRPr b="1" sz="1100">
              <a:solidFill>
                <a:srgbClr val="9CA3A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Product Backlog — Insights attendus (1/2)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48640" y="141732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Open Sans"/>
              <a:buNone/>
            </a:pPr>
            <a:r>
              <a:rPr i="0" lang="en-US" sz="1200" u="none" cap="none" strike="noStrike">
                <a:solidFill>
                  <a:srgbClr val="5B6472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Une fois les 4 jeux de données ingérés, construisez les visualisations répondant aux user stories suivantes.</a:t>
            </a:r>
            <a:endParaRPr i="0" sz="1200" u="none" cap="none" strike="noStrike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48640" y="1905000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800100" y="2133600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800100" y="21336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485900" y="19050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Directeur commercial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000500" y="1905000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Voir l'évolution du CA dans le temps (mensuel / trimestriel).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48640" y="2971800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800100" y="3200400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800100" y="32004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485900" y="29718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Category manager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000500" y="2971800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Identifier le top 10 des produits les plus vendus et les plus rentables.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48640" y="4038600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800100" y="4267200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800100" y="42672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485900" y="40386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Responsable réseau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000500" y="4038600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Comparer les performances de vente entre magasins / régions.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48640" y="5105400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800100" y="5334000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800100" y="53340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485900" y="510540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Responsable marketing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000500" y="5105400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Segmenter les clients par récence / fréquence / montant (RFM simplifié).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11064251" y="6554350"/>
            <a:ext cx="79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09" name="Google Shape;309;p12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2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13" name="Google Shape;3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Product Backlog — Insights attendus (1/2)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48640" y="1367668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800100" y="1596268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800100" y="1596268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485900" y="1367668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Direction financière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000500" y="1367668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Mesurer l'impact des remises sur la marge globale.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48640" y="2434468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800100" y="2663068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800100" y="2663068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6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485900" y="2434468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Category manager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000500" y="2434468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Répartition des ventes par catégorie / sous-catégorie.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48640" y="3501268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800100" y="3729868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800100" y="3729868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485900" y="3501268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Directeur commercial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000500" y="3501268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Synthèse : CA total, panier moyen, clients actifs, transactions.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48640" y="4568068"/>
            <a:ext cx="11087100" cy="914400"/>
          </a:xfrm>
          <a:prstGeom prst="roundRect">
            <a:avLst>
              <a:gd fmla="val 12500" name="adj"/>
            </a:avLst>
          </a:prstGeom>
          <a:solidFill>
            <a:srgbClr val="F3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800100" y="4796668"/>
            <a:ext cx="457200" cy="457200"/>
          </a:xfrm>
          <a:prstGeom prst="ellipse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800100" y="4796668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b="1" sz="16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485900" y="4568068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2E75D6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Direction (bonus)</a:t>
            </a:r>
            <a:endParaRPr b="0" sz="1300">
              <a:solidFill>
                <a:srgbClr val="2E75D6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000500" y="4568068"/>
            <a:ext cx="71439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Golos Text"/>
                <a:ea typeface="Golos Text"/>
                <a:cs typeface="Golos Text"/>
                <a:sym typeface="Golos Text"/>
              </a:rPr>
              <a:t>Filtrer l'ensemble du dashboard par période et par magasin.</a:t>
            </a:r>
            <a:endParaRPr b="0" sz="1200">
              <a:solidFill>
                <a:srgbClr val="334155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064251" y="6554350"/>
            <a:ext cx="79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10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42" name="Google Shape;342;p13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3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46" name="Google Shape;3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3"/>
          <p:cNvSpPr/>
          <p:nvPr/>
        </p:nvSpPr>
        <p:spPr>
          <a:xfrm>
            <a:off x="548640" y="5632704"/>
            <a:ext cx="11064300" cy="777300"/>
          </a:xfrm>
          <a:prstGeom prst="roundRect">
            <a:avLst>
              <a:gd fmla="val 12000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822960" y="5632704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C0EE"/>
              </a:buClr>
              <a:buSzPts val="1050"/>
              <a:buFont typeface="Open Sans"/>
              <a:buNone/>
            </a:pPr>
            <a:r>
              <a:rPr i="0" lang="en-US" sz="1000" u="none" cap="none" strike="noStrike">
                <a:solidFill>
                  <a:srgbClr val="9FC0EE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🎯 Livrable attendu : </a:t>
            </a:r>
            <a:endParaRPr i="0" sz="1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pen Sans"/>
              <a:buNone/>
            </a:pPr>
            <a:r>
              <a:rPr i="0" lang="en-US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dashboard « Ventes - Retail » regroupant </a:t>
            </a:r>
            <a:r>
              <a:rPr lang="en-US" sz="10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au moins les </a:t>
            </a:r>
            <a:r>
              <a:rPr i="0" lang="en-US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8 items ci-dessus, avec au moins un filtre inter-graphiques fonctionnel.</a:t>
            </a:r>
            <a:endParaRPr i="0" sz="1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B6F"/>
              </a:buClr>
              <a:buSzPts val="3000"/>
              <a:buFont typeface="Open Sans"/>
              <a:buNone/>
            </a:pPr>
            <a:r>
              <a:rPr b="1" i="0" lang="en-US" sz="3000" u="none" cap="none" strike="noStrike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rPr>
              <a:t>Pour aller plus loin</a:t>
            </a:r>
            <a:endParaRPr b="1" i="0" sz="3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48640" y="1600200"/>
            <a:ext cx="5394900" cy="1188600"/>
          </a:xfrm>
          <a:prstGeom prst="roundRect">
            <a:avLst>
              <a:gd fmla="val 9231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14"/>
          <p:cNvGrpSpPr/>
          <p:nvPr/>
        </p:nvGrpSpPr>
        <p:grpSpPr>
          <a:xfrm>
            <a:off x="777240" y="1600200"/>
            <a:ext cx="4926480" cy="1188600"/>
            <a:chOff x="777240" y="1600200"/>
            <a:chExt cx="4926480" cy="1188600"/>
          </a:xfrm>
        </p:grpSpPr>
        <p:sp>
          <p:nvSpPr>
            <p:cNvPr id="358" name="Google Shape;358;p14"/>
            <p:cNvSpPr/>
            <p:nvPr/>
          </p:nvSpPr>
          <p:spPr>
            <a:xfrm>
              <a:off x="777240" y="1965960"/>
              <a:ext cx="457200" cy="4572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 txBox="1"/>
            <p:nvPr/>
          </p:nvSpPr>
          <p:spPr>
            <a:xfrm>
              <a:off x="777240" y="199224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0" name="Google Shape;360;p14"/>
            <p:cNvSpPr txBox="1"/>
            <p:nvPr/>
          </p:nvSpPr>
          <p:spPr>
            <a:xfrm>
              <a:off x="1417320" y="1600200"/>
              <a:ext cx="42864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Documentation Superset</a:t>
              </a:r>
              <a:endParaRPr b="1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64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superset.apache.org/docs/intro</a:t>
              </a:r>
              <a:endParaRPr b="0" sz="9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361" name="Google Shape;361;p14"/>
          <p:cNvSpPr/>
          <p:nvPr/>
        </p:nvSpPr>
        <p:spPr>
          <a:xfrm>
            <a:off x="548640" y="3017520"/>
            <a:ext cx="5394900" cy="1188600"/>
          </a:xfrm>
          <a:prstGeom prst="roundRect">
            <a:avLst>
              <a:gd fmla="val 9231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14"/>
          <p:cNvGrpSpPr/>
          <p:nvPr/>
        </p:nvGrpSpPr>
        <p:grpSpPr>
          <a:xfrm>
            <a:off x="777240" y="3017520"/>
            <a:ext cx="4926480" cy="1188600"/>
            <a:chOff x="777240" y="3017520"/>
            <a:chExt cx="4926480" cy="1188600"/>
          </a:xfrm>
        </p:grpSpPr>
        <p:sp>
          <p:nvSpPr>
            <p:cNvPr id="363" name="Google Shape;363;p14"/>
            <p:cNvSpPr/>
            <p:nvPr/>
          </p:nvSpPr>
          <p:spPr>
            <a:xfrm>
              <a:off x="777240" y="3383280"/>
              <a:ext cx="457200" cy="4572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 txBox="1"/>
            <p:nvPr/>
          </p:nvSpPr>
          <p:spPr>
            <a:xfrm>
              <a:off x="777240" y="340956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5" name="Google Shape;365;p14"/>
            <p:cNvSpPr txBox="1"/>
            <p:nvPr/>
          </p:nvSpPr>
          <p:spPr>
            <a:xfrm>
              <a:off x="1417320" y="3017520"/>
              <a:ext cx="42864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Docker Compose (Superset)</a:t>
              </a:r>
              <a:endParaRPr b="1" sz="119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08">
                  <a:solidFill>
                    <a:srgbClr val="0064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superset.apache.org/docs/installation/installing-superset-using-docker-compose</a:t>
              </a:r>
              <a:endParaRPr b="0" sz="808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366" name="Google Shape;366;p14"/>
          <p:cNvSpPr/>
          <p:nvPr/>
        </p:nvSpPr>
        <p:spPr>
          <a:xfrm>
            <a:off x="548640" y="4434840"/>
            <a:ext cx="5394900" cy="1188600"/>
          </a:xfrm>
          <a:prstGeom prst="roundRect">
            <a:avLst>
              <a:gd fmla="val 9231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777240" y="4434840"/>
            <a:ext cx="4926480" cy="1188600"/>
            <a:chOff x="777240" y="4434840"/>
            <a:chExt cx="4926480" cy="1188600"/>
          </a:xfrm>
        </p:grpSpPr>
        <p:sp>
          <p:nvSpPr>
            <p:cNvPr id="368" name="Google Shape;368;p14"/>
            <p:cNvSpPr/>
            <p:nvPr/>
          </p:nvSpPr>
          <p:spPr>
            <a:xfrm>
              <a:off x="777240" y="4800600"/>
              <a:ext cx="457200" cy="4572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 txBox="1"/>
            <p:nvPr/>
          </p:nvSpPr>
          <p:spPr>
            <a:xfrm>
              <a:off x="777240" y="482688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0" name="Google Shape;370;p14"/>
            <p:cNvSpPr txBox="1"/>
            <p:nvPr/>
          </p:nvSpPr>
          <p:spPr>
            <a:xfrm>
              <a:off x="1417320" y="4434840"/>
              <a:ext cx="42864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Comparatif méthodes d'installation</a:t>
              </a:r>
              <a:endParaRPr b="1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64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superset.apache.org/admin-docs/installation/installation-methods</a:t>
              </a:r>
              <a:endParaRPr b="0" sz="9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371" name="Google Shape;371;p14"/>
          <p:cNvSpPr/>
          <p:nvPr/>
        </p:nvSpPr>
        <p:spPr>
          <a:xfrm>
            <a:off x="6217920" y="1600200"/>
            <a:ext cx="5394900" cy="1188600"/>
          </a:xfrm>
          <a:prstGeom prst="roundRect">
            <a:avLst>
              <a:gd fmla="val 9231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14"/>
          <p:cNvGrpSpPr/>
          <p:nvPr/>
        </p:nvGrpSpPr>
        <p:grpSpPr>
          <a:xfrm>
            <a:off x="6446520" y="1600200"/>
            <a:ext cx="4926480" cy="1188600"/>
            <a:chOff x="6446520" y="1600200"/>
            <a:chExt cx="4926480" cy="1188600"/>
          </a:xfrm>
        </p:grpSpPr>
        <p:sp>
          <p:nvSpPr>
            <p:cNvPr id="373" name="Google Shape;373;p14"/>
            <p:cNvSpPr/>
            <p:nvPr/>
          </p:nvSpPr>
          <p:spPr>
            <a:xfrm>
              <a:off x="6446520" y="1965960"/>
              <a:ext cx="457200" cy="4572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4"/>
            <p:cNvSpPr txBox="1"/>
            <p:nvPr/>
          </p:nvSpPr>
          <p:spPr>
            <a:xfrm>
              <a:off x="6446520" y="199224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5" name="Google Shape;375;p14"/>
            <p:cNvSpPr txBox="1"/>
            <p:nvPr/>
          </p:nvSpPr>
          <p:spPr>
            <a:xfrm>
              <a:off x="7086600" y="1600200"/>
              <a:ext cx="42864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Créer son premier dashboard</a:t>
              </a:r>
              <a:endParaRPr b="1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64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superset.apache.org/docs/using-superset/creating-your-first-dashboard</a:t>
              </a:r>
              <a:endParaRPr b="0" sz="9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376" name="Google Shape;376;p14"/>
          <p:cNvSpPr/>
          <p:nvPr/>
        </p:nvSpPr>
        <p:spPr>
          <a:xfrm>
            <a:off x="6217920" y="3017520"/>
            <a:ext cx="5394900" cy="1188600"/>
          </a:xfrm>
          <a:prstGeom prst="roundRect">
            <a:avLst>
              <a:gd fmla="val 9231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14"/>
          <p:cNvGrpSpPr/>
          <p:nvPr/>
        </p:nvGrpSpPr>
        <p:grpSpPr>
          <a:xfrm>
            <a:off x="6446520" y="3017520"/>
            <a:ext cx="4926480" cy="1188600"/>
            <a:chOff x="6446520" y="3017520"/>
            <a:chExt cx="4926480" cy="1188600"/>
          </a:xfrm>
        </p:grpSpPr>
        <p:sp>
          <p:nvSpPr>
            <p:cNvPr id="378" name="Google Shape;378;p14"/>
            <p:cNvSpPr/>
            <p:nvPr/>
          </p:nvSpPr>
          <p:spPr>
            <a:xfrm>
              <a:off x="6446520" y="3383280"/>
              <a:ext cx="457200" cy="4572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4"/>
            <p:cNvSpPr txBox="1"/>
            <p:nvPr/>
          </p:nvSpPr>
          <p:spPr>
            <a:xfrm>
              <a:off x="6446520" y="340956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0" name="Google Shape;380;p14"/>
            <p:cNvSpPr txBox="1"/>
            <p:nvPr/>
          </p:nvSpPr>
          <p:spPr>
            <a:xfrm>
              <a:off x="7086600" y="3017520"/>
              <a:ext cx="42864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Docker — Get Started</a:t>
              </a:r>
              <a:endParaRPr b="1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64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docs.docker.com/get-started/get-docker</a:t>
              </a:r>
              <a:endParaRPr b="0" sz="9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381" name="Google Shape;381;p14"/>
          <p:cNvSpPr/>
          <p:nvPr/>
        </p:nvSpPr>
        <p:spPr>
          <a:xfrm>
            <a:off x="6217920" y="4434840"/>
            <a:ext cx="5394900" cy="1188600"/>
          </a:xfrm>
          <a:prstGeom prst="roundRect">
            <a:avLst>
              <a:gd fmla="val 9231" name="adj"/>
            </a:avLst>
          </a:prstGeom>
          <a:solidFill>
            <a:srgbClr val="E6E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14"/>
          <p:cNvGrpSpPr/>
          <p:nvPr/>
        </p:nvGrpSpPr>
        <p:grpSpPr>
          <a:xfrm>
            <a:off x="6446520" y="4434840"/>
            <a:ext cx="4926480" cy="1188600"/>
            <a:chOff x="6446520" y="4434840"/>
            <a:chExt cx="4926480" cy="1188600"/>
          </a:xfrm>
        </p:grpSpPr>
        <p:sp>
          <p:nvSpPr>
            <p:cNvPr id="383" name="Google Shape;383;p14"/>
            <p:cNvSpPr/>
            <p:nvPr/>
          </p:nvSpPr>
          <p:spPr>
            <a:xfrm>
              <a:off x="6446520" y="4800600"/>
              <a:ext cx="457200" cy="457200"/>
            </a:xfrm>
            <a:prstGeom prst="ellipse">
              <a:avLst/>
            </a:prstGeom>
            <a:solidFill>
              <a:srgbClr val="1B3B6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4"/>
            <p:cNvSpPr txBox="1"/>
            <p:nvPr/>
          </p:nvSpPr>
          <p:spPr>
            <a:xfrm>
              <a:off x="6446520" y="482688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5" name="Google Shape;385;p14"/>
            <p:cNvSpPr txBox="1"/>
            <p:nvPr/>
          </p:nvSpPr>
          <p:spPr>
            <a:xfrm>
              <a:off x="7086600" y="4434840"/>
              <a:ext cx="42864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3B6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Docker Compose (référence)</a:t>
              </a:r>
              <a:endParaRPr b="1" sz="1400">
                <a:solidFill>
                  <a:srgbClr val="1B3B6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64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docs.docker.com/compose</a:t>
              </a:r>
              <a:endParaRPr b="0" sz="9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386" name="Google Shape;386;p14"/>
          <p:cNvSpPr/>
          <p:nvPr/>
        </p:nvSpPr>
        <p:spPr>
          <a:xfrm>
            <a:off x="11064250" y="6554350"/>
            <a:ext cx="79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sur</a:t>
            </a:r>
            <a:r>
              <a:rPr lang="en-US" sz="1050">
                <a:solidFill>
                  <a:srgbClr val="5B6472"/>
                </a:solidFill>
                <a:latin typeface="Golos Text"/>
                <a:ea typeface="Golos Text"/>
                <a:cs typeface="Golos Text"/>
                <a:sym typeface="Golos Text"/>
              </a:rPr>
              <a:t> 13</a:t>
            </a:r>
            <a:endParaRPr sz="1050">
              <a:solidFill>
                <a:srgbClr val="5B647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87" name="Google Shape;387;p14"/>
          <p:cNvPicPr preferRelativeResize="0"/>
          <p:nvPr/>
        </p:nvPicPr>
        <p:blipFill rotWithShape="1">
          <a:blip r:embed="rId3">
            <a:alphaModFix/>
          </a:blip>
          <a:srcRect b="0" l="505" r="495" t="0"/>
          <a:stretch/>
        </p:blipFill>
        <p:spPr>
          <a:xfrm>
            <a:off x="420624" y="91440"/>
            <a:ext cx="1326000" cy="3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4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389" name="Google Shape;389;p14"/>
          <p:cNvSpPr txBox="1"/>
          <p:nvPr/>
        </p:nvSpPr>
        <p:spPr>
          <a:xfrm>
            <a:off x="9208008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420624" y="6610588"/>
            <a:ext cx="107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64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0064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91" name="Google Shape;3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" y="6437376"/>
            <a:ext cx="11338500" cy="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519113"/>
            <a:ext cx="113385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B6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/>
          <p:nvPr/>
        </p:nvSpPr>
        <p:spPr>
          <a:xfrm>
            <a:off x="9900683" y="4399309"/>
            <a:ext cx="4572000" cy="4572000"/>
          </a:xfrm>
          <a:prstGeom prst="ellipse">
            <a:avLst/>
          </a:prstGeom>
          <a:solidFill>
            <a:srgbClr val="2E75D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2E75D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952500" y="114300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Merci !</a:t>
            </a:r>
            <a:endParaRPr b="1" sz="5400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401" name="Google Shape;401;p15"/>
          <p:cNvGrpSpPr/>
          <p:nvPr/>
        </p:nvGrpSpPr>
        <p:grpSpPr>
          <a:xfrm>
            <a:off x="942975" y="2466975"/>
            <a:ext cx="4972200" cy="2676600"/>
            <a:chOff x="942975" y="2466975"/>
            <a:chExt cx="4972200" cy="2676600"/>
          </a:xfrm>
        </p:grpSpPr>
        <p:pic>
          <p:nvPicPr>
            <p:cNvPr id="402" name="Google Shape;40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2975" y="2466975"/>
              <a:ext cx="49722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15"/>
            <p:cNvSpPr/>
            <p:nvPr/>
          </p:nvSpPr>
          <p:spPr>
            <a:xfrm>
              <a:off x="1276350" y="3467100"/>
              <a:ext cx="685800" cy="6858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 txBox="1"/>
            <p:nvPr/>
          </p:nvSpPr>
          <p:spPr>
            <a:xfrm>
              <a:off x="1390650" y="36222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5" name="Google Shape;405;p15"/>
            <p:cNvSpPr txBox="1"/>
            <p:nvPr/>
          </p:nvSpPr>
          <p:spPr>
            <a:xfrm>
              <a:off x="2190750" y="2476500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Place à la pratique</a:t>
              </a:r>
              <a:endParaRPr b="1" sz="22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FE0F7"/>
                  </a:solidFill>
                  <a:latin typeface="Golos Text"/>
                  <a:ea typeface="Golos Text"/>
                  <a:cs typeface="Golos Text"/>
                  <a:sym typeface="Golos Text"/>
                </a:rPr>
                <a:t>Bon TP Apache Superset 🚀</a:t>
              </a:r>
              <a:endParaRPr b="0" sz="1400">
                <a:solidFill>
                  <a:srgbClr val="CFE0F7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406" name="Google Shape;406;p15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407" name="Google Shape;407;p15"/>
          <p:cNvSpPr txBox="1"/>
          <p:nvPr/>
        </p:nvSpPr>
        <p:spPr>
          <a:xfrm>
            <a:off x="9211479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420624" y="6428300"/>
            <a:ext cx="192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FC0EE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9FC0EE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409" name="Google Shape;409;p15"/>
          <p:cNvGrpSpPr/>
          <p:nvPr/>
        </p:nvGrpSpPr>
        <p:grpSpPr>
          <a:xfrm>
            <a:off x="6276975" y="2466975"/>
            <a:ext cx="4676775" cy="2676600"/>
            <a:chOff x="6276975" y="2466975"/>
            <a:chExt cx="4676775" cy="2676600"/>
          </a:xfrm>
        </p:grpSpPr>
        <p:pic>
          <p:nvPicPr>
            <p:cNvPr id="410" name="Google Shape;41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76975" y="2466975"/>
              <a:ext cx="4219800" cy="26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15"/>
            <p:cNvSpPr/>
            <p:nvPr/>
          </p:nvSpPr>
          <p:spPr>
            <a:xfrm>
              <a:off x="6610350" y="3467100"/>
              <a:ext cx="685800" cy="68580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 txBox="1"/>
            <p:nvPr/>
          </p:nvSpPr>
          <p:spPr>
            <a:xfrm>
              <a:off x="6724650" y="36222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3" name="Google Shape;413;p15"/>
            <p:cNvSpPr txBox="1"/>
            <p:nvPr/>
          </p:nvSpPr>
          <p:spPr>
            <a:xfrm>
              <a:off x="7524750" y="2476500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Des questions ?</a:t>
              </a:r>
              <a:endParaRPr b="1" sz="2200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FE0F7"/>
                  </a:solidFill>
                  <a:latin typeface="Golos Text"/>
                  <a:ea typeface="Golos Text"/>
                  <a:cs typeface="Golos Text"/>
                  <a:sym typeface="Golos Text"/>
                </a:rPr>
                <a:t>Les formateurs restent disponible pendant l'exercice.</a:t>
              </a:r>
              <a:endParaRPr b="0" sz="1400">
                <a:solidFill>
                  <a:srgbClr val="CFE0F7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pic>
        <p:nvPicPr>
          <p:cNvPr id="414" name="Google Shape;414;p15" title="IngeData Logo Horizontal 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050" y="87625"/>
            <a:ext cx="1324477" cy="38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04825"/>
            <a:ext cx="12192000" cy="69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"/>
          <p:cNvSpPr txBox="1"/>
          <p:nvPr/>
        </p:nvSpPr>
        <p:spPr>
          <a:xfrm>
            <a:off x="4767875" y="180350"/>
            <a:ext cx="265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422" name="Google Shape;422;p16"/>
          <p:cNvSpPr txBox="1"/>
          <p:nvPr/>
        </p:nvSpPr>
        <p:spPr>
          <a:xfrm>
            <a:off x="9211479" y="179300"/>
            <a:ext cx="26517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900"/>
                </a:solidFill>
                <a:latin typeface="Golos Text"/>
                <a:ea typeface="Golos Text"/>
                <a:cs typeface="Golos Text"/>
                <a:sym typeface="Golos Text"/>
              </a:rPr>
              <a:t>TLP Orange</a:t>
            </a:r>
            <a:endParaRPr b="1" sz="1050">
              <a:solidFill>
                <a:srgbClr val="59595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17050" y="57925"/>
            <a:ext cx="1135200" cy="386700"/>
          </a:xfrm>
          <a:prstGeom prst="rect">
            <a:avLst/>
          </a:prstGeom>
          <a:solidFill>
            <a:srgbClr val="111B33"/>
          </a:solidFill>
          <a:ln cap="flat" cmpd="sng" w="9525">
            <a:solidFill>
              <a:srgbClr val="10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4" name="Google Shape;424;p16" title="IngeData Logo Horizontal 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050" y="87625"/>
            <a:ext cx="1324477" cy="38675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6"/>
          <p:cNvSpPr/>
          <p:nvPr/>
        </p:nvSpPr>
        <p:spPr>
          <a:xfrm>
            <a:off x="5143500" y="1333500"/>
            <a:ext cx="1905000" cy="342900"/>
          </a:xfrm>
          <a:prstGeom prst="flowChartAlternateProcess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SUPPORT DE TP</a:t>
            </a:r>
            <a:endParaRPr b="1" sz="1100">
              <a:solidFill>
                <a:srgbClr val="60A5FA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26" name="Google Shape;426;p16"/>
          <p:cNvSpPr txBox="1"/>
          <p:nvPr/>
        </p:nvSpPr>
        <p:spPr>
          <a:xfrm>
            <a:off x="1809750" y="1905000"/>
            <a:ext cx="85725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Apache </a:t>
            </a:r>
            <a:r>
              <a:rPr b="0" lang="en-US" sz="4800">
                <a:solidFill>
                  <a:srgbClr val="60A5F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Superset</a:t>
            </a:r>
            <a:endParaRPr b="0" sz="4800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1333500" y="2905125"/>
            <a:ext cx="952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93C5FD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Installation Docker Compose &amp; prise en main par la pratique</a:t>
            </a:r>
            <a:endParaRPr b="0" sz="2000">
              <a:solidFill>
                <a:srgbClr val="93C5FD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2000250" y="4000500"/>
            <a:ext cx="2190900" cy="362100"/>
          </a:xfrm>
          <a:prstGeom prst="rect">
            <a:avLst/>
          </a:prstGeom>
          <a:solidFill>
            <a:srgbClr val="FFFFFF">
              <a:alpha val="8000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Windows · macOS · Linux</a:t>
            </a:r>
            <a:endParaRPr b="0" sz="1100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381500" y="4000500"/>
            <a:ext cx="1619100" cy="362100"/>
          </a:xfrm>
          <a:prstGeom prst="rect">
            <a:avLst/>
          </a:prstGeom>
          <a:solidFill>
            <a:srgbClr val="FFFFFF">
              <a:alpha val="8000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Docker Compose</a:t>
            </a:r>
            <a:endParaRPr b="0" sz="1100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6191250" y="4000500"/>
            <a:ext cx="1619100" cy="362100"/>
          </a:xfrm>
          <a:prstGeom prst="rect">
            <a:avLst/>
          </a:prstGeom>
          <a:solidFill>
            <a:srgbClr val="FFFFFF">
              <a:alpha val="8000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Dataset Kaggle</a:t>
            </a:r>
            <a:endParaRPr b="0" sz="1100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001000" y="4000500"/>
            <a:ext cx="1619100" cy="362100"/>
          </a:xfrm>
          <a:prstGeom prst="rect">
            <a:avLst/>
          </a:prstGeom>
          <a:solidFill>
            <a:srgbClr val="FFFFFF">
              <a:alpha val="8000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Dashboard final</a:t>
            </a:r>
            <a:endParaRPr b="0" sz="1100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cxnSp>
        <p:nvCxnSpPr>
          <p:cNvPr id="432" name="Google Shape;432;p16"/>
          <p:cNvCxnSpPr/>
          <p:nvPr/>
        </p:nvCxnSpPr>
        <p:spPr>
          <a:xfrm>
            <a:off x="673200" y="6428300"/>
            <a:ext cx="10845600" cy="9000"/>
          </a:xfrm>
          <a:prstGeom prst="straightConnector1">
            <a:avLst/>
          </a:prstGeom>
          <a:noFill/>
          <a:ln cap="flat" cmpd="sng" w="19050">
            <a:solidFill>
              <a:srgbClr val="1B3B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16"/>
          <p:cNvSpPr/>
          <p:nvPr/>
        </p:nvSpPr>
        <p:spPr>
          <a:xfrm>
            <a:off x="1333500" y="55245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94A3B8"/>
                </a:solidFill>
                <a:latin typeface="Golos Text"/>
                <a:ea typeface="Golos Text"/>
                <a:cs typeface="Golos Text"/>
                <a:sym typeface="Golos Text"/>
              </a:rPr>
              <a:t>Elaboré par : </a:t>
            </a: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Shirley TAFITA &amp; Davys RASOANAIVO</a:t>
            </a:r>
            <a:r>
              <a:rPr b="0" lang="en-US" sz="1100">
                <a:solidFill>
                  <a:srgbClr val="94A3B8"/>
                </a:solidFill>
                <a:latin typeface="Golos Text"/>
                <a:ea typeface="Golos Text"/>
                <a:cs typeface="Golos Text"/>
                <a:sym typeface="Golos Text"/>
              </a:rPr>
              <a:t> · Durée indicative : </a:t>
            </a: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2h30</a:t>
            </a:r>
            <a:r>
              <a:rPr b="0" lang="en-US" sz="1100">
                <a:solidFill>
                  <a:srgbClr val="94A3B8"/>
                </a:solidFill>
                <a:latin typeface="Golos Text"/>
                <a:ea typeface="Golos Text"/>
                <a:cs typeface="Golos Text"/>
                <a:sym typeface="Golos Text"/>
              </a:rPr>
              <a:t> · Public : </a:t>
            </a:r>
            <a:r>
              <a:rPr b="0" lang="en-US" sz="110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apprenants Data / BI</a:t>
            </a:r>
            <a:endParaRPr b="0" sz="1100">
              <a:solidFill>
                <a:srgbClr val="94A3B8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420624" y="6428300"/>
            <a:ext cx="192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FC0EE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 sz="1050">
              <a:solidFill>
                <a:srgbClr val="9FC0EE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