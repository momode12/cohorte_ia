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Golos Text"/>
      <p:regular r:id="rId42"/>
      <p:bold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Maven Pro"/>
      <p:regular r:id="rId48"/>
      <p:bold r:id="rId49"/>
    </p:embeddedFont>
    <p:embeddedFont>
      <p:font typeface="Open Sans SemiBold"/>
      <p:regular r:id="rId50"/>
      <p:bold r:id="rId51"/>
      <p:italic r:id="rId52"/>
      <p:boldItalic r:id="rId53"/>
    </p:embeddedFont>
    <p:embeddedFont>
      <p:font typeface="Open Sans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5D2777-C8FD-4A94-BA65-D99E425A8E67}">
  <a:tblStyle styleId="{B65D2777-C8FD-4A94-BA65-D99E425A8E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GolosText-regular.fntdata"/><Relationship Id="rId41" Type="http://schemas.openxmlformats.org/officeDocument/2006/relationships/slide" Target="slides/slide35.xml"/><Relationship Id="rId44" Type="http://schemas.openxmlformats.org/officeDocument/2006/relationships/font" Target="fonts/Roboto-regular.fntdata"/><Relationship Id="rId43" Type="http://schemas.openxmlformats.org/officeDocument/2006/relationships/font" Target="fonts/GolosText-bold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avenPro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MavenPr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SemiBold-bold.fntdata"/><Relationship Id="rId50" Type="http://schemas.openxmlformats.org/officeDocument/2006/relationships/font" Target="fonts/OpenSansSemiBold-regular.fntdata"/><Relationship Id="rId53" Type="http://schemas.openxmlformats.org/officeDocument/2006/relationships/font" Target="fonts/OpenSansSemiBold-boldItalic.fntdata"/><Relationship Id="rId52" Type="http://schemas.openxmlformats.org/officeDocument/2006/relationships/font" Target="fonts/OpenSansSemiBold-italic.fntdata"/><Relationship Id="rId11" Type="http://schemas.openxmlformats.org/officeDocument/2006/relationships/slide" Target="slides/slide5.xml"/><Relationship Id="rId55" Type="http://schemas.openxmlformats.org/officeDocument/2006/relationships/font" Target="fonts/OpenSans-bold.fntdata"/><Relationship Id="rId10" Type="http://schemas.openxmlformats.org/officeDocument/2006/relationships/slide" Target="slides/slide4.xml"/><Relationship Id="rId54" Type="http://schemas.openxmlformats.org/officeDocument/2006/relationships/font" Target="fonts/OpenSans-regular.fntdata"/><Relationship Id="rId13" Type="http://schemas.openxmlformats.org/officeDocument/2006/relationships/slide" Target="slides/slide7.xml"/><Relationship Id="rId57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56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5fb0d7121_6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5fb0d7121_6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t/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09" name="Google Shape;90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 1 1 1 1 1 1 1 1">
  <p:cSld name="Slide master 1 (g3ef442e0e38_16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4.png"/><Relationship Id="rId10" Type="http://schemas.openxmlformats.org/officeDocument/2006/relationships/image" Target="../media/image18.png"/><Relationship Id="rId13" Type="http://schemas.openxmlformats.org/officeDocument/2006/relationships/image" Target="../media/image14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5" Type="http://schemas.openxmlformats.org/officeDocument/2006/relationships/image" Target="../media/image21.png"/><Relationship Id="rId14" Type="http://schemas.openxmlformats.org/officeDocument/2006/relationships/image" Target="../media/image24.png"/><Relationship Id="rId17" Type="http://schemas.openxmlformats.org/officeDocument/2006/relationships/image" Target="../media/image16.png"/><Relationship Id="rId16" Type="http://schemas.openxmlformats.org/officeDocument/2006/relationships/image" Target="../media/image19.png"/><Relationship Id="rId5" Type="http://schemas.openxmlformats.org/officeDocument/2006/relationships/image" Target="../media/image11.png"/><Relationship Id="rId19" Type="http://schemas.openxmlformats.org/officeDocument/2006/relationships/image" Target="../media/image9.png"/><Relationship Id="rId6" Type="http://schemas.openxmlformats.org/officeDocument/2006/relationships/image" Target="../media/image3.png"/><Relationship Id="rId18" Type="http://schemas.openxmlformats.org/officeDocument/2006/relationships/image" Target="../media/image46.png"/><Relationship Id="rId7" Type="http://schemas.openxmlformats.org/officeDocument/2006/relationships/image" Target="../media/image13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50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14.png"/><Relationship Id="rId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0.png"/><Relationship Id="rId1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5.png"/><Relationship Id="rId10" Type="http://schemas.openxmlformats.org/officeDocument/2006/relationships/image" Target="../media/image14.png"/><Relationship Id="rId13" Type="http://schemas.openxmlformats.org/officeDocument/2006/relationships/image" Target="../media/image60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14" Type="http://schemas.openxmlformats.org/officeDocument/2006/relationships/image" Target="../media/image55.png"/><Relationship Id="rId5" Type="http://schemas.openxmlformats.org/officeDocument/2006/relationships/image" Target="../media/image48.png"/><Relationship Id="rId6" Type="http://schemas.openxmlformats.org/officeDocument/2006/relationships/image" Target="../media/image38.png"/><Relationship Id="rId7" Type="http://schemas.openxmlformats.org/officeDocument/2006/relationships/image" Target="../media/image51.png"/><Relationship Id="rId8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53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32.png"/><Relationship Id="rId7" Type="http://schemas.openxmlformats.org/officeDocument/2006/relationships/image" Target="../media/image14.png"/><Relationship Id="rId8" Type="http://schemas.openxmlformats.org/officeDocument/2006/relationships/image" Target="../media/image5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4.png"/><Relationship Id="rId10" Type="http://schemas.openxmlformats.org/officeDocument/2006/relationships/image" Target="../media/image61.png"/><Relationship Id="rId12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68.png"/><Relationship Id="rId5" Type="http://schemas.openxmlformats.org/officeDocument/2006/relationships/image" Target="../media/image64.png"/><Relationship Id="rId6" Type="http://schemas.openxmlformats.org/officeDocument/2006/relationships/image" Target="../media/image59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1.png"/><Relationship Id="rId10" Type="http://schemas.openxmlformats.org/officeDocument/2006/relationships/image" Target="../media/image63.png"/><Relationship Id="rId13" Type="http://schemas.openxmlformats.org/officeDocument/2006/relationships/image" Target="../media/image83.jp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62.png"/><Relationship Id="rId6" Type="http://schemas.openxmlformats.org/officeDocument/2006/relationships/image" Target="../media/image65.png"/><Relationship Id="rId7" Type="http://schemas.openxmlformats.org/officeDocument/2006/relationships/image" Target="../media/image54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72.png"/><Relationship Id="rId1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75.png"/><Relationship Id="rId6" Type="http://schemas.openxmlformats.org/officeDocument/2006/relationships/image" Target="../media/image65.png"/><Relationship Id="rId7" Type="http://schemas.openxmlformats.org/officeDocument/2006/relationships/image" Target="../media/image69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78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79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85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80.png"/><Relationship Id="rId5" Type="http://schemas.openxmlformats.org/officeDocument/2006/relationships/image" Target="../media/image77.png"/><Relationship Id="rId6" Type="http://schemas.openxmlformats.org/officeDocument/2006/relationships/image" Target="../media/image94.png"/><Relationship Id="rId7" Type="http://schemas.openxmlformats.org/officeDocument/2006/relationships/image" Target="../media/image82.png"/><Relationship Id="rId8" Type="http://schemas.openxmlformats.org/officeDocument/2006/relationships/image" Target="../media/image8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14.png"/><Relationship Id="rId13" Type="http://schemas.openxmlformats.org/officeDocument/2006/relationships/image" Target="../media/image96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14" Type="http://schemas.openxmlformats.org/officeDocument/2006/relationships/image" Target="../media/image87.png"/><Relationship Id="rId5" Type="http://schemas.openxmlformats.org/officeDocument/2006/relationships/image" Target="../media/image95.png"/><Relationship Id="rId6" Type="http://schemas.openxmlformats.org/officeDocument/2006/relationships/image" Target="../media/image84.png"/><Relationship Id="rId7" Type="http://schemas.openxmlformats.org/officeDocument/2006/relationships/image" Target="../media/image91.png"/><Relationship Id="rId8" Type="http://schemas.openxmlformats.org/officeDocument/2006/relationships/image" Target="../media/image88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3.png"/><Relationship Id="rId1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90.png"/><Relationship Id="rId5" Type="http://schemas.openxmlformats.org/officeDocument/2006/relationships/image" Target="../media/image92.png"/><Relationship Id="rId6" Type="http://schemas.openxmlformats.org/officeDocument/2006/relationships/image" Target="../media/image59.png"/><Relationship Id="rId7" Type="http://schemas.openxmlformats.org/officeDocument/2006/relationships/image" Target="../media/image32.png"/><Relationship Id="rId8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32.png"/><Relationship Id="rId13" Type="http://schemas.openxmlformats.org/officeDocument/2006/relationships/image" Target="../media/image103.jp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27.png"/><Relationship Id="rId15" Type="http://schemas.openxmlformats.org/officeDocument/2006/relationships/image" Target="../media/image109.png"/><Relationship Id="rId14" Type="http://schemas.openxmlformats.org/officeDocument/2006/relationships/image" Target="../media/image102.png"/><Relationship Id="rId17" Type="http://schemas.openxmlformats.org/officeDocument/2006/relationships/image" Target="../media/image114.png"/><Relationship Id="rId16" Type="http://schemas.openxmlformats.org/officeDocument/2006/relationships/image" Target="../media/image111.png"/><Relationship Id="rId5" Type="http://schemas.openxmlformats.org/officeDocument/2006/relationships/image" Target="../media/image119.png"/><Relationship Id="rId6" Type="http://schemas.openxmlformats.org/officeDocument/2006/relationships/image" Target="../media/image98.png"/><Relationship Id="rId7" Type="http://schemas.openxmlformats.org/officeDocument/2006/relationships/image" Target="../media/image100.png"/><Relationship Id="rId8" Type="http://schemas.openxmlformats.org/officeDocument/2006/relationships/image" Target="../media/image10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28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9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26.png"/><Relationship Id="rId6" Type="http://schemas.openxmlformats.org/officeDocument/2006/relationships/image" Target="../media/image32.png"/><Relationship Id="rId7" Type="http://schemas.openxmlformats.org/officeDocument/2006/relationships/image" Target="../media/image14.png"/><Relationship Id="rId8" Type="http://schemas.openxmlformats.org/officeDocument/2006/relationships/image" Target="../media/image107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7.jpg"/><Relationship Id="rId10" Type="http://schemas.openxmlformats.org/officeDocument/2006/relationships/image" Target="../media/image108.png"/><Relationship Id="rId1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15.png"/><Relationship Id="rId6" Type="http://schemas.openxmlformats.org/officeDocument/2006/relationships/image" Target="../media/image122.png"/><Relationship Id="rId7" Type="http://schemas.openxmlformats.org/officeDocument/2006/relationships/image" Target="../media/image121.png"/><Relationship Id="rId8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4.png"/><Relationship Id="rId10" Type="http://schemas.openxmlformats.org/officeDocument/2006/relationships/image" Target="../media/image113.png"/><Relationship Id="rId1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18.png"/><Relationship Id="rId6" Type="http://schemas.openxmlformats.org/officeDocument/2006/relationships/image" Target="../media/image123.png"/><Relationship Id="rId7" Type="http://schemas.openxmlformats.org/officeDocument/2006/relationships/image" Target="../media/image110.png"/><Relationship Id="rId8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2.png"/><Relationship Id="rId10" Type="http://schemas.openxmlformats.org/officeDocument/2006/relationships/image" Target="../media/image131.png"/><Relationship Id="rId12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32.png"/><Relationship Id="rId6" Type="http://schemas.openxmlformats.org/officeDocument/2006/relationships/image" Target="../media/image65.png"/><Relationship Id="rId7" Type="http://schemas.openxmlformats.org/officeDocument/2006/relationships/image" Target="../media/image54.png"/><Relationship Id="rId8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30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1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172.png"/><Relationship Id="rId6" Type="http://schemas.openxmlformats.org/officeDocument/2006/relationships/image" Target="../media/image32.png"/><Relationship Id="rId7" Type="http://schemas.openxmlformats.org/officeDocument/2006/relationships/image" Target="../media/image14.png"/><Relationship Id="rId8" Type="http://schemas.openxmlformats.org/officeDocument/2006/relationships/image" Target="../media/image139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5.png"/><Relationship Id="rId10" Type="http://schemas.openxmlformats.org/officeDocument/2006/relationships/image" Target="../media/image14.png"/><Relationship Id="rId13" Type="http://schemas.openxmlformats.org/officeDocument/2006/relationships/image" Target="../media/image154.png"/><Relationship Id="rId12" Type="http://schemas.openxmlformats.org/officeDocument/2006/relationships/image" Target="../media/image1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5" Type="http://schemas.openxmlformats.org/officeDocument/2006/relationships/image" Target="../media/image135.png"/><Relationship Id="rId6" Type="http://schemas.openxmlformats.org/officeDocument/2006/relationships/image" Target="../media/image144.png"/><Relationship Id="rId7" Type="http://schemas.openxmlformats.org/officeDocument/2006/relationships/image" Target="../media/image140.png"/><Relationship Id="rId8" Type="http://schemas.openxmlformats.org/officeDocument/2006/relationships/image" Target="../media/image129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9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5" Type="http://schemas.openxmlformats.org/officeDocument/2006/relationships/image" Target="../media/image147.png"/><Relationship Id="rId6" Type="http://schemas.openxmlformats.org/officeDocument/2006/relationships/image" Target="../media/image146.png"/><Relationship Id="rId7" Type="http://schemas.openxmlformats.org/officeDocument/2006/relationships/image" Target="../media/image152.png"/><Relationship Id="rId8" Type="http://schemas.openxmlformats.org/officeDocument/2006/relationships/image" Target="../media/image134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7.png"/><Relationship Id="rId10" Type="http://schemas.openxmlformats.org/officeDocument/2006/relationships/image" Target="../media/image138.png"/><Relationship Id="rId12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41.png"/><Relationship Id="rId6" Type="http://schemas.openxmlformats.org/officeDocument/2006/relationships/image" Target="../media/image65.png"/><Relationship Id="rId7" Type="http://schemas.openxmlformats.org/officeDocument/2006/relationships/image" Target="../media/image69.png"/><Relationship Id="rId8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5" Type="http://schemas.openxmlformats.org/officeDocument/2006/relationships/image" Target="../media/image143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163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9.png"/><Relationship Id="rId10" Type="http://schemas.openxmlformats.org/officeDocument/2006/relationships/image" Target="../media/image177.png"/><Relationship Id="rId12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51.png"/><Relationship Id="rId6" Type="http://schemas.openxmlformats.org/officeDocument/2006/relationships/image" Target="../media/image65.png"/><Relationship Id="rId7" Type="http://schemas.openxmlformats.org/officeDocument/2006/relationships/image" Target="../media/image54.png"/><Relationship Id="rId8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0.png"/><Relationship Id="rId10" Type="http://schemas.openxmlformats.org/officeDocument/2006/relationships/image" Target="../media/image165.png"/><Relationship Id="rId12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1.png"/><Relationship Id="rId4" Type="http://schemas.openxmlformats.org/officeDocument/2006/relationships/image" Target="../media/image8.png"/><Relationship Id="rId9" Type="http://schemas.openxmlformats.org/officeDocument/2006/relationships/image" Target="../media/image176.png"/><Relationship Id="rId5" Type="http://schemas.openxmlformats.org/officeDocument/2006/relationships/image" Target="../media/image38.png"/><Relationship Id="rId6" Type="http://schemas.openxmlformats.org/officeDocument/2006/relationships/image" Target="../media/image51.png"/><Relationship Id="rId7" Type="http://schemas.openxmlformats.org/officeDocument/2006/relationships/image" Target="../media/image158.png"/><Relationship Id="rId8" Type="http://schemas.openxmlformats.org/officeDocument/2006/relationships/image" Target="../media/image155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7.png"/><Relationship Id="rId10" Type="http://schemas.openxmlformats.org/officeDocument/2006/relationships/image" Target="../media/image174.png"/><Relationship Id="rId12" Type="http://schemas.openxmlformats.org/officeDocument/2006/relationships/image" Target="../media/image1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66.png"/><Relationship Id="rId6" Type="http://schemas.openxmlformats.org/officeDocument/2006/relationships/image" Target="../media/image65.png"/><Relationship Id="rId7" Type="http://schemas.openxmlformats.org/officeDocument/2006/relationships/image" Target="../media/image69.png"/><Relationship Id="rId8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2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5" Type="http://schemas.openxmlformats.org/officeDocument/2006/relationships/image" Target="../media/image175.png"/><Relationship Id="rId6" Type="http://schemas.openxmlformats.org/officeDocument/2006/relationships/image" Target="../media/image146.png"/><Relationship Id="rId7" Type="http://schemas.openxmlformats.org/officeDocument/2006/relationships/image" Target="../media/image152.png"/><Relationship Id="rId8" Type="http://schemas.openxmlformats.org/officeDocument/2006/relationships/image" Target="../media/image134.png"/></Relationships>
</file>

<file path=ppt/slides/_rels/slide3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171.png"/><Relationship Id="rId6" Type="http://schemas.openxmlformats.org/officeDocument/2006/relationships/image" Target="../media/image170.png"/><Relationship Id="rId7" Type="http://schemas.openxmlformats.org/officeDocument/2006/relationships/image" Target="../media/image180.png"/><Relationship Id="rId8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3.png"/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32.png"/><Relationship Id="rId5" Type="http://schemas.openxmlformats.org/officeDocument/2006/relationships/image" Target="../media/image164.png"/><Relationship Id="rId6" Type="http://schemas.openxmlformats.org/officeDocument/2006/relationships/image" Target="../media/image178.png"/><Relationship Id="rId7" Type="http://schemas.openxmlformats.org/officeDocument/2006/relationships/image" Target="../media/image169.png"/><Relationship Id="rId8" Type="http://schemas.openxmlformats.org/officeDocument/2006/relationships/image" Target="../media/image18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8.png"/><Relationship Id="rId9" Type="http://schemas.openxmlformats.org/officeDocument/2006/relationships/image" Target="../media/image173.png"/><Relationship Id="rId5" Type="http://schemas.openxmlformats.org/officeDocument/2006/relationships/image" Target="../media/image179.png"/><Relationship Id="rId6" Type="http://schemas.openxmlformats.org/officeDocument/2006/relationships/image" Target="../media/image182.png"/><Relationship Id="rId7" Type="http://schemas.openxmlformats.org/officeDocument/2006/relationships/image" Target="../media/image10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26172"/>
            <a:ext cx="1746650" cy="71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6900" y="4726172"/>
            <a:ext cx="2924175" cy="71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92" name="Google Shape;9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9750" y="1769864"/>
            <a:ext cx="306824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809750" y="2246114"/>
            <a:ext cx="9001125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Data Analyst &amp; Business Intelligence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809750" y="352603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Le guide exhaustif de A à Z : comprendre le métier, maîtriser les pipelines ETL/ELT, concevoir des KPI stratégiques, explorer les statistiques et piloter avec les outils BI modernes.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76250" y="6472225"/>
            <a:ext cx="1061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009775" y="4850010"/>
            <a:ext cx="134659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Format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009775" y="4983360"/>
            <a:ext cx="134659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6 Modules Experts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946921" y="4850010"/>
            <a:ext cx="2524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Public cible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946921" y="4983360"/>
            <a:ext cx="2524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Analystes, Managers &amp; Data Leads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03400"/>
            <a:ext cx="353050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203400"/>
            <a:ext cx="3530649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203400"/>
            <a:ext cx="353050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910012"/>
            <a:ext cx="353050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30600" y="3910012"/>
            <a:ext cx="3530649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89850" y="3910012"/>
            <a:ext cx="3530500" cy="147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Programme de la Masterclass (6 Modules)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76250" y="6472225"/>
            <a:ext cx="116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2470100"/>
            <a:ext cx="28569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1 — Métier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803475"/>
            <a:ext cx="30543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Définition du Data Analyst,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ôle pivot,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ompétences clés 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artographie des métiers Data.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883050" y="2470100"/>
            <a:ext cx="287707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2 — Architecture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568725" y="2803475"/>
            <a:ext cx="30543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Pipeline décisionnel,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ETL vs ELT,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Modern Data Stack </a:t>
            </a:r>
            <a:endParaRPr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chéma en étoile (Star Schema).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42300" y="2470100"/>
            <a:ext cx="28769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3 — KPI &amp; Storytelling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27975" y="2803475"/>
            <a:ext cx="305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Conception de KPI SMART,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les 3 familles d'indicateurs et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ègles d'ergonomie des dashboards.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47750" y="4176712"/>
            <a:ext cx="29569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4 — Statistique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09625" y="4510087"/>
            <a:ext cx="305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Indicateurs de tendance centrale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endParaRPr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esures de dispersion,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étection d'outliers et nettoyage data.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4835425" y="4176712"/>
            <a:ext cx="29270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5 — Outils BI &amp; SQL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568725" y="4510087"/>
            <a:ext cx="3054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Comparatif des solutions BI (Power BI, Superset) </a:t>
            </a:r>
            <a:endParaRPr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equêtage SQL avec Window Functions.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613725" y="4176712"/>
            <a:ext cx="29069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Module 6 — Gouvernance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27975" y="4510087"/>
            <a:ext cx="30543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Gouvernance des données,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conformité RGPD, </a:t>
            </a:r>
            <a:endParaRPr b="0" i="0" sz="1050" u="none" cap="none" strike="noStrike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Open Sans"/>
              <a:buChar char="-"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certifications stratégiques et feuille de route carrière.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9625" y="24843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568725" y="24843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327975" y="24843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09625" y="419100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68725" y="41910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327975" y="41910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76525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295275" y="31337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Le Métier, les Rôles &amp; l'Écosystème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3857625"/>
            <a:ext cx="7620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Comprendre le rôle clé du Data Analyst dans la transformation stratégique et la prise de décision en entreprise.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20603"/>
            <a:ext cx="5381625" cy="2712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933450" y="809625"/>
            <a:ext cx="112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Qu'est-ce qu'un Data Analyst ?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1958578"/>
            <a:ext cx="538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Golos Text"/>
                <a:ea typeface="Golos Text"/>
                <a:cs typeface="Golos Text"/>
                <a:sym typeface="Golos Text"/>
              </a:rPr>
              <a:t>Le Data Analyst est le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Golos Text"/>
                <a:ea typeface="Golos Text"/>
                <a:cs typeface="Golos Text"/>
                <a:sym typeface="Golos Text"/>
              </a:rPr>
              <a:t>catalyseur de la culture Data-Driven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Golos Text"/>
                <a:ea typeface="Golos Text"/>
                <a:cs typeface="Golos Text"/>
                <a:sym typeface="Golos Text"/>
              </a:rPr>
              <a:t> : il traduit la donnée brute en leviers d'action stratégiques pour les équipes métier.</a:t>
            </a:r>
            <a:endParaRPr/>
          </a:p>
        </p:txBody>
      </p:sp>
      <p:pic>
        <p:nvPicPr>
          <p:cNvPr descr="A modern 2D vector cartoon illustration of a friendly Data Analyst, a professional sitting at a desk with a laptop, surrounded by floating colorful charts, digital graphs, and a gear icon, flat design corporate style with vibrant blue accents, clean light background." id="166" name="Google Shape;16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77000" y="2095500"/>
            <a:ext cx="4762500" cy="3571800"/>
          </a:xfrm>
          <a:prstGeom prst="roundRect">
            <a:avLst>
              <a:gd fmla="val 4266" name="adj"/>
            </a:avLst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95375" y="3187303"/>
            <a:ext cx="485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Missions Principales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20159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1000125" y="3520678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Extraction &amp; Connexion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Interroger les bases SQL, API, ERP et CRM.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00125" y="3810148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Fiabilisation &amp; Nettoyage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Garantir la qualité, la cohérence et l'exactitude.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000125" y="4312890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Analyse &amp; Exploration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Déceler les anomalies, opportunités et tendances.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00125" y="4815631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Storytelling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Restituer la donnée sous forme de dashboards clairs.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00125" y="5105102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Recommandation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Orienter les choix stratégiques de la direction.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09625" y="3501628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09625" y="3791098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09625" y="4293840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09625" y="4796581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09625" y="5086052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962025" y="809625"/>
            <a:ext cx="111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La Cartographie des Métiers Data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476250" y="6472225"/>
            <a:ext cx="1091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762000" y="1905000"/>
            <a:ext cx="10668000" cy="3810000"/>
            <a:chOff x="762000" y="1905000"/>
            <a:chExt cx="10668000" cy="3810000"/>
          </a:xfrm>
        </p:grpSpPr>
        <p:sp>
          <p:nvSpPr>
            <p:cNvPr id="193" name="Google Shape;193;p18"/>
            <p:cNvSpPr/>
            <p:nvPr/>
          </p:nvSpPr>
          <p:spPr>
            <a:xfrm>
              <a:off x="762000" y="19050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762000" y="19050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005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1000125" y="21431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052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bar_chart</a:t>
              </a:r>
              <a:r>
                <a:rPr b="1" lang="en-US" sz="1500">
                  <a:solidFill>
                    <a:srgbClr val="0F172A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Data Analyst BI</a:t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13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Focus :</a:t>
              </a:r>
              <a:r>
                <a:rPr b="0" lang="en-US" sz="1013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Aide à la décision, création de KPI et dashboards métier.</a:t>
              </a:r>
              <a:endParaRPr b="0" sz="101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Stack :</a:t>
              </a:r>
              <a:r>
                <a:rPr b="0" lang="en-US" sz="975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SQL, Power BI, Excel, Tableau, Superset.</a:t>
              </a:r>
              <a:endParaRPr b="0" sz="97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052FF"/>
                  </a:solidFill>
                  <a:latin typeface="Golos Text"/>
                  <a:ea typeface="Golos Text"/>
                  <a:cs typeface="Golos Text"/>
                  <a:sym typeface="Golos Text"/>
                </a:rPr>
                <a:t>Analyse le présent</a:t>
              </a:r>
              <a:endParaRPr b="1" sz="900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4476750" y="19050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4476750" y="19050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4714875" y="21431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b="1" lang="en-US" sz="1500">
                  <a:solidFill>
                    <a:srgbClr val="0F172A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Data Scientist</a:t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13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Focus :</a:t>
              </a:r>
              <a:r>
                <a:rPr b="0" lang="en-US" sz="1013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Modèles prédictifs, Machine Learning &amp; IA appliquée.</a:t>
              </a:r>
              <a:endParaRPr b="0" sz="101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Stack :</a:t>
              </a:r>
              <a:r>
                <a:rPr b="0" lang="en-US" sz="975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Python, R, Scikit-Learn, TensorFlow, PyTorch.</a:t>
              </a:r>
              <a:endParaRPr b="0" sz="97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4F46E5"/>
                  </a:solidFill>
                  <a:latin typeface="Golos Text"/>
                  <a:ea typeface="Golos Text"/>
                  <a:cs typeface="Golos Text"/>
                  <a:sym typeface="Golos Text"/>
                </a:rPr>
                <a:t>Prédit le futur</a:t>
              </a:r>
              <a:endParaRPr b="1" sz="900">
                <a:solidFill>
                  <a:srgbClr val="4F46E5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99" name="Google Shape;199;p18"/>
            <p:cNvSpPr/>
            <p:nvPr/>
          </p:nvSpPr>
          <p:spPr>
            <a:xfrm>
              <a:off x="8191500" y="19050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8191500" y="19050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0EA5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8429625" y="2143125"/>
              <a:ext cx="2762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0EA5E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r>
                <a:rPr b="1" lang="en-US" sz="1500">
                  <a:solidFill>
                    <a:srgbClr val="0F172A"/>
                  </a:solidFill>
                  <a:latin typeface="Golos Text"/>
                  <a:ea typeface="Golos Text"/>
                  <a:cs typeface="Golos Text"/>
                  <a:sym typeface="Golos Text"/>
                </a:rPr>
                <a:t>Data Engineer</a:t>
              </a:r>
              <a:endParaRPr>
                <a:latin typeface="Golos Text"/>
                <a:ea typeface="Golos Text"/>
                <a:cs typeface="Golos Text"/>
                <a:sym typeface="Golos Text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13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Focus :</a:t>
              </a:r>
              <a:r>
                <a:rPr b="0" lang="en-US" sz="1013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Infrastructures, pipelines de données, Data Warehouse.</a:t>
              </a:r>
              <a:endParaRPr b="0" sz="101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1E293B"/>
                  </a:solidFill>
                  <a:latin typeface="Golos Text"/>
                  <a:ea typeface="Golos Text"/>
                  <a:cs typeface="Golos Text"/>
                  <a:sym typeface="Golos Text"/>
                </a:rPr>
                <a:t>Stack :</a:t>
              </a:r>
              <a:r>
                <a:rPr b="0" lang="en-US" sz="975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SQL, Spark, Airflow, Snowflake, BigQuery.</a:t>
              </a:r>
              <a:endParaRPr b="0" sz="97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EA5E9"/>
                  </a:solidFill>
                  <a:latin typeface="Golos Text"/>
                  <a:ea typeface="Golos Text"/>
                  <a:cs typeface="Golos Text"/>
                  <a:sym typeface="Golos Text"/>
                </a:rPr>
                <a:t>Construit le tuyau</a:t>
              </a:r>
              <a:endParaRPr b="1" sz="900">
                <a:solidFill>
                  <a:srgbClr val="0EA5E9"/>
                </a:solidFill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52861"/>
            <a:ext cx="5381625" cy="228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52861"/>
            <a:ext cx="5381625" cy="2285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Hard Skills vs Soft Skills de l'Analyst</a:t>
            </a:r>
            <a:endParaRPr/>
          </a:p>
        </p:txBody>
      </p:sp>
      <p:pic>
        <p:nvPicPr>
          <p:cNvPr descr="image.png" id="213" name="Google Shape;21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215" name="Google Shape;21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143000" y="2919561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Hard Skills (Techniques)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810375" y="2919561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Soft Skills (Humaines &amp; Business)</a:t>
            </a:r>
            <a:endParaRPr/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3384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1000125" y="3252936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Maîtrise SQL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Requêtes complexes, jointures, CTE, Window Functions.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000125" y="354240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Outils BI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Power BI (DAX, Power Query), Tableau, Superset.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000125" y="383187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Modélisation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Schémas en étoile, tables de faits &amp; dimensions.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00125" y="4121348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Bureautique Avancée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Excel (TCD, RECHERCHEV, Power Pivot).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000125" y="4410819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Bases de Python/R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Manipulation pandas pour analyses ad-hoc.</a:t>
            </a:r>
            <a:endParaRPr/>
          </a:p>
        </p:txBody>
      </p:sp>
      <p:pic>
        <p:nvPicPr>
          <p:cNvPr descr="image.png" id="225" name="Google Shape;22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3384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/>
          <p:nvPr/>
        </p:nvSpPr>
        <p:spPr>
          <a:xfrm>
            <a:off x="6667500" y="3252936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Compréhension Business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Parler le langage des décideurs.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6667500" y="354240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Storytelling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Vulgariser des données complexes avec clarté.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6667500" y="383187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Esprit Critique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Remettre en question les chiffres et détecter les biais.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667500" y="4121348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Curiosité &amp; Rigueur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Garantir une précision à 100% sur les KPI.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6667500" y="4410819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Gestion des Stakeholders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Recueillir et cadrer le besoin métier.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809625" y="323388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09625" y="352335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809625" y="38128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809625" y="410229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09625" y="4391769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477000" y="323388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6477000" y="352335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477000" y="38128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477000" y="410229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477000" y="4391769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9061"/>
            <a:ext cx="3530500" cy="213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729061"/>
            <a:ext cx="3530649" cy="213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729061"/>
            <a:ext cx="3530500" cy="213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1000125" y="809625"/>
            <a:ext cx="1115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Positionnement dans l'Organisation</a:t>
            </a:r>
            <a:endParaRPr/>
          </a:p>
        </p:txBody>
      </p:sp>
      <p:pic>
        <p:nvPicPr>
          <p:cNvPr descr="image.png" id="253" name="Google Shape;25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255" name="Google Shape;255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1143000" y="2995761"/>
            <a:ext cx="285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Modèle Centralisé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09625" y="3329136"/>
            <a:ext cx="305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Une équipe Data dédiée qui sert l'ensemble des départements (Finance, RH, Ventes).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809625" y="3869977"/>
            <a:ext cx="3054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Standardisation &amp; gouvernance forte.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809625" y="4197548"/>
            <a:ext cx="3054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Risque d'éloignement du besoin métier terrain.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4902100" y="2995761"/>
            <a:ext cx="285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Modèle Décentralisé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4568725" y="3329136"/>
            <a:ext cx="305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Chaque analyste est directement intégré au sein d'une pôle métier spécifique.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4568725" y="3869977"/>
            <a:ext cx="3054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Expertise métier ultra poussée.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4568725" y="4197548"/>
            <a:ext cx="305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Risque de création de silos et de doublons d'outils.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566100" y="2995761"/>
            <a:ext cx="295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Modèle Hybride (Hub &amp; Spoke)</a:t>
            </a:r>
            <a:endParaRPr/>
          </a:p>
        </p:txBody>
      </p:sp>
      <p:sp>
        <p:nvSpPr>
          <p:cNvPr id="266" name="Google Shape;266;p20"/>
          <p:cNvSpPr txBox="1"/>
          <p:nvPr/>
        </p:nvSpPr>
        <p:spPr>
          <a:xfrm>
            <a:off x="8327975" y="3329136"/>
            <a:ext cx="30543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 pôle d'excellence central (Hub) couplé à des analystes intégrés aux métiers (Spoke).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8327975" y="3869977"/>
            <a:ext cx="3054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Équilibre parfait entre standard et agilité.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327974" y="4197553"/>
            <a:ext cx="30543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b="0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Complexité de gouvernance et de coordination.</a:t>
            </a:r>
            <a:endParaRPr b="1"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269" name="Google Shape;26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301004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68725" y="3010048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27975" y="3010048"/>
            <a:ext cx="1428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282" name="Google Shape;28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295275" y="32623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La Chaîne Décisionnelle &amp; Modélisation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571500" y="3986212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De la source brute au tableau de bord : maîtriser la donnée à chaque étape du flux.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5390" y="6443662"/>
            <a:ext cx="97035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La Chaîne de Valeur BI (Pipeline)</a:t>
            </a:r>
            <a:endParaRPr/>
          </a:p>
        </p:txBody>
      </p:sp>
      <p:pic>
        <p:nvPicPr>
          <p:cNvPr descr="image.png" id="295" name="Google Shape;29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297" name="Google Shape;29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09625" y="3426321"/>
            <a:ext cx="225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809625" y="3759696"/>
            <a:ext cx="21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22"/>
          <p:cNvGrpSpPr/>
          <p:nvPr/>
        </p:nvGrpSpPr>
        <p:grpSpPr>
          <a:xfrm>
            <a:off x="406390" y="2816384"/>
            <a:ext cx="11277318" cy="1777956"/>
            <a:chOff x="304800" y="2190750"/>
            <a:chExt cx="8458200" cy="1333500"/>
          </a:xfrm>
        </p:grpSpPr>
        <p:pic>
          <p:nvPicPr>
            <p:cNvPr id="302" name="Google Shape;302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4800" y="2190750"/>
              <a:ext cx="8458200" cy="133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95300" y="2362200"/>
              <a:ext cx="7958100" cy="990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p22"/>
          <p:cNvGrpSpPr/>
          <p:nvPr/>
        </p:nvGrpSpPr>
        <p:grpSpPr>
          <a:xfrm>
            <a:off x="2076325" y="1189832"/>
            <a:ext cx="2285943" cy="1523962"/>
            <a:chOff x="0" y="0"/>
            <a:chExt cx="1714500" cy="1143000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1714500" cy="1143000"/>
            </a:xfrm>
            <a:prstGeom prst="roundRect">
              <a:avLst>
                <a:gd fmla="val 12500" name="adj"/>
              </a:avLst>
            </a:prstGeom>
            <a:solidFill>
              <a:srgbClr val="00355A"/>
            </a:solidFill>
            <a:ln cap="flat" cmpd="sng" w="12700">
              <a:solidFill>
                <a:srgbClr val="00CF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0" y="0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0" lIns="127000" spcFirstLastPara="1" rIns="127000" wrap="square" tIns="12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F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200">
                <a:solidFill>
                  <a:srgbClr val="00CF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Share Tech"/>
                  <a:ea typeface="Share Tech"/>
                  <a:cs typeface="Share Tech"/>
                  <a:sym typeface="Share Tech"/>
                </a:rPr>
                <a:t>Données brutes</a:t>
              </a:r>
              <a:endParaRPr b="1" sz="19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Collecte &amp; Stockage</a:t>
              </a:r>
              <a:endParaRPr sz="13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pic>
        <p:nvPicPr>
          <p:cNvPr id="307" name="Google Shape;30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12850" y="2741585"/>
            <a:ext cx="12900" cy="1584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22"/>
          <p:cNvGrpSpPr/>
          <p:nvPr/>
        </p:nvGrpSpPr>
        <p:grpSpPr>
          <a:xfrm>
            <a:off x="6350000" y="1165457"/>
            <a:ext cx="2285943" cy="1523962"/>
            <a:chOff x="0" y="0"/>
            <a:chExt cx="1714500" cy="1143000"/>
          </a:xfrm>
        </p:grpSpPr>
        <p:sp>
          <p:nvSpPr>
            <p:cNvPr id="309" name="Google Shape;309;p22"/>
            <p:cNvSpPr/>
            <p:nvPr/>
          </p:nvSpPr>
          <p:spPr>
            <a:xfrm>
              <a:off x="0" y="0"/>
              <a:ext cx="1714500" cy="1143000"/>
            </a:xfrm>
            <a:prstGeom prst="roundRect">
              <a:avLst>
                <a:gd fmla="val 12500" name="adj"/>
              </a:avLst>
            </a:prstGeom>
            <a:solidFill>
              <a:srgbClr val="00355A"/>
            </a:solidFill>
            <a:ln cap="flat" cmpd="sng" w="12700">
              <a:solidFill>
                <a:srgbClr val="00CF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0" y="0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0" lIns="127000" spcFirstLastPara="1" rIns="127000" wrap="square" tIns="12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F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200">
                <a:solidFill>
                  <a:srgbClr val="00CF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Share Tech"/>
                  <a:ea typeface="Share Tech"/>
                  <a:cs typeface="Share Tech"/>
                  <a:sym typeface="Share Tech"/>
                </a:rPr>
                <a:t>Analyse</a:t>
              </a:r>
              <a:endParaRPr b="1" sz="19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Exploration &amp; Modélis.</a:t>
              </a:r>
              <a:endParaRPr sz="13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11" name="Google Shape;311;p22"/>
          <p:cNvGrpSpPr/>
          <p:nvPr/>
        </p:nvGrpSpPr>
        <p:grpSpPr>
          <a:xfrm>
            <a:off x="4064000" y="4594457"/>
            <a:ext cx="2285943" cy="1523962"/>
            <a:chOff x="0" y="0"/>
            <a:chExt cx="1714500" cy="11430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1714500" cy="1143000"/>
            </a:xfrm>
            <a:prstGeom prst="roundRect">
              <a:avLst>
                <a:gd fmla="val 12500" name="adj"/>
              </a:avLst>
            </a:prstGeom>
            <a:solidFill>
              <a:srgbClr val="00355A"/>
            </a:solidFill>
            <a:ln cap="flat" cmpd="sng" w="12700">
              <a:solidFill>
                <a:srgbClr val="00CF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 txBox="1"/>
            <p:nvPr/>
          </p:nvSpPr>
          <p:spPr>
            <a:xfrm>
              <a:off x="0" y="0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0" lIns="127000" spcFirstLastPara="1" rIns="127000" wrap="square" tIns="12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F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cleaning_services</a:t>
              </a:r>
              <a:endParaRPr sz="3200">
                <a:solidFill>
                  <a:srgbClr val="00CF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Share Tech"/>
                  <a:ea typeface="Share Tech"/>
                  <a:cs typeface="Share Tech"/>
                  <a:sym typeface="Share Tech"/>
                </a:rPr>
                <a:t>Préparation</a:t>
              </a:r>
              <a:endParaRPr b="1" sz="19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Nettoyage &amp; Transform.</a:t>
              </a:r>
              <a:endParaRPr sz="13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14" name="Google Shape;314;p22"/>
          <p:cNvGrpSpPr/>
          <p:nvPr/>
        </p:nvGrpSpPr>
        <p:grpSpPr>
          <a:xfrm>
            <a:off x="8128000" y="4594457"/>
            <a:ext cx="2285943" cy="1523962"/>
            <a:chOff x="0" y="0"/>
            <a:chExt cx="1714500" cy="1143000"/>
          </a:xfrm>
        </p:grpSpPr>
        <p:sp>
          <p:nvSpPr>
            <p:cNvPr id="315" name="Google Shape;315;p22"/>
            <p:cNvSpPr/>
            <p:nvPr/>
          </p:nvSpPr>
          <p:spPr>
            <a:xfrm>
              <a:off x="0" y="0"/>
              <a:ext cx="1714500" cy="1143000"/>
            </a:xfrm>
            <a:prstGeom prst="roundRect">
              <a:avLst>
                <a:gd fmla="val 12500" name="adj"/>
              </a:avLst>
            </a:prstGeom>
            <a:solidFill>
              <a:srgbClr val="00355A"/>
            </a:solidFill>
            <a:ln cap="flat" cmpd="sng" w="12700">
              <a:solidFill>
                <a:srgbClr val="00CF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0" y="0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0" lIns="127000" spcFirstLastPara="1" rIns="127000" wrap="square" tIns="127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CFC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3200">
                <a:solidFill>
                  <a:srgbClr val="00CFC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Share Tech"/>
                  <a:ea typeface="Share Tech"/>
                  <a:cs typeface="Share Tech"/>
                  <a:sym typeface="Share Tech"/>
                </a:rPr>
                <a:t>Dashboard</a:t>
              </a:r>
              <a:endParaRPr b="1" sz="19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  <a:p>
              <a:pPr indent="0" lvl="0" marL="0" rtl="0" algn="ctr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Maven Pro"/>
                  <a:ea typeface="Maven Pro"/>
                  <a:cs typeface="Maven Pro"/>
                  <a:sym typeface="Maven Pro"/>
                </a:rPr>
                <a:t>Visualisation Insights</a:t>
              </a:r>
              <a:endParaRPr sz="1300">
                <a:solidFill>
                  <a:srgbClr val="FFFFFF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pic>
        <p:nvPicPr>
          <p:cNvPr id="317" name="Google Shape;317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488163" y="2689414"/>
            <a:ext cx="96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02163" y="3975096"/>
            <a:ext cx="9600" cy="6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66163" y="4020840"/>
            <a:ext cx="96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62150"/>
            <a:ext cx="53816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3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Architectures ETL vs ELT &amp; Data Stack</a:t>
            </a:r>
            <a:endParaRPr/>
          </a:p>
        </p:txBody>
      </p:sp>
      <p:pic>
        <p:nvPicPr>
          <p:cNvPr descr="image.png" id="330" name="Google Shape;33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3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332" name="Google Shape;33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476250" y="6472225"/>
            <a:ext cx="98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1095375" y="222885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ETL vs ELT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09625" y="2562225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ETL (Extract, Transform, Load)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Transformation sur serveur séparé avant chargement. Modèle historique adapté au On-Premise.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809625" y="3103066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ELT (Extract, Load, Transform)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Chargement brut dans un Cloud Warehouse (Snowflake, BigQuery), puis transformation SQL via dbt.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809625" y="3739157"/>
            <a:ext cx="49053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123950" y="3958232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Modern Data Stack (MDS)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809625" y="4291607"/>
            <a:ext cx="49053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Utilisation d'outils cloud spécialisés et découplés (Fivetran pour l'ingestion, Snowflake pour le stockage, dbt pour la transformation, Superset/Power BI pour la BI).</a:t>
            </a:r>
            <a:endParaRPr/>
          </a:p>
        </p:txBody>
      </p:sp>
      <p:pic>
        <p:nvPicPr>
          <p:cNvPr descr="image.png" id="340" name="Google Shape;34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8875" y="1962150"/>
            <a:ext cx="53816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2431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3972520"/>
            <a:ext cx="21907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7" name="Google Shape;3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83329" y="6443662"/>
            <a:ext cx="103242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4"/>
          <p:cNvPicPr preferRelativeResize="0"/>
          <p:nvPr/>
        </p:nvPicPr>
        <p:blipFill rotWithShape="1">
          <a:blip r:embed="rId6">
            <a:alphaModFix/>
          </a:blip>
          <a:srcRect b="0" l="33369" r="33369" t="0"/>
          <a:stretch/>
        </p:blipFill>
        <p:spPr>
          <a:xfrm>
            <a:off x="571500" y="1524000"/>
            <a:ext cx="33339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/>
          <p:cNvPicPr preferRelativeResize="0"/>
          <p:nvPr/>
        </p:nvPicPr>
        <p:blipFill rotWithShape="1">
          <a:blip r:embed="rId7">
            <a:alphaModFix/>
          </a:blip>
          <a:srcRect b="0" l="33369" r="33369" t="0"/>
          <a:stretch/>
        </p:blipFill>
        <p:spPr>
          <a:xfrm>
            <a:off x="8286750" y="1524000"/>
            <a:ext cx="33339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962025" y="809625"/>
            <a:ext cx="111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Modélisation en Étoile vs Flocon</a:t>
            </a:r>
            <a:endParaRPr/>
          </a:p>
        </p:txBody>
      </p:sp>
      <p:pic>
        <p:nvPicPr>
          <p:cNvPr descr="image.png" id="354" name="Google Shape;35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356" name="Google Shape;35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476250" y="6472225"/>
            <a:ext cx="1032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1095375" y="1714500"/>
            <a:ext cx="2667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Schéma en Étoile</a:t>
            </a:r>
            <a:endParaRPr b="1" sz="1400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8810625" y="1714500"/>
            <a:ext cx="2667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Schéma en Flocon</a:t>
            </a:r>
            <a:endParaRPr b="1" sz="1400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360" name="Google Shape;360;p24"/>
          <p:cNvPicPr preferRelativeResize="0"/>
          <p:nvPr/>
        </p:nvPicPr>
        <p:blipFill rotWithShape="1">
          <a:blip r:embed="rId11">
            <a:alphaModFix/>
          </a:blip>
          <a:srcRect b="2381" l="0" r="0" t="2381"/>
          <a:stretch/>
        </p:blipFill>
        <p:spPr>
          <a:xfrm>
            <a:off x="809625" y="1762125"/>
            <a:ext cx="219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4"/>
          <p:cNvSpPr txBox="1"/>
          <p:nvPr/>
        </p:nvSpPr>
        <p:spPr>
          <a:xfrm>
            <a:off x="1000125" y="2190750"/>
            <a:ext cx="27624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Structure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Une table de faits centrale entourée de tables de dimensions dénormalisées.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2" name="Google Shape;362;p24"/>
          <p:cNvSpPr txBox="1"/>
          <p:nvPr/>
        </p:nvSpPr>
        <p:spPr>
          <a:xfrm>
            <a:off x="1000125" y="3238500"/>
            <a:ext cx="27624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Avantages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Requêtes très rapides, jointures simples, parfait pour les outils BI.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24"/>
          <p:cNvSpPr txBox="1"/>
          <p:nvPr/>
        </p:nvSpPr>
        <p:spPr>
          <a:xfrm>
            <a:off x="1000125" y="4476750"/>
            <a:ext cx="27624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Usage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Recommandé dans 90% des cas.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64" name="Google Shape;364;p24"/>
          <p:cNvPicPr preferRelativeResize="0"/>
          <p:nvPr/>
        </p:nvPicPr>
        <p:blipFill rotWithShape="1">
          <a:blip r:embed="rId12">
            <a:alphaModFix/>
          </a:blip>
          <a:srcRect b="2381" l="0" r="0" t="2381"/>
          <a:stretch/>
        </p:blipFill>
        <p:spPr>
          <a:xfrm>
            <a:off x="8524875" y="1762125"/>
            <a:ext cx="171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4"/>
          <p:cNvSpPr txBox="1"/>
          <p:nvPr/>
        </p:nvSpPr>
        <p:spPr>
          <a:xfrm>
            <a:off x="8715375" y="2190750"/>
            <a:ext cx="2762400" cy="5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Structure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Les tables de dimensions sont normalisées et découpées sous-dimensions.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6" name="Google Shape;366;p24"/>
          <p:cNvSpPr txBox="1"/>
          <p:nvPr/>
        </p:nvSpPr>
        <p:spPr>
          <a:xfrm>
            <a:off x="8715375" y="3238500"/>
            <a:ext cx="27624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Avantages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Réduction de la redondance des données et économie d'espace.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8715375" y="4286250"/>
            <a:ext cx="27624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Inconvénients : </a:t>
            </a:r>
            <a:r>
              <a:rPr b="0" lang="en-US" sz="11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Multiplie les jointures SQL complexes et ralentit le reporting.</a:t>
            </a:r>
            <a:endParaRPr b="1" sz="11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809625" y="217170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809625" y="321945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4"/>
          <p:cNvSpPr txBox="1"/>
          <p:nvPr/>
        </p:nvSpPr>
        <p:spPr>
          <a:xfrm>
            <a:off x="809625" y="445770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8524875" y="217170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8524875" y="321945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8524875" y="4267200"/>
            <a:ext cx="954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 b="1" sz="1350">
              <a:solidFill>
                <a:srgbClr val="0052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74" name="Google Shape;374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095750" y="1714500"/>
            <a:ext cx="400050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Tables de Faits vs Tables de Dimensions</a:t>
            </a:r>
            <a:endParaRPr/>
          </a:p>
        </p:txBody>
      </p:sp>
      <p:pic>
        <p:nvPicPr>
          <p:cNvPr descr="image.png" id="386" name="Google Shape;38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5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388" name="Google Shape;388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5"/>
          <p:cNvSpPr txBox="1"/>
          <p:nvPr/>
        </p:nvSpPr>
        <p:spPr>
          <a:xfrm>
            <a:off x="476250" y="6472225"/>
            <a:ext cx="98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390" name="Google Shape;390;p25"/>
          <p:cNvSpPr txBox="1"/>
          <p:nvPr/>
        </p:nvSpPr>
        <p:spPr>
          <a:xfrm>
            <a:off x="1095375" y="288920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Table de Faits (Fact Table)</a:t>
            </a:r>
            <a:endParaRPr/>
          </a:p>
        </p:txBody>
      </p:sp>
      <p:sp>
        <p:nvSpPr>
          <p:cNvPr id="391" name="Google Shape;391;p25"/>
          <p:cNvSpPr txBox="1"/>
          <p:nvPr/>
        </p:nvSpPr>
        <p:spPr>
          <a:xfrm>
            <a:off x="809625" y="3222575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Contenu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Contient les événements métiers quantitatifs et mesurables (Ventes, Commandes, Appels).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809625" y="3763416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Colonnes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Clés étrangères (FK) vers les dimensions + métriques chiffrées (Montant HT, Quantité, Remise).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809625" y="4304258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Caractéristiques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Table très longue (des millions de lignes), évolue continuellement.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6762750" y="288920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Tables de Dimensions (Dim Tables)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6477000" y="3222575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Contenu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Donne le contexte analytique aux chiffres (Qui ? Quoi ? Quand ? Où ?).</a:t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6477000" y="3763416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Exemples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Dim_Client (Nom, Ville, Âge), Dim_Produit (Catégorie, Marque), Dim_Temps (Date, Mois, Année).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6477000" y="4304258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Caractéristiques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Table large (nombreuses colonnes textuelles), moins de lignes.</a:t>
            </a:r>
            <a:endParaRPr/>
          </a:p>
        </p:txBody>
      </p:sp>
      <p:pic>
        <p:nvPicPr>
          <p:cNvPr descr="image.png" id="398" name="Google Shape;39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034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0348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410" name="Google Shape;410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6"/>
          <p:cNvSpPr txBox="1"/>
          <p:nvPr/>
        </p:nvSpPr>
        <p:spPr>
          <a:xfrm>
            <a:off x="295275" y="32623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Pilotage par les KPI &amp; Data Storytelling</a:t>
            </a:r>
            <a:endParaRPr/>
          </a:p>
        </p:txBody>
      </p:sp>
      <p:sp>
        <p:nvSpPr>
          <p:cNvPr id="412" name="Google Shape;412;p26"/>
          <p:cNvSpPr txBox="1"/>
          <p:nvPr/>
        </p:nvSpPr>
        <p:spPr>
          <a:xfrm>
            <a:off x="571500" y="3986212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Concevoir des indicateurs pertinents et diffuser des rapports visuellement impactants.</a:t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476250" y="6472225"/>
            <a:ext cx="98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0" name="Google Shape;4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42282"/>
            <a:ext cx="3530500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542282"/>
            <a:ext cx="3530649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542282"/>
            <a:ext cx="3530500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997523"/>
            <a:ext cx="5381625" cy="1051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8875" y="3997523"/>
            <a:ext cx="5381625" cy="10514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7"/>
          <p:cNvSpPr txBox="1"/>
          <p:nvPr/>
        </p:nvSpPr>
        <p:spPr>
          <a:xfrm>
            <a:off x="685800" y="809625"/>
            <a:ext cx="114814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Définir un KPI SMART &amp; Actionnable</a:t>
            </a:r>
            <a:endParaRPr/>
          </a:p>
        </p:txBody>
      </p:sp>
      <p:pic>
        <p:nvPicPr>
          <p:cNvPr descr="image.png" id="428" name="Google Shape;428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7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809625" y="2808982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Spécifique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809625" y="3142357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Objectif précis et ciblé. Éviter les métriques vagues ou globales non découpées.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4568725" y="2808982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Mesurable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4568725" y="3142357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Chiffrable via une formule mathématique explicite et incontestable.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8327975" y="2808982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Atteignable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8327975" y="3142357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Réaliste au regard du marché, des ressources et de l'historique de l'entreprise.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809625" y="4264223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Relevant (Pertinent)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809625" y="4597598"/>
            <a:ext cx="4905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Directement aligné avec la vision stratégique (non "Vanity Metric").</a:t>
            </a:r>
            <a:endParaRPr/>
          </a:p>
        </p:txBody>
      </p:sp>
      <p:sp>
        <p:nvSpPr>
          <p:cNvPr id="439" name="Google Shape;439;p27"/>
          <p:cNvSpPr txBox="1"/>
          <p:nvPr/>
        </p:nvSpPr>
        <p:spPr>
          <a:xfrm>
            <a:off x="6477000" y="4264223"/>
            <a:ext cx="51506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Temporel</a:t>
            </a:r>
            <a:endParaRPr/>
          </a:p>
        </p:txBody>
      </p:sp>
      <p:sp>
        <p:nvSpPr>
          <p:cNvPr id="440" name="Google Shape;440;p27"/>
          <p:cNvSpPr txBox="1"/>
          <p:nvPr/>
        </p:nvSpPr>
        <p:spPr>
          <a:xfrm>
            <a:off x="6477000" y="4597598"/>
            <a:ext cx="49053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Échéance précise (quotidienne, hebdomadaire, mensuelle ou annuelle).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78621"/>
            <a:ext cx="3530500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778621"/>
            <a:ext cx="3530649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778621"/>
            <a:ext cx="3530500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8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Les 3 Grandes Familles de KPI</a:t>
            </a:r>
            <a:endParaRPr/>
          </a:p>
        </p:txBody>
      </p:sp>
      <p:pic>
        <p:nvPicPr>
          <p:cNvPr descr="image.png" id="453" name="Google Shape;453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8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455" name="Google Shape;455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8"/>
          <p:cNvSpPr txBox="1"/>
          <p:nvPr/>
        </p:nvSpPr>
        <p:spPr>
          <a:xfrm>
            <a:off x="476250" y="6472225"/>
            <a:ext cx="99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457" name="Google Shape;457;p28"/>
          <p:cNvSpPr txBox="1"/>
          <p:nvPr/>
        </p:nvSpPr>
        <p:spPr>
          <a:xfrm>
            <a:off x="1076325" y="3045321"/>
            <a:ext cx="29269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KPI de Temps ⬇</a:t>
            </a:r>
            <a:endParaRPr/>
          </a:p>
        </p:txBody>
      </p:sp>
      <p:sp>
        <p:nvSpPr>
          <p:cNvPr id="458" name="Google Shape;458;p28"/>
          <p:cNvSpPr txBox="1"/>
          <p:nvPr/>
        </p:nvSpPr>
        <p:spPr>
          <a:xfrm>
            <a:off x="809625" y="3378696"/>
            <a:ext cx="3054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Objectif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Réduire les délais.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4854475" y="3045321"/>
            <a:ext cx="290708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KPI de Volume ⬆</a:t>
            </a:r>
            <a:endParaRPr/>
          </a:p>
        </p:txBody>
      </p:sp>
      <p:sp>
        <p:nvSpPr>
          <p:cNvPr id="460" name="Google Shape;460;p28"/>
          <p:cNvSpPr txBox="1"/>
          <p:nvPr/>
        </p:nvSpPr>
        <p:spPr>
          <a:xfrm>
            <a:off x="4568725" y="3378696"/>
            <a:ext cx="30543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Objectif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Maximiser l'activité.</a:t>
            </a:r>
            <a:endParaRPr/>
          </a:p>
        </p:txBody>
      </p:sp>
      <p:sp>
        <p:nvSpPr>
          <p:cNvPr id="461" name="Google Shape;461;p28"/>
          <p:cNvSpPr txBox="1"/>
          <p:nvPr/>
        </p:nvSpPr>
        <p:spPr>
          <a:xfrm>
            <a:off x="8566100" y="3045321"/>
            <a:ext cx="29569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KPI de Qualité ⬆</a:t>
            </a:r>
            <a:endParaRPr/>
          </a:p>
        </p:txBody>
      </p:sp>
      <p:sp>
        <p:nvSpPr>
          <p:cNvPr id="462" name="Google Shape;462;p28"/>
          <p:cNvSpPr txBox="1"/>
          <p:nvPr/>
        </p:nvSpPr>
        <p:spPr>
          <a:xfrm>
            <a:off x="8327975" y="3378696"/>
            <a:ext cx="3054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Objectif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Viser l'excellence.</a:t>
            </a:r>
            <a:endParaRPr/>
          </a:p>
        </p:txBody>
      </p:sp>
      <p:pic>
        <p:nvPicPr>
          <p:cNvPr descr="image.png" id="463" name="Google Shape;463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3059608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8"/>
          <p:cNvSpPr txBox="1"/>
          <p:nvPr/>
        </p:nvSpPr>
        <p:spPr>
          <a:xfrm>
            <a:off x="1000125" y="3706266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Temps de réponse support</a:t>
            </a:r>
            <a:endParaRPr/>
          </a:p>
        </p:txBody>
      </p:sp>
      <p:sp>
        <p:nvSpPr>
          <p:cNvPr id="465" name="Google Shape;465;p28"/>
          <p:cNvSpPr txBox="1"/>
          <p:nvPr/>
        </p:nvSpPr>
        <p:spPr>
          <a:xfrm>
            <a:off x="1000125" y="3995737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Time-to-market produit</a:t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1000125" y="4285208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Lead time de livraison</a:t>
            </a:r>
            <a:endParaRPr/>
          </a:p>
        </p:txBody>
      </p:sp>
      <p:pic>
        <p:nvPicPr>
          <p:cNvPr descr="image.png" id="467" name="Google Shape;467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68725" y="305960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8"/>
          <p:cNvSpPr txBox="1"/>
          <p:nvPr/>
        </p:nvSpPr>
        <p:spPr>
          <a:xfrm>
            <a:off x="4759225" y="3706266"/>
            <a:ext cx="28638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Chiffre d'affaires (MRR/ARR)</a:t>
            </a:r>
            <a:endParaRPr/>
          </a:p>
        </p:txBody>
      </p:sp>
      <p:sp>
        <p:nvSpPr>
          <p:cNvPr id="469" name="Google Shape;469;p28"/>
          <p:cNvSpPr txBox="1"/>
          <p:nvPr/>
        </p:nvSpPr>
        <p:spPr>
          <a:xfrm>
            <a:off x="4759225" y="3995737"/>
            <a:ext cx="28638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Nombre de leads qualifiés</a:t>
            </a:r>
            <a:endParaRPr/>
          </a:p>
        </p:txBody>
      </p:sp>
      <p:sp>
        <p:nvSpPr>
          <p:cNvPr id="470" name="Google Shape;470;p28"/>
          <p:cNvSpPr txBox="1"/>
          <p:nvPr/>
        </p:nvSpPr>
        <p:spPr>
          <a:xfrm>
            <a:off x="4759225" y="4285208"/>
            <a:ext cx="28638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Panier moyen par transaction</a:t>
            </a:r>
            <a:endParaRPr/>
          </a:p>
        </p:txBody>
      </p:sp>
      <p:pic>
        <p:nvPicPr>
          <p:cNvPr descr="image.png" id="471" name="Google Shape;471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327975" y="3059608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/>
          <p:nvPr/>
        </p:nvSpPr>
        <p:spPr>
          <a:xfrm>
            <a:off x="8518475" y="3706266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Net Promoter Score (NPS)</a:t>
            </a:r>
            <a:endParaRPr/>
          </a:p>
        </p:txBody>
      </p:sp>
      <p:sp>
        <p:nvSpPr>
          <p:cNvPr id="473" name="Google Shape;473;p28"/>
          <p:cNvSpPr txBox="1"/>
          <p:nvPr/>
        </p:nvSpPr>
        <p:spPr>
          <a:xfrm>
            <a:off x="8518475" y="3995737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Taux de rétention (Churn rate)</a:t>
            </a:r>
            <a:endParaRPr/>
          </a:p>
        </p:txBody>
      </p:sp>
      <p:sp>
        <p:nvSpPr>
          <p:cNvPr id="474" name="Google Shape;474;p28"/>
          <p:cNvSpPr txBox="1"/>
          <p:nvPr/>
        </p:nvSpPr>
        <p:spPr>
          <a:xfrm>
            <a:off x="8518475" y="4285208"/>
            <a:ext cx="2863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Taux d'erreur de production</a:t>
            </a:r>
            <a:endParaRPr/>
          </a:p>
        </p:txBody>
      </p:sp>
      <p:sp>
        <p:nvSpPr>
          <p:cNvPr id="475" name="Google Shape;475;p28"/>
          <p:cNvSpPr txBox="1"/>
          <p:nvPr/>
        </p:nvSpPr>
        <p:spPr>
          <a:xfrm>
            <a:off x="809625" y="368721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76" name="Google Shape;476;p28"/>
          <p:cNvSpPr txBox="1"/>
          <p:nvPr/>
        </p:nvSpPr>
        <p:spPr>
          <a:xfrm>
            <a:off x="809625" y="39766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77" name="Google Shape;477;p28"/>
          <p:cNvSpPr txBox="1"/>
          <p:nvPr/>
        </p:nvSpPr>
        <p:spPr>
          <a:xfrm>
            <a:off x="809625" y="426615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78" name="Google Shape;478;p28"/>
          <p:cNvSpPr txBox="1"/>
          <p:nvPr/>
        </p:nvSpPr>
        <p:spPr>
          <a:xfrm>
            <a:off x="4568725" y="368721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4568725" y="39766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80" name="Google Shape;480;p28"/>
          <p:cNvSpPr txBox="1"/>
          <p:nvPr/>
        </p:nvSpPr>
        <p:spPr>
          <a:xfrm>
            <a:off x="4568725" y="426615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81" name="Google Shape;481;p28"/>
          <p:cNvSpPr txBox="1"/>
          <p:nvPr/>
        </p:nvSpPr>
        <p:spPr>
          <a:xfrm>
            <a:off x="8327975" y="368721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8327975" y="397668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8327975" y="426615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8" name="Google Shape;4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0" name="Google Shape;49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962150"/>
            <a:ext cx="5381625" cy="366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9"/>
          <p:cNvSpPr txBox="1"/>
          <p:nvPr/>
        </p:nvSpPr>
        <p:spPr>
          <a:xfrm>
            <a:off x="933450" y="809625"/>
            <a:ext cx="112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Data Storytelling &amp; UX </a:t>
            </a: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Dashboard</a:t>
            </a:r>
            <a:endParaRPr/>
          </a:p>
        </p:txBody>
      </p:sp>
      <p:pic>
        <p:nvPicPr>
          <p:cNvPr descr="image.png" id="494" name="Google Shape;49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9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496" name="Google Shape;49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9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498" name="Google Shape;498;p29"/>
          <p:cNvSpPr txBox="1"/>
          <p:nvPr/>
        </p:nvSpPr>
        <p:spPr>
          <a:xfrm>
            <a:off x="1123950" y="2228850"/>
            <a:ext cx="482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Règles d'or de la visualisation</a:t>
            </a:r>
            <a:endParaRPr/>
          </a:p>
        </p:txBody>
      </p:sp>
      <p:pic>
        <p:nvPicPr>
          <p:cNvPr descr="image.png" id="499" name="Google Shape;49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38875" y="1962150"/>
            <a:ext cx="53816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24313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9"/>
          <p:cNvSpPr txBox="1"/>
          <p:nvPr/>
        </p:nvSpPr>
        <p:spPr>
          <a:xfrm>
            <a:off x="1000125" y="2562225"/>
            <a:ext cx="4714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Règle F/Z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Placer les indicateurs globaux (Cartes KPI) en haut à gauche.</a:t>
            </a:r>
            <a:endParaRPr/>
          </a:p>
        </p:txBody>
      </p:sp>
      <p:sp>
        <p:nvSpPr>
          <p:cNvPr id="502" name="Google Shape;502;p29"/>
          <p:cNvSpPr txBox="1"/>
          <p:nvPr/>
        </p:nvSpPr>
        <p:spPr>
          <a:xfrm>
            <a:off x="1000125" y="2851695"/>
            <a:ext cx="4714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Hiérarchie visuelle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3 couleurs dominantes maximum pour éviter le bruit visuel.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1000125" y="3354437"/>
            <a:ext cx="47148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 bon graphique pour le bon besoin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• </a:t>
            </a:r>
            <a:r>
              <a:rPr b="0" i="1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Tendance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Courbe / Area Chart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• </a:t>
            </a:r>
            <a:r>
              <a:rPr b="0" i="1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Comparaison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Histogramme / Bar Chart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• </a:t>
            </a:r>
            <a:r>
              <a:rPr b="0" i="1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Proportion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Donut Chart (max 4-5 segments)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809625" y="254317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809625" y="2832645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809625" y="3335387"/>
            <a:ext cx="66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1000125" y="4429125"/>
            <a:ext cx="4714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Ressources utiles :</a:t>
            </a:r>
            <a:endParaRPr b="1" sz="105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b="0" lang="en-US" sz="1050" u="sng">
                <a:solidFill>
                  <a:srgbClr val="0052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data-to-viz.com</a:t>
            </a: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Guide interactif pour choisir le bon graphique</a:t>
            </a:r>
            <a:endParaRPr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b="0" lang="en-US" sz="1050" u="sng">
                <a:solidFill>
                  <a:srgbClr val="0052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datavizcatalogue.com</a:t>
            </a:r>
            <a:r>
              <a:rPr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- Bibliothèque de concepts de visualisation</a:t>
            </a:r>
            <a:endParaRPr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2" name="Google Shape;5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60525"/>
            <a:ext cx="5381625" cy="159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060525"/>
            <a:ext cx="5381625" cy="159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38587"/>
            <a:ext cx="5381625" cy="159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38875" y="3812525"/>
            <a:ext cx="5381625" cy="1592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0"/>
          <p:cNvSpPr txBox="1"/>
          <p:nvPr/>
        </p:nvSpPr>
        <p:spPr>
          <a:xfrm>
            <a:off x="933450" y="809625"/>
            <a:ext cx="112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Exemples de Dashboards par Métier</a:t>
            </a:r>
            <a:endParaRPr/>
          </a:p>
        </p:txBody>
      </p:sp>
      <p:pic>
        <p:nvPicPr>
          <p:cNvPr descr="image.png" id="521" name="Google Shape;521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0"/>
          <p:cNvSpPr txBox="1"/>
          <p:nvPr/>
        </p:nvSpPr>
        <p:spPr>
          <a:xfrm>
            <a:off x="5303564" y="300037"/>
            <a:ext cx="158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523" name="Google Shape;523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0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525" name="Google Shape;525;p30"/>
          <p:cNvSpPr txBox="1"/>
          <p:nvPr/>
        </p:nvSpPr>
        <p:spPr>
          <a:xfrm>
            <a:off x="1123950" y="2327224"/>
            <a:ext cx="32385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8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Dashboard Ventes / E-commerce</a:t>
            </a:r>
            <a:endParaRPr b="1" sz="1388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26" name="Google Shape;526;p30"/>
          <p:cNvSpPr txBox="1"/>
          <p:nvPr/>
        </p:nvSpPr>
        <p:spPr>
          <a:xfrm>
            <a:off x="809625" y="2660599"/>
            <a:ext cx="3429000" cy="13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KPIs Clés :</a:t>
            </a:r>
            <a:r>
              <a:rPr b="0" lang="en-US" sz="893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 Global, Panier Moyen, Taux de Conversion, CAC.</a:t>
            </a:r>
            <a:endParaRPr b="1" sz="893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27" name="Google Shape;527;p30"/>
          <p:cNvGrpSpPr/>
          <p:nvPr/>
        </p:nvGrpSpPr>
        <p:grpSpPr>
          <a:xfrm>
            <a:off x="4312525" y="1415738"/>
            <a:ext cx="7019925" cy="4791075"/>
            <a:chOff x="4343400" y="2200275"/>
            <a:chExt cx="7019925" cy="4791075"/>
          </a:xfrm>
        </p:grpSpPr>
        <p:pic>
          <p:nvPicPr>
            <p:cNvPr id="528" name="Google Shape;528;p30"/>
            <p:cNvPicPr preferRelativeResize="0"/>
            <p:nvPr/>
          </p:nvPicPr>
          <p:blipFill rotWithShape="1">
            <a:blip r:embed="rId13">
              <a:alphaModFix/>
            </a:blip>
            <a:srcRect b="51878" l="1873" r="51878" t="1873"/>
            <a:stretch/>
          </p:blipFill>
          <p:spPr>
            <a:xfrm>
              <a:off x="4343400" y="2200275"/>
              <a:ext cx="1409700" cy="1409700"/>
            </a:xfrm>
            <a:prstGeom prst="roundRect">
              <a:avLst>
                <a:gd fmla="val 5405" name="adj"/>
              </a:avLst>
            </a:prstGeom>
            <a:noFill/>
            <a:ln>
              <a:noFill/>
            </a:ln>
          </p:spPr>
        </p:pic>
        <p:pic>
          <p:nvPicPr>
            <p:cNvPr id="529" name="Google Shape;529;p30"/>
            <p:cNvPicPr preferRelativeResize="0"/>
            <p:nvPr/>
          </p:nvPicPr>
          <p:blipFill rotWithShape="1">
            <a:blip r:embed="rId13">
              <a:alphaModFix/>
            </a:blip>
            <a:srcRect b="51878" l="51249" r="2502" t="1873"/>
            <a:stretch/>
          </p:blipFill>
          <p:spPr>
            <a:xfrm>
              <a:off x="9953625" y="2200275"/>
              <a:ext cx="1409700" cy="1409700"/>
            </a:xfrm>
            <a:prstGeom prst="roundRect">
              <a:avLst>
                <a:gd fmla="val 5405" name="adj"/>
              </a:avLst>
            </a:prstGeom>
            <a:noFill/>
            <a:ln>
              <a:noFill/>
            </a:ln>
          </p:spPr>
        </p:pic>
        <p:pic>
          <p:nvPicPr>
            <p:cNvPr id="530" name="Google Shape;530;p30"/>
            <p:cNvPicPr preferRelativeResize="0"/>
            <p:nvPr/>
          </p:nvPicPr>
          <p:blipFill rotWithShape="1">
            <a:blip r:embed="rId13">
              <a:alphaModFix/>
            </a:blip>
            <a:srcRect b="2502" l="1873" r="51878" t="51249"/>
            <a:stretch/>
          </p:blipFill>
          <p:spPr>
            <a:xfrm>
              <a:off x="4343400" y="5581650"/>
              <a:ext cx="1409700" cy="1409700"/>
            </a:xfrm>
            <a:prstGeom prst="roundRect">
              <a:avLst>
                <a:gd fmla="val 5405" name="adj"/>
              </a:avLst>
            </a:prstGeom>
            <a:noFill/>
            <a:ln>
              <a:noFill/>
            </a:ln>
          </p:spPr>
        </p:pic>
        <p:pic>
          <p:nvPicPr>
            <p:cNvPr id="531" name="Google Shape;531;p30"/>
            <p:cNvPicPr preferRelativeResize="0"/>
            <p:nvPr/>
          </p:nvPicPr>
          <p:blipFill rotWithShape="1">
            <a:blip r:embed="rId13">
              <a:alphaModFix/>
            </a:blip>
            <a:srcRect b="2502" l="51249" r="2502" t="51249"/>
            <a:stretch/>
          </p:blipFill>
          <p:spPr>
            <a:xfrm>
              <a:off x="9953625" y="5581650"/>
              <a:ext cx="1409700" cy="1409700"/>
            </a:xfrm>
            <a:prstGeom prst="roundRect">
              <a:avLst>
                <a:gd fmla="val 5405" name="adj"/>
              </a:avLst>
            </a:prstGeom>
            <a:noFill/>
            <a:ln>
              <a:noFill/>
            </a:ln>
          </p:spPr>
        </p:pic>
      </p:grpSp>
      <p:sp>
        <p:nvSpPr>
          <p:cNvPr id="532" name="Google Shape;532;p30"/>
          <p:cNvSpPr txBox="1"/>
          <p:nvPr/>
        </p:nvSpPr>
        <p:spPr>
          <a:xfrm>
            <a:off x="809625" y="2988173"/>
            <a:ext cx="3429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Visuels :</a:t>
            </a:r>
            <a:r>
              <a:rPr b="0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Courbe de tendance mensuelle, Top 10 produits vendus, carte de répartition géographique.</a:t>
            </a:r>
            <a:endParaRPr b="1"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6762750" y="2327224"/>
            <a:ext cx="32385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8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Dashboard Service Client</a:t>
            </a:r>
            <a:endParaRPr b="1" sz="1388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6477000" y="2660599"/>
            <a:ext cx="3429000" cy="11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KPIs Clés :</a:t>
            </a:r>
            <a:r>
              <a:rPr b="0" lang="en-US" sz="73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Temps moyen de réponse (FRT), CSAT, SLA %, Tickets ouverts.</a:t>
            </a:r>
            <a:endParaRPr b="1" sz="735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30"/>
          <p:cNvSpPr txBox="1"/>
          <p:nvPr/>
        </p:nvSpPr>
        <p:spPr>
          <a:xfrm>
            <a:off x="6477000" y="2988173"/>
            <a:ext cx="3429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Visuels :</a:t>
            </a:r>
            <a:r>
              <a:rPr b="0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Histogramme des volumes d'appels par heure, camembert des motifs de réclamation.</a:t>
            </a:r>
            <a:endParaRPr b="1"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1143000" y="4205288"/>
            <a:ext cx="32385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8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Dashboard Logistique &amp; Stock</a:t>
            </a:r>
            <a:endParaRPr b="1" sz="1388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809625" y="4538663"/>
            <a:ext cx="3429000" cy="12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4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KPIs Clés :</a:t>
            </a:r>
            <a:r>
              <a:rPr b="0" lang="en-US" sz="814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Taux de rupture, rotation des stocks, délai d'expédition.</a:t>
            </a:r>
            <a:endParaRPr b="1" sz="814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809625" y="4866237"/>
            <a:ext cx="3429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Visuels :</a:t>
            </a:r>
            <a:r>
              <a:rPr b="0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Gauge chart des niveaux de stock critiques, timeline des livraisons fournisseurs.</a:t>
            </a:r>
            <a:endParaRPr b="1"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30"/>
          <p:cNvSpPr txBox="1"/>
          <p:nvPr/>
        </p:nvSpPr>
        <p:spPr>
          <a:xfrm>
            <a:off x="6810375" y="4205288"/>
            <a:ext cx="3238500" cy="21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8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Dashboard Ressources Humaines</a:t>
            </a:r>
            <a:endParaRPr b="1" sz="1388">
              <a:solidFill>
                <a:srgbClr val="1E293B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6477000" y="4538663"/>
            <a:ext cx="3429000" cy="12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4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KPIs Clés :</a:t>
            </a:r>
            <a:r>
              <a:rPr b="0" lang="en-US" sz="814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Taux de Turnover, masse salariale, taux d'absentéisme.</a:t>
            </a:r>
            <a:endParaRPr b="1" sz="814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6477000" y="4866237"/>
            <a:ext cx="3429000" cy="323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Visuels :</a:t>
            </a:r>
            <a:r>
              <a:rPr b="0" lang="en-US" sz="10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Pyramide des âges, répartition par département, suivi des recrutements en cours.</a:t>
            </a:r>
            <a:endParaRPr b="1" sz="105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image.png" id="542" name="Google Shape;542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09625" y="23415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77000" y="23415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3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09625" y="4219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3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77000" y="4219575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0" name="Google Shape;55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1" name="Google Shape;5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1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556" name="Google Shape;55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1"/>
          <p:cNvSpPr txBox="1"/>
          <p:nvPr/>
        </p:nvSpPr>
        <p:spPr>
          <a:xfrm>
            <a:off x="295275" y="32623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Analyse Statistique &amp; Qualité des Données</a:t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>
            <a:off x="571500" y="3986212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Maîtriser les indicateurs de tendance centrale et assainir la donnée avant analyse.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476250" y="6472225"/>
            <a:ext cx="99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4" name="Google Shape;5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2"/>
          <p:cNvSpPr txBox="1"/>
          <p:nvPr/>
        </p:nvSpPr>
        <p:spPr>
          <a:xfrm>
            <a:off x="876300" y="809625"/>
            <a:ext cx="11281410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Les Moyennes &amp; Indicateurs Statistiques</a:t>
            </a:r>
            <a:endParaRPr/>
          </a:p>
        </p:txBody>
      </p:sp>
      <p:pic>
        <p:nvPicPr>
          <p:cNvPr descr="image.png" id="569" name="Google Shape;56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2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571" name="Google Shape;57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862012"/>
            <a:ext cx="190500" cy="247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2" name="Google Shape;572;p32"/>
          <p:cNvGraphicFramePr/>
          <p:nvPr/>
        </p:nvGraphicFramePr>
        <p:xfrm>
          <a:off x="571500" y="2147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{B65D2777-C8FD-4A94-BA65-D99E425A8E67}</a:tableStyleId>
              </a:tblPr>
              <a:tblGrid>
                <a:gridCol w="1766600"/>
                <a:gridCol w="4739575"/>
                <a:gridCol w="4542825"/>
              </a:tblGrid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Indicateur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Définition / Formule Synthétique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Cas d'Usage Privilégié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Arithmétique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Somme des valeurs divisée par l'effectif total.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Distributions symétriques sans valeurs extrêmes (outliers).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Médiane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Valeur centrale séparant la population en 50% supérieurs et 50% inférieurs.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Distributions très asymétriques (ex: Salaires, Prix immobilier).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Pondérée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Somme des valeurs affectées d'un poids ou d'un coefficient d'importance.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 de prix moyen pondéré par les volumes de vente.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Géométrique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Racine n-ième du produit des n valeurs.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 de taux de croissance moyens, rendements ou intérêts composés.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Moyenne Harmonique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Inverse de la moyenne des inverses des valeurs.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 de vitesses moyennes, ratios, et temps moyen de traitement.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3" name="Google Shape;573;p32"/>
          <p:cNvSpPr txBox="1"/>
          <p:nvPr/>
        </p:nvSpPr>
        <p:spPr>
          <a:xfrm>
            <a:off x="476250" y="6472225"/>
            <a:ext cx="1120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571500" y="2524125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2338089" y="2524125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7077670" y="2524125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571500" y="3124200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/>
          <p:nvPr/>
        </p:nvSpPr>
        <p:spPr>
          <a:xfrm>
            <a:off x="2338089" y="3124200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2"/>
          <p:cNvSpPr/>
          <p:nvPr/>
        </p:nvSpPr>
        <p:spPr>
          <a:xfrm>
            <a:off x="7077670" y="3124200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571500" y="3724275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2338089" y="3724275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/>
          <p:nvPr/>
        </p:nvSpPr>
        <p:spPr>
          <a:xfrm>
            <a:off x="7077670" y="3724275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2"/>
          <p:cNvSpPr/>
          <p:nvPr/>
        </p:nvSpPr>
        <p:spPr>
          <a:xfrm>
            <a:off x="571500" y="4324350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2"/>
          <p:cNvSpPr/>
          <p:nvPr/>
        </p:nvSpPr>
        <p:spPr>
          <a:xfrm>
            <a:off x="2338089" y="4324350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7077670" y="4324350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/>
          <p:nvPr/>
        </p:nvSpPr>
        <p:spPr>
          <a:xfrm>
            <a:off x="571500" y="4924425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2"/>
          <p:cNvSpPr/>
          <p:nvPr/>
        </p:nvSpPr>
        <p:spPr>
          <a:xfrm>
            <a:off x="2338089" y="4924425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7077670" y="4924425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571500" y="5524500"/>
            <a:ext cx="17665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2338089" y="5524500"/>
            <a:ext cx="47395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7077670" y="5524500"/>
            <a:ext cx="45428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6" name="Google Shape;5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50046"/>
            <a:ext cx="5381625" cy="2091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750046"/>
            <a:ext cx="5381625" cy="2091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1" name="Google Shape;601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3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Formulations Mathématiques Officielles</a:t>
            </a:r>
            <a:endParaRPr/>
          </a:p>
        </p:txBody>
      </p:sp>
      <p:pic>
        <p:nvPicPr>
          <p:cNvPr descr="image.png" id="603" name="Google Shape;603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3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605" name="Google Shape;605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3"/>
          <p:cNvSpPr txBox="1"/>
          <p:nvPr/>
        </p:nvSpPr>
        <p:spPr>
          <a:xfrm>
            <a:off x="476250" y="6472225"/>
            <a:ext cx="978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607" name="Google Shape;607;p33"/>
          <p:cNvSpPr txBox="1"/>
          <p:nvPr/>
        </p:nvSpPr>
        <p:spPr>
          <a:xfrm>
            <a:off x="2187959" y="3039516"/>
            <a:ext cx="21487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Moyenne Arithmétique</a:t>
            </a:r>
            <a:endParaRPr/>
          </a:p>
        </p:txBody>
      </p:sp>
      <p:sp>
        <p:nvSpPr>
          <p:cNvPr id="608" name="Google Shape;608;p33"/>
          <p:cNvSpPr txBox="1"/>
          <p:nvPr/>
        </p:nvSpPr>
        <p:spPr>
          <a:xfrm>
            <a:off x="1338262" y="4367063"/>
            <a:ext cx="38481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Sensible aux valeurs aberrantes très élevées ou très faibles.</a:t>
            </a:r>
            <a:endParaRPr/>
          </a:p>
        </p:txBody>
      </p:sp>
      <p:sp>
        <p:nvSpPr>
          <p:cNvPr id="609" name="Google Shape;609;p33"/>
          <p:cNvSpPr txBox="1"/>
          <p:nvPr/>
        </p:nvSpPr>
        <p:spPr>
          <a:xfrm>
            <a:off x="8440578" y="3016750"/>
            <a:ext cx="116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Écart-type</a:t>
            </a:r>
            <a:endParaRPr/>
          </a:p>
        </p:txBody>
      </p:sp>
      <p:sp>
        <p:nvSpPr>
          <p:cNvPr id="610" name="Google Shape;610;p33"/>
          <p:cNvSpPr txBox="1"/>
          <p:nvPr/>
        </p:nvSpPr>
        <p:spPr>
          <a:xfrm>
            <a:off x="7172325" y="4389983"/>
            <a:ext cx="35147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Indique le niveau de dispersion autour de la moyenne.</a:t>
            </a:r>
            <a:endParaRPr/>
          </a:p>
        </p:txBody>
      </p:sp>
      <p:pic>
        <p:nvPicPr>
          <p:cNvPr descr="Formula for the sample mean ($\bar{X}$): $\bar{X} = \frac{1}{n} \sum_{i=1}^{n} x_i$." id="611" name="Google Shape;611;p33"/>
          <p:cNvPicPr preferRelativeResize="0"/>
          <p:nvPr/>
        </p:nvPicPr>
        <p:blipFill rotWithShape="1">
          <a:blip r:embed="rId11">
            <a:alphaModFix/>
          </a:blip>
          <a:srcRect b="20" l="0" r="0" t="30"/>
          <a:stretch/>
        </p:blipFill>
        <p:spPr>
          <a:xfrm>
            <a:off x="2588716" y="3563391"/>
            <a:ext cx="1347043" cy="499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2" name="Google Shape;612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80474" y="3540621"/>
            <a:ext cx="1698426" cy="544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7" name="Google Shape;6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9" name="Google Shape;61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0" name="Google Shape;62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29061"/>
            <a:ext cx="5381625" cy="213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1" name="Google Shape;621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729061"/>
            <a:ext cx="5381625" cy="2133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2" name="Google Shape;622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4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Mesures de Dispersion &amp; Outliers</a:t>
            </a:r>
            <a:endParaRPr/>
          </a:p>
        </p:txBody>
      </p:sp>
      <p:pic>
        <p:nvPicPr>
          <p:cNvPr descr="image.png" id="624" name="Google Shape;624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4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626" name="Google Shape;626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4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95375" y="2995761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Mesures de Dispersion</a:t>
            </a:r>
            <a:endParaRPr/>
          </a:p>
        </p:txBody>
      </p:sp>
      <p:sp>
        <p:nvSpPr>
          <p:cNvPr id="629" name="Google Shape;629;p34"/>
          <p:cNvSpPr txBox="1"/>
          <p:nvPr/>
        </p:nvSpPr>
        <p:spPr>
          <a:xfrm>
            <a:off x="6791325" y="2995761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Détection des Outliers</a:t>
            </a:r>
            <a:endParaRPr/>
          </a:p>
        </p:txBody>
      </p:sp>
      <p:pic>
        <p:nvPicPr>
          <p:cNvPr descr="image.png" id="630" name="Google Shape;630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3010048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4"/>
          <p:cNvSpPr txBox="1"/>
          <p:nvPr/>
        </p:nvSpPr>
        <p:spPr>
          <a:xfrm>
            <a:off x="1000125" y="332913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Écart-Type (Standard Deviation)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Mesure l'écart moyen des données par rapport à la moyenne.</a:t>
            </a:r>
            <a:endParaRPr/>
          </a:p>
        </p:txBody>
      </p:sp>
      <p:sp>
        <p:nvSpPr>
          <p:cNvPr id="632" name="Google Shape;632;p34"/>
          <p:cNvSpPr txBox="1"/>
          <p:nvPr/>
        </p:nvSpPr>
        <p:spPr>
          <a:xfrm>
            <a:off x="1000125" y="383187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Variance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Carré de l'écart-type, quantifie la variabilité globale.</a:t>
            </a:r>
            <a:endParaRPr/>
          </a:p>
        </p:txBody>
      </p:sp>
      <p:sp>
        <p:nvSpPr>
          <p:cNvPr id="633" name="Google Shape;633;p34"/>
          <p:cNvSpPr txBox="1"/>
          <p:nvPr/>
        </p:nvSpPr>
        <p:spPr>
          <a:xfrm>
            <a:off x="1000125" y="412134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Écart Interquartile (IQR)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Différence entre Q3 (75%) et Q1 (25%), très robuste aux extrêmes.</a:t>
            </a:r>
            <a:endParaRPr/>
          </a:p>
        </p:txBody>
      </p:sp>
      <p:pic>
        <p:nvPicPr>
          <p:cNvPr descr="image.png" id="634" name="Google Shape;634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3010048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34"/>
          <p:cNvSpPr txBox="1"/>
          <p:nvPr/>
        </p:nvSpPr>
        <p:spPr>
          <a:xfrm>
            <a:off x="6667500" y="332913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Méthode Z-Score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Détecte les points s'écartant de plus de 3 écarts-types (|Z| &gt; 3).</a:t>
            </a:r>
            <a:endParaRPr/>
          </a:p>
        </p:txBody>
      </p:sp>
      <p:sp>
        <p:nvSpPr>
          <p:cNvPr id="636" name="Google Shape;636;p34"/>
          <p:cNvSpPr txBox="1"/>
          <p:nvPr/>
        </p:nvSpPr>
        <p:spPr>
          <a:xfrm>
            <a:off x="6667500" y="3831877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Méthode IQR (Tukey)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Outlier si valeur &lt; Q1 - 1.5*IQR ou &gt; Q3 + 1.5*IQR.</a:t>
            </a:r>
            <a:endParaRPr/>
          </a:p>
        </p:txBody>
      </p:sp>
      <p:sp>
        <p:nvSpPr>
          <p:cNvPr id="637" name="Google Shape;637;p34"/>
          <p:cNvSpPr txBox="1"/>
          <p:nvPr/>
        </p:nvSpPr>
        <p:spPr>
          <a:xfrm>
            <a:off x="6667500" y="412134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Traitement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Distinguer l'erreur de saisie à supprimer de la fraude ou de l'anomalie métier à étudier.</a:t>
            </a:r>
            <a:endParaRPr/>
          </a:p>
        </p:txBody>
      </p:sp>
      <p:sp>
        <p:nvSpPr>
          <p:cNvPr id="638" name="Google Shape;638;p34"/>
          <p:cNvSpPr txBox="1"/>
          <p:nvPr/>
        </p:nvSpPr>
        <p:spPr>
          <a:xfrm>
            <a:off x="809625" y="331008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39" name="Google Shape;639;p34"/>
          <p:cNvSpPr txBox="1"/>
          <p:nvPr/>
        </p:nvSpPr>
        <p:spPr>
          <a:xfrm>
            <a:off x="809625" y="38128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40" name="Google Shape;640;p34"/>
          <p:cNvSpPr txBox="1"/>
          <p:nvPr/>
        </p:nvSpPr>
        <p:spPr>
          <a:xfrm>
            <a:off x="809625" y="410229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41" name="Google Shape;641;p34"/>
          <p:cNvSpPr txBox="1"/>
          <p:nvPr/>
        </p:nvSpPr>
        <p:spPr>
          <a:xfrm>
            <a:off x="6477000" y="331008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42" name="Google Shape;642;p34"/>
          <p:cNvSpPr txBox="1"/>
          <p:nvPr/>
        </p:nvSpPr>
        <p:spPr>
          <a:xfrm>
            <a:off x="6477000" y="38128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43" name="Google Shape;643;p34"/>
          <p:cNvSpPr txBox="1"/>
          <p:nvPr/>
        </p:nvSpPr>
        <p:spPr>
          <a:xfrm>
            <a:off x="6477000" y="410229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8" name="Google Shape;64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9" name="Google Shape;64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0" name="Google Shape;65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1" name="Google Shape;65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2" name="Google Shape;652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3" name="Google Shape;653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5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Nettoyage &amp; Fiabilisation des Données</a:t>
            </a:r>
            <a:endParaRPr/>
          </a:p>
        </p:txBody>
      </p:sp>
      <p:pic>
        <p:nvPicPr>
          <p:cNvPr descr="image.png" id="655" name="Google Shape;655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5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657" name="Google Shape;657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5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659" name="Google Shape;659;p35"/>
          <p:cNvSpPr txBox="1"/>
          <p:nvPr/>
        </p:nvSpPr>
        <p:spPr>
          <a:xfrm>
            <a:off x="1095375" y="288920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Traitement des Anomalies Courantes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6743700" y="288920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Contrôle Qualité &amp; Audit Data</a:t>
            </a:r>
            <a:endParaRPr/>
          </a:p>
        </p:txBody>
      </p:sp>
      <p:pic>
        <p:nvPicPr>
          <p:cNvPr descr="image.png" id="661" name="Google Shape;661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034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35"/>
          <p:cNvSpPr txBox="1"/>
          <p:nvPr/>
        </p:nvSpPr>
        <p:spPr>
          <a:xfrm>
            <a:off x="1000125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Valeurs manquantes (NULL)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Imputation (moyenne/médiane), suppression ou catégorie 'Inconnu'.</a:t>
            </a:r>
            <a:endParaRPr/>
          </a:p>
        </p:txBody>
      </p:sp>
      <p:sp>
        <p:nvSpPr>
          <p:cNvPr id="663" name="Google Shape;663;p35"/>
          <p:cNvSpPr txBox="1"/>
          <p:nvPr/>
        </p:nvSpPr>
        <p:spPr>
          <a:xfrm>
            <a:off x="1000125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Doublons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Dédoublonnage sur identifiant unique (Deduplication via SQL ROW_NUMBER()).</a:t>
            </a:r>
            <a:endParaRPr/>
          </a:p>
        </p:txBody>
      </p:sp>
      <p:sp>
        <p:nvSpPr>
          <p:cNvPr id="664" name="Google Shape;664;p35"/>
          <p:cNvSpPr txBox="1"/>
          <p:nvPr/>
        </p:nvSpPr>
        <p:spPr>
          <a:xfrm>
            <a:off x="1000125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Formats Incohérents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Standardisation des dates (ISO 8601), devises et casses de texte.</a:t>
            </a:r>
            <a:endParaRPr/>
          </a:p>
        </p:txBody>
      </p:sp>
      <p:pic>
        <p:nvPicPr>
          <p:cNvPr descr="image.png" id="665" name="Google Shape;665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03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5"/>
          <p:cNvSpPr txBox="1"/>
          <p:nvPr/>
        </p:nvSpPr>
        <p:spPr>
          <a:xfrm>
            <a:off x="6667500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Règles de Validation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Vérifier les plages de valeurs (ex: Âge entre 0 et 120 ans).</a:t>
            </a:r>
            <a:endParaRPr/>
          </a:p>
        </p:txBody>
      </p:sp>
      <p:sp>
        <p:nvSpPr>
          <p:cNvPr id="667" name="Google Shape;667;p35"/>
          <p:cNvSpPr txBox="1"/>
          <p:nvPr/>
        </p:nvSpPr>
        <p:spPr>
          <a:xfrm>
            <a:off x="6667500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Unicité des Clés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Garantir qu'aucune clé primaire ne contient de doublon ou de NULL.</a:t>
            </a:r>
            <a:endParaRPr/>
          </a:p>
        </p:txBody>
      </p:sp>
      <p:sp>
        <p:nvSpPr>
          <p:cNvPr id="668" name="Google Shape;668;p35"/>
          <p:cNvSpPr txBox="1"/>
          <p:nvPr/>
        </p:nvSpPr>
        <p:spPr>
          <a:xfrm>
            <a:off x="6667500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Automatisation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Mise en place de tests de données automatisés via dbt-tests ou Great Expectations.</a:t>
            </a:r>
            <a:endParaRPr/>
          </a:p>
        </p:txBody>
      </p:sp>
      <p:sp>
        <p:nvSpPr>
          <p:cNvPr id="669" name="Google Shape;669;p35"/>
          <p:cNvSpPr txBox="1"/>
          <p:nvPr/>
        </p:nvSpPr>
        <p:spPr>
          <a:xfrm>
            <a:off x="809625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70" name="Google Shape;670;p35"/>
          <p:cNvSpPr txBox="1"/>
          <p:nvPr/>
        </p:nvSpPr>
        <p:spPr>
          <a:xfrm>
            <a:off x="809625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809625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72" name="Google Shape;672;p35"/>
          <p:cNvSpPr txBox="1"/>
          <p:nvPr/>
        </p:nvSpPr>
        <p:spPr>
          <a:xfrm>
            <a:off x="6477000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73" name="Google Shape;673;p35"/>
          <p:cNvSpPr txBox="1"/>
          <p:nvPr/>
        </p:nvSpPr>
        <p:spPr>
          <a:xfrm>
            <a:off x="6477000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674" name="Google Shape;674;p35"/>
          <p:cNvSpPr txBox="1"/>
          <p:nvPr/>
        </p:nvSpPr>
        <p:spPr>
          <a:xfrm>
            <a:off x="6477000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9" name="Google Shape;6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0" name="Google Shape;6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1" name="Google Shape;68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2" name="Google Shape;68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3" name="Google Shape;683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6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685" name="Google Shape;685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6"/>
          <p:cNvSpPr txBox="1"/>
          <p:nvPr/>
        </p:nvSpPr>
        <p:spPr>
          <a:xfrm>
            <a:off x="295275" y="32623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Outils BI &amp; Le Langage SQL</a:t>
            </a:r>
            <a:endParaRPr/>
          </a:p>
        </p:txBody>
      </p:sp>
      <p:sp>
        <p:nvSpPr>
          <p:cNvPr id="687" name="Google Shape;687;p36"/>
          <p:cNvSpPr txBox="1"/>
          <p:nvPr/>
        </p:nvSpPr>
        <p:spPr>
          <a:xfrm>
            <a:off x="571500" y="3986212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Comparer les meilleures solutions du marché et structurer son apprentissage SQL.</a:t>
            </a:r>
            <a:endParaRPr/>
          </a:p>
        </p:txBody>
      </p:sp>
      <p:sp>
        <p:nvSpPr>
          <p:cNvPr id="688" name="Google Shape;688;p36"/>
          <p:cNvSpPr txBox="1"/>
          <p:nvPr/>
        </p:nvSpPr>
        <p:spPr>
          <a:xfrm>
            <a:off x="476250" y="6472229"/>
            <a:ext cx="98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3" name="Google Shape;69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4" name="Google Shape;69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5" name="Google Shape;69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6" name="Google Shape;69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7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Comparatif des Solutions BI Populaires</a:t>
            </a:r>
            <a:endParaRPr/>
          </a:p>
        </p:txBody>
      </p:sp>
      <p:pic>
        <p:nvPicPr>
          <p:cNvPr descr="image.png" id="698" name="Google Shape;69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37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700" name="Google Shape;700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1" name="Google Shape;701;p37"/>
          <p:cNvGraphicFramePr/>
          <p:nvPr/>
        </p:nvGraphicFramePr>
        <p:xfrm>
          <a:off x="571500" y="26527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{B65D2777-C8FD-4A94-BA65-D99E425A8E67}</a:tableStyleId>
              </a:tblPr>
              <a:tblGrid>
                <a:gridCol w="1611075"/>
                <a:gridCol w="4419600"/>
                <a:gridCol w="2177050"/>
                <a:gridCol w="2841275"/>
              </a:tblGrid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Outil BI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Points Forts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Langage / Moteur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Cible idéale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Power BI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Intégration Microsoft 365, coût attractif, puissance DAX.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DAX &amp; Power Query (M)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PME, ETI et Grands Groupes M365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Tableau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Visualisations ultra poussées, ergonomie intuitive.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Calculated Fields / VizQL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Entreprises orientées Viz &amp; 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Apache Superset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 Open Source, très léger, ultra personnalisable.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SQL pur &amp; Python Engine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Tech Companies, Scale-ups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Looker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Gouvernance centralisée via LookML, intégration GCP.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LookML (Modeling Layer)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E293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Écosystème Cloud Native Google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2" name="Google Shape;702;p37"/>
          <p:cNvSpPr txBox="1"/>
          <p:nvPr/>
        </p:nvSpPr>
        <p:spPr>
          <a:xfrm>
            <a:off x="571500" y="4862512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 * Key Takeaway : Power BI domine les PME et grands groupes M365, Superset et Looker s'imposent dans les Tech Companies. </a:t>
            </a:r>
            <a:endParaRPr/>
          </a:p>
        </p:txBody>
      </p:sp>
      <p:sp>
        <p:nvSpPr>
          <p:cNvPr id="703" name="Google Shape;703;p37"/>
          <p:cNvSpPr txBox="1"/>
          <p:nvPr/>
        </p:nvSpPr>
        <p:spPr>
          <a:xfrm>
            <a:off x="476250" y="6472225"/>
            <a:ext cx="1044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704" name="Google Shape;704;p37"/>
          <p:cNvSpPr/>
          <p:nvPr/>
        </p:nvSpPr>
        <p:spPr>
          <a:xfrm>
            <a:off x="571500" y="3028950"/>
            <a:ext cx="1611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2182564" y="30289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7"/>
          <p:cNvSpPr/>
          <p:nvPr/>
        </p:nvSpPr>
        <p:spPr>
          <a:xfrm>
            <a:off x="6602164" y="3028950"/>
            <a:ext cx="2177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8779222" y="3028950"/>
            <a:ext cx="2841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7"/>
          <p:cNvSpPr/>
          <p:nvPr/>
        </p:nvSpPr>
        <p:spPr>
          <a:xfrm>
            <a:off x="571500" y="3448050"/>
            <a:ext cx="1611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2182564" y="34480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7"/>
          <p:cNvSpPr/>
          <p:nvPr/>
        </p:nvSpPr>
        <p:spPr>
          <a:xfrm>
            <a:off x="6602164" y="3448050"/>
            <a:ext cx="2177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8779222" y="3448050"/>
            <a:ext cx="2841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7"/>
          <p:cNvSpPr/>
          <p:nvPr/>
        </p:nvSpPr>
        <p:spPr>
          <a:xfrm>
            <a:off x="571500" y="3867150"/>
            <a:ext cx="1611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2182564" y="38671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7"/>
          <p:cNvSpPr/>
          <p:nvPr/>
        </p:nvSpPr>
        <p:spPr>
          <a:xfrm>
            <a:off x="6602164" y="3867150"/>
            <a:ext cx="2177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8779222" y="3867150"/>
            <a:ext cx="2841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7"/>
          <p:cNvSpPr/>
          <p:nvPr/>
        </p:nvSpPr>
        <p:spPr>
          <a:xfrm>
            <a:off x="571500" y="4286250"/>
            <a:ext cx="1611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7"/>
          <p:cNvSpPr/>
          <p:nvPr/>
        </p:nvSpPr>
        <p:spPr>
          <a:xfrm>
            <a:off x="2182564" y="42862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7"/>
          <p:cNvSpPr/>
          <p:nvPr/>
        </p:nvSpPr>
        <p:spPr>
          <a:xfrm>
            <a:off x="6602164" y="4286250"/>
            <a:ext cx="2177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8779222" y="4286250"/>
            <a:ext cx="2841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7"/>
          <p:cNvSpPr/>
          <p:nvPr/>
        </p:nvSpPr>
        <p:spPr>
          <a:xfrm>
            <a:off x="571500" y="4705350"/>
            <a:ext cx="16110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7"/>
          <p:cNvSpPr/>
          <p:nvPr/>
        </p:nvSpPr>
        <p:spPr>
          <a:xfrm>
            <a:off x="2182564" y="4705350"/>
            <a:ext cx="44196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6602164" y="4705350"/>
            <a:ext cx="21770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7"/>
          <p:cNvSpPr/>
          <p:nvPr/>
        </p:nvSpPr>
        <p:spPr>
          <a:xfrm>
            <a:off x="8779222" y="4705350"/>
            <a:ext cx="28412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8" name="Google Shape;7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9" name="Google Shape;72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0" name="Google Shape;73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1" name="Google Shape;73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88393"/>
            <a:ext cx="5381625" cy="281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388393"/>
            <a:ext cx="5381625" cy="2814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7000" y="2988468"/>
            <a:ext cx="4905375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38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SQL : Compétence Incontournable</a:t>
            </a:r>
            <a:endParaRPr/>
          </a:p>
        </p:txBody>
      </p:sp>
      <p:pic>
        <p:nvPicPr>
          <p:cNvPr descr="image.png" id="736" name="Google Shape;736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38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738" name="Google Shape;738;p3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8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740" name="Google Shape;740;p38"/>
          <p:cNvSpPr txBox="1"/>
          <p:nvPr/>
        </p:nvSpPr>
        <p:spPr>
          <a:xfrm>
            <a:off x="1095375" y="2655093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Requêtage de Base à Avancé</a:t>
            </a:r>
            <a:endParaRPr/>
          </a:p>
        </p:txBody>
      </p:sp>
      <p:sp>
        <p:nvSpPr>
          <p:cNvPr id="741" name="Google Shape;741;p38"/>
          <p:cNvSpPr txBox="1"/>
          <p:nvPr/>
        </p:nvSpPr>
        <p:spPr>
          <a:xfrm>
            <a:off x="6810375" y="2655093"/>
            <a:ext cx="480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Exemple : Window Function SQL</a:t>
            </a:r>
            <a:endParaRPr/>
          </a:p>
        </p:txBody>
      </p:sp>
      <p:pic>
        <p:nvPicPr>
          <p:cNvPr descr="image.png" id="742" name="Google Shape;742;p3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9625" y="266938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38"/>
          <p:cNvSpPr txBox="1"/>
          <p:nvPr/>
        </p:nvSpPr>
        <p:spPr>
          <a:xfrm>
            <a:off x="1000125" y="2988468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Filtrage &amp; Agrégation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SELECT, WHERE, GROUP BY, HAVING.</a:t>
            </a:r>
            <a:endParaRPr/>
          </a:p>
        </p:txBody>
      </p:sp>
      <p:sp>
        <p:nvSpPr>
          <p:cNvPr id="744" name="Google Shape;744;p38"/>
          <p:cNvSpPr txBox="1"/>
          <p:nvPr/>
        </p:nvSpPr>
        <p:spPr>
          <a:xfrm>
            <a:off x="1000125" y="3277939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Jointures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INNER JOIN, LEFT JOIN, FULL OUTER JOIN.</a:t>
            </a:r>
            <a:endParaRPr/>
          </a:p>
        </p:txBody>
      </p:sp>
      <p:sp>
        <p:nvSpPr>
          <p:cNvPr id="745" name="Google Shape;745;p38"/>
          <p:cNvSpPr txBox="1"/>
          <p:nvPr/>
        </p:nvSpPr>
        <p:spPr>
          <a:xfrm>
            <a:off x="1000125" y="3567410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Sous-requêtes &amp; CTE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WITH clause pour rendre le code propre.</a:t>
            </a:r>
            <a:endParaRPr/>
          </a:p>
        </p:txBody>
      </p:sp>
      <p:pic>
        <p:nvPicPr>
          <p:cNvPr descr="image.png" id="746" name="Google Shape;746;p3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77000" y="2669381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38"/>
          <p:cNvSpPr txBox="1"/>
          <p:nvPr/>
        </p:nvSpPr>
        <p:spPr>
          <a:xfrm>
            <a:off x="809625" y="29694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748" name="Google Shape;748;p38"/>
          <p:cNvSpPr txBox="1"/>
          <p:nvPr/>
        </p:nvSpPr>
        <p:spPr>
          <a:xfrm>
            <a:off x="809625" y="3258889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749" name="Google Shape;749;p38"/>
          <p:cNvSpPr txBox="1"/>
          <p:nvPr/>
        </p:nvSpPr>
        <p:spPr>
          <a:xfrm>
            <a:off x="809625" y="3548360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4" name="Google Shape;7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5" name="Google Shape;75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6" name="Google Shape;75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7" name="Google Shape;75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92921"/>
            <a:ext cx="3530500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8" name="Google Shape;758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892921"/>
            <a:ext cx="3530649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9" name="Google Shape;759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892921"/>
            <a:ext cx="3530500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0" name="Google Shape;760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9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Les Window Functions Incontournables</a:t>
            </a:r>
            <a:endParaRPr/>
          </a:p>
        </p:txBody>
      </p:sp>
      <p:pic>
        <p:nvPicPr>
          <p:cNvPr descr="image.png" id="762" name="Google Shape;762;p3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9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764" name="Google Shape;764;p3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9"/>
          <p:cNvSpPr txBox="1"/>
          <p:nvPr/>
        </p:nvSpPr>
        <p:spPr>
          <a:xfrm>
            <a:off x="476250" y="6472225"/>
            <a:ext cx="95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766" name="Google Shape;766;p39"/>
          <p:cNvSpPr txBox="1"/>
          <p:nvPr/>
        </p:nvSpPr>
        <p:spPr>
          <a:xfrm>
            <a:off x="809625" y="315962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ROW_NUMBER()</a:t>
            </a:r>
            <a:endParaRPr/>
          </a:p>
        </p:txBody>
      </p:sp>
      <p:sp>
        <p:nvSpPr>
          <p:cNvPr id="767" name="Google Shape;767;p39"/>
          <p:cNvSpPr txBox="1"/>
          <p:nvPr/>
        </p:nvSpPr>
        <p:spPr>
          <a:xfrm>
            <a:off x="809625" y="3492996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Attribue un numéro de ligne unique séquentiel par groupe.</a:t>
            </a:r>
            <a:endParaRPr/>
          </a:p>
        </p:txBody>
      </p:sp>
      <p:sp>
        <p:nvSpPr>
          <p:cNvPr id="768" name="Google Shape;768;p39"/>
          <p:cNvSpPr txBox="1"/>
          <p:nvPr/>
        </p:nvSpPr>
        <p:spPr>
          <a:xfrm>
            <a:off x="809625" y="4033837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Cas d'usage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Dédoublonnage et sélection de la dernière transaction.</a:t>
            </a:r>
            <a:endParaRPr/>
          </a:p>
        </p:txBody>
      </p:sp>
      <p:sp>
        <p:nvSpPr>
          <p:cNvPr id="769" name="Google Shape;769;p39"/>
          <p:cNvSpPr txBox="1"/>
          <p:nvPr/>
        </p:nvSpPr>
        <p:spPr>
          <a:xfrm>
            <a:off x="4568725" y="3159621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RANK() / DENSE_RANK()</a:t>
            </a:r>
            <a:endParaRPr/>
          </a:p>
        </p:txBody>
      </p:sp>
      <p:sp>
        <p:nvSpPr>
          <p:cNvPr id="770" name="Google Shape;770;p39"/>
          <p:cNvSpPr txBox="1"/>
          <p:nvPr/>
        </p:nvSpPr>
        <p:spPr>
          <a:xfrm>
            <a:off x="4568725" y="3492996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Calcule le classement relatif des lignes au sein d'une partition.</a:t>
            </a:r>
            <a:endParaRPr/>
          </a:p>
        </p:txBody>
      </p:sp>
      <p:sp>
        <p:nvSpPr>
          <p:cNvPr id="771" name="Google Shape;771;p39"/>
          <p:cNvSpPr txBox="1"/>
          <p:nvPr/>
        </p:nvSpPr>
        <p:spPr>
          <a:xfrm>
            <a:off x="4568725" y="4033837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Cas d'usage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Top 5 des meilleurs commerciaux par région.</a:t>
            </a:r>
            <a:endParaRPr/>
          </a:p>
        </p:txBody>
      </p:sp>
      <p:sp>
        <p:nvSpPr>
          <p:cNvPr id="772" name="Google Shape;772;p39"/>
          <p:cNvSpPr txBox="1"/>
          <p:nvPr/>
        </p:nvSpPr>
        <p:spPr>
          <a:xfrm>
            <a:off x="8327975" y="315962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LAG() / LEAD()</a:t>
            </a:r>
            <a:endParaRPr/>
          </a:p>
        </p:txBody>
      </p:sp>
      <p:sp>
        <p:nvSpPr>
          <p:cNvPr id="773" name="Google Shape;773;p39"/>
          <p:cNvSpPr txBox="1"/>
          <p:nvPr/>
        </p:nvSpPr>
        <p:spPr>
          <a:xfrm>
            <a:off x="8327975" y="3492996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Accède aux valeurs de la ligne précédente ou suivante.</a:t>
            </a:r>
            <a:endParaRPr/>
          </a:p>
        </p:txBody>
      </p:sp>
      <p:sp>
        <p:nvSpPr>
          <p:cNvPr id="774" name="Google Shape;774;p39"/>
          <p:cNvSpPr txBox="1"/>
          <p:nvPr/>
        </p:nvSpPr>
        <p:spPr>
          <a:xfrm>
            <a:off x="8327975" y="4033837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Cas d'usage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Calcul de la croissance du CA MoM (Mois sur Mois).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9" name="Google Shape;77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0" name="Google Shape;78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2" name="Google Shape;782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3" name="Google Shape;783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40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Optimisation des Performances SQL</a:t>
            </a:r>
            <a:endParaRPr/>
          </a:p>
        </p:txBody>
      </p:sp>
      <p:pic>
        <p:nvPicPr>
          <p:cNvPr descr="image.png" id="786" name="Google Shape;786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40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788" name="Google Shape;788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0"/>
          <p:cNvSpPr txBox="1"/>
          <p:nvPr/>
        </p:nvSpPr>
        <p:spPr>
          <a:xfrm>
            <a:off x="476250" y="6472225"/>
            <a:ext cx="96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790" name="Google Shape;790;p40"/>
          <p:cNvSpPr txBox="1"/>
          <p:nvPr/>
        </p:nvSpPr>
        <p:spPr>
          <a:xfrm>
            <a:off x="1076325" y="288920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Bonnes Pratiques d'Écriture</a:t>
            </a:r>
            <a:endParaRPr/>
          </a:p>
        </p:txBody>
      </p:sp>
      <p:sp>
        <p:nvSpPr>
          <p:cNvPr id="791" name="Google Shape;791;p40"/>
          <p:cNvSpPr txBox="1"/>
          <p:nvPr/>
        </p:nvSpPr>
        <p:spPr>
          <a:xfrm>
            <a:off x="6791325" y="2889200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Partitionnement &amp; Vues</a:t>
            </a:r>
            <a:endParaRPr/>
          </a:p>
        </p:txBody>
      </p:sp>
      <p:pic>
        <p:nvPicPr>
          <p:cNvPr descr="image.png" id="792" name="Google Shape;792;p4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03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40"/>
          <p:cNvSpPr txBox="1"/>
          <p:nvPr/>
        </p:nvSpPr>
        <p:spPr>
          <a:xfrm>
            <a:off x="1000125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Éviter SELECT *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Ne charger que les colonnes nécessaires pour économiser la mémoire RAM/Réseau.</a:t>
            </a:r>
            <a:endParaRPr/>
          </a:p>
        </p:txBody>
      </p:sp>
      <p:sp>
        <p:nvSpPr>
          <p:cNvPr id="794" name="Google Shape;794;p40"/>
          <p:cNvSpPr txBox="1"/>
          <p:nvPr/>
        </p:nvSpPr>
        <p:spPr>
          <a:xfrm>
            <a:off x="1000125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Filtrer le plus tôt possible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Placer les clauses WHERE avant les GROUP BY et JOINs lourds.</a:t>
            </a:r>
            <a:endParaRPr/>
          </a:p>
        </p:txBody>
      </p:sp>
      <p:sp>
        <p:nvSpPr>
          <p:cNvPr id="795" name="Google Shape;795;p40"/>
          <p:cNvSpPr txBox="1"/>
          <p:nvPr/>
        </p:nvSpPr>
        <p:spPr>
          <a:xfrm>
            <a:off x="1000125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Utiliser des Index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S'assurer que les colonnes de jointure (FK/PK) sont correctement indexées.</a:t>
            </a:r>
            <a:endParaRPr/>
          </a:p>
        </p:txBody>
      </p:sp>
      <p:pic>
        <p:nvPicPr>
          <p:cNvPr descr="image.png" id="796" name="Google Shape;796;p4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034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40"/>
          <p:cNvSpPr txBox="1"/>
          <p:nvPr/>
        </p:nvSpPr>
        <p:spPr>
          <a:xfrm>
            <a:off x="6667500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Partitionnement de Tables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Structurer les tables par Date/Mois pour scanner moins de données.</a:t>
            </a:r>
            <a:endParaRPr/>
          </a:p>
        </p:txBody>
      </p:sp>
      <p:sp>
        <p:nvSpPr>
          <p:cNvPr id="798" name="Google Shape;798;p40"/>
          <p:cNvSpPr txBox="1"/>
          <p:nvPr/>
        </p:nvSpPr>
        <p:spPr>
          <a:xfrm>
            <a:off x="6667500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Vues Matérialisées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Pré-calculer les agrégations complexes pour accélérer le reporting BI.</a:t>
            </a:r>
            <a:endParaRPr/>
          </a:p>
        </p:txBody>
      </p:sp>
      <p:sp>
        <p:nvSpPr>
          <p:cNvPr id="799" name="Google Shape;799;p40"/>
          <p:cNvSpPr txBox="1"/>
          <p:nvPr/>
        </p:nvSpPr>
        <p:spPr>
          <a:xfrm>
            <a:off x="6667500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Modélisation Sémantique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Exposer un layer clair et nettoyé aux outils BI via dbt.</a:t>
            </a:r>
            <a:endParaRPr/>
          </a:p>
        </p:txBody>
      </p:sp>
      <p:sp>
        <p:nvSpPr>
          <p:cNvPr id="800" name="Google Shape;800;p40"/>
          <p:cNvSpPr txBox="1"/>
          <p:nvPr/>
        </p:nvSpPr>
        <p:spPr>
          <a:xfrm>
            <a:off x="809625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01" name="Google Shape;801;p40"/>
          <p:cNvSpPr txBox="1"/>
          <p:nvPr/>
        </p:nvSpPr>
        <p:spPr>
          <a:xfrm>
            <a:off x="809625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02" name="Google Shape;802;p40"/>
          <p:cNvSpPr txBox="1"/>
          <p:nvPr/>
        </p:nvSpPr>
        <p:spPr>
          <a:xfrm>
            <a:off x="809625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03" name="Google Shape;803;p40"/>
          <p:cNvSpPr txBox="1"/>
          <p:nvPr/>
        </p:nvSpPr>
        <p:spPr>
          <a:xfrm>
            <a:off x="6477000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04" name="Google Shape;804;p40"/>
          <p:cNvSpPr txBox="1"/>
          <p:nvPr/>
        </p:nvSpPr>
        <p:spPr>
          <a:xfrm>
            <a:off x="6477000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05" name="Google Shape;805;p40"/>
          <p:cNvSpPr txBox="1"/>
          <p:nvPr/>
        </p:nvSpPr>
        <p:spPr>
          <a:xfrm>
            <a:off x="6477000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0" name="Google Shape;81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1" name="Google Shape;81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2" name="Google Shape;81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3" name="Google Shape;81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4" name="Google Shape;814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1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816" name="Google Shape;816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1049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1"/>
          <p:cNvSpPr txBox="1"/>
          <p:nvPr/>
        </p:nvSpPr>
        <p:spPr>
          <a:xfrm>
            <a:off x="295275" y="32623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Gouvernance, Éthique &amp; Roadmap Carrière</a:t>
            </a:r>
            <a:endParaRPr/>
          </a:p>
        </p:txBody>
      </p:sp>
      <p:sp>
        <p:nvSpPr>
          <p:cNvPr id="818" name="Google Shape;818;p41"/>
          <p:cNvSpPr txBox="1"/>
          <p:nvPr/>
        </p:nvSpPr>
        <p:spPr>
          <a:xfrm>
            <a:off x="571500" y="3986212"/>
            <a:ext cx="7620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Sécuriser la donnée, respecter le RGPD et structurer son évolution professionnelle.</a:t>
            </a:r>
            <a:endParaRPr/>
          </a:p>
        </p:txBody>
      </p:sp>
      <p:sp>
        <p:nvSpPr>
          <p:cNvPr id="819" name="Google Shape;819;p41"/>
          <p:cNvSpPr txBox="1"/>
          <p:nvPr/>
        </p:nvSpPr>
        <p:spPr>
          <a:xfrm>
            <a:off x="476250" y="6472225"/>
            <a:ext cx="99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4" name="Google Shape;8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5" name="Google Shape;82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6" name="Google Shape;82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7" name="Google Shape;82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8" name="Google Shape;82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9" name="Google Shape;829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42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Gouvernance des Données &amp; Conformité</a:t>
            </a:r>
            <a:endParaRPr/>
          </a:p>
        </p:txBody>
      </p:sp>
      <p:pic>
        <p:nvPicPr>
          <p:cNvPr descr="image.png" id="831" name="Google Shape;831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42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833" name="Google Shape;833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2"/>
          <p:cNvSpPr txBox="1"/>
          <p:nvPr/>
        </p:nvSpPr>
        <p:spPr>
          <a:xfrm>
            <a:off x="476250" y="6472225"/>
            <a:ext cx="941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835" name="Google Shape;835;p42"/>
          <p:cNvSpPr txBox="1"/>
          <p:nvPr/>
        </p:nvSpPr>
        <p:spPr>
          <a:xfrm>
            <a:off x="1076325" y="288920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Principes du RGPD pour l'Analyst</a:t>
            </a:r>
            <a:endParaRPr/>
          </a:p>
        </p:txBody>
      </p:sp>
      <p:sp>
        <p:nvSpPr>
          <p:cNvPr id="836" name="Google Shape;836;p42"/>
          <p:cNvSpPr txBox="1"/>
          <p:nvPr/>
        </p:nvSpPr>
        <p:spPr>
          <a:xfrm>
            <a:off x="6762750" y="2889200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Sécurité &amp; Gestion des Accès</a:t>
            </a:r>
            <a:endParaRPr/>
          </a:p>
        </p:txBody>
      </p:sp>
      <p:pic>
        <p:nvPicPr>
          <p:cNvPr descr="image.png" id="837" name="Google Shape;837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03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42"/>
          <p:cNvSpPr txBox="1"/>
          <p:nvPr/>
        </p:nvSpPr>
        <p:spPr>
          <a:xfrm>
            <a:off x="1000125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Minimisation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Ne collecter et manipuler que les données strictement utiles.</a:t>
            </a:r>
            <a:endParaRPr/>
          </a:p>
        </p:txBody>
      </p:sp>
      <p:sp>
        <p:nvSpPr>
          <p:cNvPr id="839" name="Google Shape;839;p42"/>
          <p:cNvSpPr txBox="1"/>
          <p:nvPr/>
        </p:nvSpPr>
        <p:spPr>
          <a:xfrm>
            <a:off x="1000125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Anonymisation / Pseudonymisation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Masquer les PII (Nom, Email, Téléphone, Adresse).</a:t>
            </a:r>
            <a:endParaRPr/>
          </a:p>
        </p:txBody>
      </p:sp>
      <p:sp>
        <p:nvSpPr>
          <p:cNvPr id="840" name="Google Shape;840;p42"/>
          <p:cNvSpPr txBox="1"/>
          <p:nvPr/>
        </p:nvSpPr>
        <p:spPr>
          <a:xfrm>
            <a:off x="1000125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Droit à l'oubli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Garantir la suppression effective des données clients sur demande.</a:t>
            </a:r>
            <a:endParaRPr/>
          </a:p>
        </p:txBody>
      </p:sp>
      <p:pic>
        <p:nvPicPr>
          <p:cNvPr descr="image.png" id="841" name="Google Shape;841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034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42"/>
          <p:cNvSpPr txBox="1"/>
          <p:nvPr/>
        </p:nvSpPr>
        <p:spPr>
          <a:xfrm>
            <a:off x="6667500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Row-Level Security (RLS)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Restreindre la vue des données selon le rôle de l'utilisateur.</a:t>
            </a:r>
            <a:endParaRPr/>
          </a:p>
        </p:txBody>
      </p:sp>
      <p:sp>
        <p:nvSpPr>
          <p:cNvPr id="843" name="Google Shape;843;p42"/>
          <p:cNvSpPr txBox="1"/>
          <p:nvPr/>
        </p:nvSpPr>
        <p:spPr>
          <a:xfrm>
            <a:off x="6667500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Lineage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Documenter l'origine et les transformations appliquées à chaque métrique.</a:t>
            </a:r>
            <a:endParaRPr/>
          </a:p>
        </p:txBody>
      </p:sp>
      <p:sp>
        <p:nvSpPr>
          <p:cNvPr id="844" name="Google Shape;844;p42"/>
          <p:cNvSpPr txBox="1"/>
          <p:nvPr/>
        </p:nvSpPr>
        <p:spPr>
          <a:xfrm>
            <a:off x="6667500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Classification TLP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Respecter le niveau de confidentialité (ex: TLP Orange).</a:t>
            </a:r>
            <a:endParaRPr/>
          </a:p>
        </p:txBody>
      </p:sp>
      <p:sp>
        <p:nvSpPr>
          <p:cNvPr id="845" name="Google Shape;845;p42"/>
          <p:cNvSpPr txBox="1"/>
          <p:nvPr/>
        </p:nvSpPr>
        <p:spPr>
          <a:xfrm>
            <a:off x="809625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46" name="Google Shape;846;p42"/>
          <p:cNvSpPr txBox="1"/>
          <p:nvPr/>
        </p:nvSpPr>
        <p:spPr>
          <a:xfrm>
            <a:off x="809625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47" name="Google Shape;847;p42"/>
          <p:cNvSpPr txBox="1"/>
          <p:nvPr/>
        </p:nvSpPr>
        <p:spPr>
          <a:xfrm>
            <a:off x="809625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48" name="Google Shape;848;p42"/>
          <p:cNvSpPr txBox="1"/>
          <p:nvPr/>
        </p:nvSpPr>
        <p:spPr>
          <a:xfrm>
            <a:off x="6477000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49" name="Google Shape;849;p42"/>
          <p:cNvSpPr txBox="1"/>
          <p:nvPr/>
        </p:nvSpPr>
        <p:spPr>
          <a:xfrm>
            <a:off x="6477000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850" name="Google Shape;850;p42"/>
          <p:cNvSpPr txBox="1"/>
          <p:nvPr/>
        </p:nvSpPr>
        <p:spPr>
          <a:xfrm>
            <a:off x="6477000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5" name="Google Shape;85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6" name="Google Shape;8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0996"/>
            <a:ext cx="3530500" cy="2129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0600" y="2730996"/>
            <a:ext cx="3530649" cy="2129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850" y="2730996"/>
            <a:ext cx="3530500" cy="2129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0" name="Google Shape;860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43"/>
          <p:cNvSpPr txBox="1"/>
          <p:nvPr/>
        </p:nvSpPr>
        <p:spPr>
          <a:xfrm>
            <a:off x="878532" y="809625"/>
            <a:ext cx="1127906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Certifications Incontournables</a:t>
            </a:r>
            <a:endParaRPr/>
          </a:p>
        </p:txBody>
      </p:sp>
      <p:sp>
        <p:nvSpPr>
          <p:cNvPr id="862" name="Google Shape;862;p43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863" name="Google Shape;863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862012"/>
            <a:ext cx="19273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43"/>
          <p:cNvSpPr txBox="1"/>
          <p:nvPr/>
        </p:nvSpPr>
        <p:spPr>
          <a:xfrm>
            <a:off x="809625" y="2997696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Microsoft PL-300</a:t>
            </a:r>
            <a:endParaRPr/>
          </a:p>
        </p:txBody>
      </p:sp>
      <p:sp>
        <p:nvSpPr>
          <p:cNvPr id="865" name="Google Shape;865;p43"/>
          <p:cNvSpPr txBox="1"/>
          <p:nvPr/>
        </p:nvSpPr>
        <p:spPr>
          <a:xfrm>
            <a:off x="809625" y="3331071"/>
            <a:ext cx="3054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Intitulé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Power BI Data Analyst Associate.</a:t>
            </a:r>
            <a:endParaRPr/>
          </a:p>
        </p:txBody>
      </p:sp>
      <p:sp>
        <p:nvSpPr>
          <p:cNvPr id="866" name="Google Shape;866;p43"/>
          <p:cNvSpPr txBox="1"/>
          <p:nvPr/>
        </p:nvSpPr>
        <p:spPr>
          <a:xfrm>
            <a:off x="809625" y="3658641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Valeur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Référence absolue sur le marché de la BI d'entreprise.</a:t>
            </a:r>
            <a:endParaRPr/>
          </a:p>
        </p:txBody>
      </p:sp>
      <p:pic>
        <p:nvPicPr>
          <p:cNvPr descr="image.png" id="867" name="Google Shape;867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4199483"/>
            <a:ext cx="30542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43"/>
          <p:cNvSpPr txBox="1"/>
          <p:nvPr/>
        </p:nvSpPr>
        <p:spPr>
          <a:xfrm>
            <a:off x="4568725" y="2997696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dbt Certified Developer</a:t>
            </a:r>
            <a:endParaRPr/>
          </a:p>
        </p:txBody>
      </p:sp>
      <p:sp>
        <p:nvSpPr>
          <p:cNvPr id="869" name="Google Shape;869;p43"/>
          <p:cNvSpPr txBox="1"/>
          <p:nvPr/>
        </p:nvSpPr>
        <p:spPr>
          <a:xfrm>
            <a:off x="4568725" y="3331071"/>
            <a:ext cx="30543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Intitulé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Analytics Engineering Fundamentals.</a:t>
            </a:r>
            <a:endParaRPr/>
          </a:p>
        </p:txBody>
      </p:sp>
      <p:sp>
        <p:nvSpPr>
          <p:cNvPr id="870" name="Google Shape;870;p43"/>
          <p:cNvSpPr txBox="1"/>
          <p:nvPr/>
        </p:nvSpPr>
        <p:spPr>
          <a:xfrm>
            <a:off x="4568725" y="3658641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Valeur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Valorise la maîtrise du SQL moderne et de la modélisation.</a:t>
            </a:r>
            <a:endParaRPr/>
          </a:p>
        </p:txBody>
      </p:sp>
      <p:pic>
        <p:nvPicPr>
          <p:cNvPr descr="image.png" id="871" name="Google Shape;871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68725" y="4199483"/>
            <a:ext cx="3054399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43"/>
          <p:cNvSpPr txBox="1"/>
          <p:nvPr/>
        </p:nvSpPr>
        <p:spPr>
          <a:xfrm>
            <a:off x="8327975" y="2997696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Cloud Core Certs</a:t>
            </a:r>
            <a:endParaRPr/>
          </a:p>
        </p:txBody>
      </p:sp>
      <p:sp>
        <p:nvSpPr>
          <p:cNvPr id="873" name="Google Shape;873;p43"/>
          <p:cNvSpPr txBox="1"/>
          <p:nvPr/>
        </p:nvSpPr>
        <p:spPr>
          <a:xfrm>
            <a:off x="8327975" y="3331071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Exemples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Snowflake SnowPro Core / AWS Data Analytics / GCP Data Engineer.</a:t>
            </a:r>
            <a:endParaRPr/>
          </a:p>
        </p:txBody>
      </p:sp>
      <p:sp>
        <p:nvSpPr>
          <p:cNvPr id="874" name="Google Shape;874;p43"/>
          <p:cNvSpPr txBox="1"/>
          <p:nvPr/>
        </p:nvSpPr>
        <p:spPr>
          <a:xfrm>
            <a:off x="8327975" y="3871912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Valeur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Atteste de la maîtrise des entrepôts de données cloud.</a:t>
            </a:r>
            <a:endParaRPr/>
          </a:p>
        </p:txBody>
      </p:sp>
      <p:pic>
        <p:nvPicPr>
          <p:cNvPr descr="image.png" id="875" name="Google Shape;875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27975" y="4412753"/>
            <a:ext cx="30542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0" name="Google Shape;88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1" name="Google Shape;88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2" name="Google Shape;88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3" name="Google Shape;883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4" name="Google Shape;884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2622500"/>
            <a:ext cx="5381625" cy="2346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5" name="Google Shape;885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44"/>
          <p:cNvSpPr txBox="1"/>
          <p:nvPr/>
        </p:nvSpPr>
        <p:spPr>
          <a:xfrm>
            <a:off x="933450" y="809625"/>
            <a:ext cx="11221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Construire un Portfolio Impactant</a:t>
            </a:r>
            <a:endParaRPr/>
          </a:p>
        </p:txBody>
      </p:sp>
      <p:pic>
        <p:nvPicPr>
          <p:cNvPr descr="image.png" id="887" name="Google Shape;887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4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889" name="Google Shape;889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4"/>
          <p:cNvSpPr txBox="1"/>
          <p:nvPr/>
        </p:nvSpPr>
        <p:spPr>
          <a:xfrm>
            <a:off x="476250" y="6472225"/>
            <a:ext cx="99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891" name="Google Shape;891;p44"/>
          <p:cNvSpPr txBox="1"/>
          <p:nvPr/>
        </p:nvSpPr>
        <p:spPr>
          <a:xfrm>
            <a:off x="1123950" y="2889200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Éléments d'un Portfolio Réussi</a:t>
            </a:r>
            <a:endParaRPr/>
          </a:p>
        </p:txBody>
      </p:sp>
      <p:sp>
        <p:nvSpPr>
          <p:cNvPr id="892" name="Google Shape;892;p44"/>
          <p:cNvSpPr txBox="1"/>
          <p:nvPr/>
        </p:nvSpPr>
        <p:spPr>
          <a:xfrm>
            <a:off x="6743700" y="2889200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Préparer les Tests Techniques</a:t>
            </a:r>
            <a:endParaRPr/>
          </a:p>
        </p:txBody>
      </p:sp>
      <p:pic>
        <p:nvPicPr>
          <p:cNvPr descr="image.png" id="893" name="Google Shape;893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09625" y="29034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44"/>
          <p:cNvSpPr txBox="1"/>
          <p:nvPr/>
        </p:nvSpPr>
        <p:spPr>
          <a:xfrm>
            <a:off x="1000125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Dépôt GitHub propre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Code SQL documenté, scripts de nettoyage et modélisation.</a:t>
            </a:r>
            <a:endParaRPr/>
          </a:p>
        </p:txBody>
      </p:sp>
      <p:sp>
        <p:nvSpPr>
          <p:cNvPr id="895" name="Google Shape;895;p44"/>
          <p:cNvSpPr txBox="1"/>
          <p:nvPr/>
        </p:nvSpPr>
        <p:spPr>
          <a:xfrm>
            <a:off x="1000125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Projets End-to-End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De la donnée brute non nettoyée au dashboard final interactif.</a:t>
            </a:r>
            <a:endParaRPr/>
          </a:p>
        </p:txBody>
      </p:sp>
      <p:sp>
        <p:nvSpPr>
          <p:cNvPr id="896" name="Google Shape;896;p44"/>
          <p:cNvSpPr txBox="1"/>
          <p:nvPr/>
        </p:nvSpPr>
        <p:spPr>
          <a:xfrm>
            <a:off x="1000125" y="4228058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Storytelling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Rédiger un article ou étude de cas expliquant le ROI du projet.</a:t>
            </a:r>
            <a:endParaRPr/>
          </a:p>
        </p:txBody>
      </p:sp>
      <p:pic>
        <p:nvPicPr>
          <p:cNvPr descr="image.png" id="897" name="Google Shape;897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77000" y="2903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44"/>
          <p:cNvSpPr txBox="1"/>
          <p:nvPr/>
        </p:nvSpPr>
        <p:spPr>
          <a:xfrm>
            <a:off x="6667500" y="3222575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SQL Live Coding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S'entraîner sur LeetCode / HackerRank (JOINs, Window Functions).</a:t>
            </a:r>
            <a:endParaRPr/>
          </a:p>
        </p:txBody>
      </p:sp>
      <p:sp>
        <p:nvSpPr>
          <p:cNvPr id="899" name="Google Shape;899;p44"/>
          <p:cNvSpPr txBox="1"/>
          <p:nvPr/>
        </p:nvSpPr>
        <p:spPr>
          <a:xfrm>
            <a:off x="6667500" y="3725316"/>
            <a:ext cx="47148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Cas Pratique Business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Définir un plan de métriques face à un faux besoin client.</a:t>
            </a:r>
            <a:endParaRPr/>
          </a:p>
        </p:txBody>
      </p:sp>
      <p:sp>
        <p:nvSpPr>
          <p:cNvPr id="900" name="Google Shape;900;p44"/>
          <p:cNvSpPr txBox="1"/>
          <p:nvPr/>
        </p:nvSpPr>
        <p:spPr>
          <a:xfrm>
            <a:off x="6667500" y="4228058"/>
            <a:ext cx="4714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Restitution Oral 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Présenter un dashboard à un profil non-technique.</a:t>
            </a:r>
            <a:endParaRPr/>
          </a:p>
        </p:txBody>
      </p:sp>
      <p:sp>
        <p:nvSpPr>
          <p:cNvPr id="901" name="Google Shape;901;p44"/>
          <p:cNvSpPr txBox="1"/>
          <p:nvPr/>
        </p:nvSpPr>
        <p:spPr>
          <a:xfrm>
            <a:off x="809625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02" name="Google Shape;902;p44"/>
          <p:cNvSpPr txBox="1"/>
          <p:nvPr/>
        </p:nvSpPr>
        <p:spPr>
          <a:xfrm>
            <a:off x="809625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03" name="Google Shape;903;p44"/>
          <p:cNvSpPr txBox="1"/>
          <p:nvPr/>
        </p:nvSpPr>
        <p:spPr>
          <a:xfrm>
            <a:off x="809625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04" name="Google Shape;904;p44"/>
          <p:cNvSpPr txBox="1"/>
          <p:nvPr/>
        </p:nvSpPr>
        <p:spPr>
          <a:xfrm>
            <a:off x="6477000" y="3203525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05" name="Google Shape;905;p44"/>
          <p:cNvSpPr txBox="1"/>
          <p:nvPr/>
        </p:nvSpPr>
        <p:spPr>
          <a:xfrm>
            <a:off x="6477000" y="3706266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06" name="Google Shape;906;p44"/>
          <p:cNvSpPr txBox="1"/>
          <p:nvPr/>
        </p:nvSpPr>
        <p:spPr>
          <a:xfrm>
            <a:off x="6477000" y="42090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52FF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1" name="Google Shape;91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2" name="Google Shape;91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3" name="Google Shape;91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4" name="Google Shape;914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92921"/>
            <a:ext cx="3530500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5" name="Google Shape;915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2892921"/>
            <a:ext cx="3530649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6" name="Google Shape;916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2892921"/>
            <a:ext cx="3530500" cy="1805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7" name="Google Shape;917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45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Évolution de Carrière du Data Analyst</a:t>
            </a:r>
            <a:endParaRPr/>
          </a:p>
        </p:txBody>
      </p:sp>
      <p:pic>
        <p:nvPicPr>
          <p:cNvPr descr="image.png" id="919" name="Google Shape;919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45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921" name="Google Shape;921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45"/>
          <p:cNvSpPr txBox="1"/>
          <p:nvPr/>
        </p:nvSpPr>
        <p:spPr>
          <a:xfrm>
            <a:off x="476250" y="6472225"/>
            <a:ext cx="941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923" name="Google Shape;923;p45"/>
          <p:cNvSpPr txBox="1"/>
          <p:nvPr/>
        </p:nvSpPr>
        <p:spPr>
          <a:xfrm>
            <a:off x="809625" y="315962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Voie Expertise Technique</a:t>
            </a:r>
            <a:endParaRPr/>
          </a:p>
        </p:txBody>
      </p:sp>
      <p:sp>
        <p:nvSpPr>
          <p:cNvPr id="924" name="Google Shape;924;p45"/>
          <p:cNvSpPr txBox="1"/>
          <p:nvPr/>
        </p:nvSpPr>
        <p:spPr>
          <a:xfrm>
            <a:off x="809625" y="3492996"/>
            <a:ext cx="3054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Analytics Engineer / Data Engineer</a:t>
            </a:r>
            <a:endParaRPr/>
          </a:p>
        </p:txBody>
      </p:sp>
      <p:sp>
        <p:nvSpPr>
          <p:cNvPr id="925" name="Google Shape;925;p45"/>
          <p:cNvSpPr txBox="1"/>
          <p:nvPr/>
        </p:nvSpPr>
        <p:spPr>
          <a:xfrm>
            <a:off x="809625" y="3820566"/>
            <a:ext cx="30542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Focus sur la modélisation avancée, l'automatisation des pipelines dbt/SQL et l'infrastructure Cloud.</a:t>
            </a:r>
            <a:endParaRPr/>
          </a:p>
        </p:txBody>
      </p:sp>
      <p:sp>
        <p:nvSpPr>
          <p:cNvPr id="926" name="Google Shape;926;p45"/>
          <p:cNvSpPr txBox="1"/>
          <p:nvPr/>
        </p:nvSpPr>
        <p:spPr>
          <a:xfrm>
            <a:off x="4568725" y="3159621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Voie Management &amp; Lead</a:t>
            </a:r>
            <a:endParaRPr/>
          </a:p>
        </p:txBody>
      </p:sp>
      <p:sp>
        <p:nvSpPr>
          <p:cNvPr id="927" name="Google Shape;927;p45"/>
          <p:cNvSpPr txBox="1"/>
          <p:nvPr/>
        </p:nvSpPr>
        <p:spPr>
          <a:xfrm>
            <a:off x="4568725" y="3492996"/>
            <a:ext cx="305439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Lead Data Analyst / Head of Data</a:t>
            </a:r>
            <a:endParaRPr/>
          </a:p>
        </p:txBody>
      </p:sp>
      <p:sp>
        <p:nvSpPr>
          <p:cNvPr id="928" name="Google Shape;928;p45"/>
          <p:cNvSpPr txBox="1"/>
          <p:nvPr/>
        </p:nvSpPr>
        <p:spPr>
          <a:xfrm>
            <a:off x="4568725" y="3820566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Encadrement de l'équipe d'analystes, stratégie globale de la donnée et relation avec le CODIR.</a:t>
            </a:r>
            <a:endParaRPr/>
          </a:p>
        </p:txBody>
      </p:sp>
      <p:sp>
        <p:nvSpPr>
          <p:cNvPr id="929" name="Google Shape;929;p45"/>
          <p:cNvSpPr txBox="1"/>
          <p:nvPr/>
        </p:nvSpPr>
        <p:spPr>
          <a:xfrm>
            <a:off x="8327975" y="315962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Voie Produit &amp; Business</a:t>
            </a:r>
            <a:endParaRPr/>
          </a:p>
        </p:txBody>
      </p:sp>
      <p:sp>
        <p:nvSpPr>
          <p:cNvPr id="930" name="Google Shape;930;p45"/>
          <p:cNvSpPr txBox="1"/>
          <p:nvPr/>
        </p:nvSpPr>
        <p:spPr>
          <a:xfrm>
            <a:off x="8327975" y="3492996"/>
            <a:ext cx="3054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Data Product Owner / Business Partner</a:t>
            </a:r>
            <a:endParaRPr/>
          </a:p>
        </p:txBody>
      </p:sp>
      <p:sp>
        <p:nvSpPr>
          <p:cNvPr id="931" name="Google Shape;931;p45"/>
          <p:cNvSpPr txBox="1"/>
          <p:nvPr/>
        </p:nvSpPr>
        <p:spPr>
          <a:xfrm>
            <a:off x="8327975" y="3820566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Focus sur la valeur produit, le cadrage des roadmaps décisionnelles et l'adoption métier.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6" name="Google Shape;93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7" name="Google Shape;93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8" name="Google Shape;938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3341"/>
            <a:ext cx="2619375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0" name="Google Shape;940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1375" y="3163341"/>
            <a:ext cx="2619375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1" name="Google Shape;94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163341"/>
            <a:ext cx="2619375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2" name="Google Shape;942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01125" y="3163341"/>
            <a:ext cx="2619375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3" name="Google Shape;943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46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Synthèse : Les 4 Piliers du Succès</a:t>
            </a:r>
            <a:endParaRPr/>
          </a:p>
        </p:txBody>
      </p:sp>
      <p:pic>
        <p:nvPicPr>
          <p:cNvPr descr="image.png" id="945" name="Google Shape;945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46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947" name="Google Shape;947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46"/>
          <p:cNvSpPr txBox="1"/>
          <p:nvPr/>
        </p:nvSpPr>
        <p:spPr>
          <a:xfrm>
            <a:off x="476250" y="6472225"/>
            <a:ext cx="991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949" name="Google Shape;949;p46"/>
          <p:cNvSpPr txBox="1"/>
          <p:nvPr/>
        </p:nvSpPr>
        <p:spPr>
          <a:xfrm>
            <a:off x="809625" y="3430041"/>
            <a:ext cx="2250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1. Rigueur SQL</a:t>
            </a:r>
            <a:endParaRPr/>
          </a:p>
        </p:txBody>
      </p:sp>
      <p:sp>
        <p:nvSpPr>
          <p:cNvPr id="950" name="Google Shape;950;p46"/>
          <p:cNvSpPr txBox="1"/>
          <p:nvPr/>
        </p:nvSpPr>
        <p:spPr>
          <a:xfrm>
            <a:off x="809625" y="3763416"/>
            <a:ext cx="2143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Écrire un code propre, performant et documenté.</a:t>
            </a:r>
            <a:endParaRPr/>
          </a:p>
        </p:txBody>
      </p:sp>
      <p:sp>
        <p:nvSpPr>
          <p:cNvPr id="951" name="Google Shape;951;p46"/>
          <p:cNvSpPr txBox="1"/>
          <p:nvPr/>
        </p:nvSpPr>
        <p:spPr>
          <a:xfrm>
            <a:off x="3619500" y="3430041"/>
            <a:ext cx="2250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2. Vision Business</a:t>
            </a:r>
            <a:endParaRPr/>
          </a:p>
        </p:txBody>
      </p:sp>
      <p:sp>
        <p:nvSpPr>
          <p:cNvPr id="952" name="Google Shape;952;p46"/>
          <p:cNvSpPr txBox="1"/>
          <p:nvPr/>
        </p:nvSpPr>
        <p:spPr>
          <a:xfrm>
            <a:off x="3619500" y="3763416"/>
            <a:ext cx="2143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Rester focalisé sur la création de valeur décisionnelle.</a:t>
            </a:r>
            <a:endParaRPr/>
          </a:p>
        </p:txBody>
      </p:sp>
      <p:sp>
        <p:nvSpPr>
          <p:cNvPr id="953" name="Google Shape;953;p46"/>
          <p:cNvSpPr txBox="1"/>
          <p:nvPr/>
        </p:nvSpPr>
        <p:spPr>
          <a:xfrm>
            <a:off x="6429375" y="3430041"/>
            <a:ext cx="2250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3. Storytelling UX</a:t>
            </a:r>
            <a:endParaRPr/>
          </a:p>
        </p:txBody>
      </p:sp>
      <p:sp>
        <p:nvSpPr>
          <p:cNvPr id="954" name="Google Shape;954;p46"/>
          <p:cNvSpPr txBox="1"/>
          <p:nvPr/>
        </p:nvSpPr>
        <p:spPr>
          <a:xfrm>
            <a:off x="6429375" y="3763416"/>
            <a:ext cx="2143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Créer des dashboards simples et intuitifs.</a:t>
            </a:r>
            <a:endParaRPr/>
          </a:p>
        </p:txBody>
      </p:sp>
      <p:sp>
        <p:nvSpPr>
          <p:cNvPr id="955" name="Google Shape;955;p46"/>
          <p:cNvSpPr txBox="1"/>
          <p:nvPr/>
        </p:nvSpPr>
        <p:spPr>
          <a:xfrm>
            <a:off x="9239250" y="3430041"/>
            <a:ext cx="2250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4. Qualité Data</a:t>
            </a:r>
            <a:endParaRPr/>
          </a:p>
        </p:txBody>
      </p:sp>
      <p:sp>
        <p:nvSpPr>
          <p:cNvPr id="956" name="Google Shape;956;p46"/>
          <p:cNvSpPr txBox="1"/>
          <p:nvPr/>
        </p:nvSpPr>
        <p:spPr>
          <a:xfrm>
            <a:off x="9239250" y="3763416"/>
            <a:ext cx="2143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Ne jamais faire de compromis sur l'exactitude des chiffres.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1" name="Google Shape;9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2" name="Google Shape;96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3" name="Google Shape;963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4" name="Google Shape;964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3341"/>
            <a:ext cx="3530500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5" name="Google Shape;965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0600" y="3163341"/>
            <a:ext cx="3530649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6" name="Google Shape;966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9850" y="3163341"/>
            <a:ext cx="3530500" cy="1264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7" name="Google Shape;967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47"/>
          <p:cNvSpPr txBox="1"/>
          <p:nvPr/>
        </p:nvSpPr>
        <p:spPr>
          <a:xfrm>
            <a:off x="962025" y="809625"/>
            <a:ext cx="11191398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Golos Text"/>
                <a:ea typeface="Golos Text"/>
                <a:cs typeface="Golos Text"/>
                <a:sym typeface="Golos Text"/>
              </a:rPr>
              <a:t>Feuille de Route d'Apprentissage</a:t>
            </a:r>
            <a:endParaRPr/>
          </a:p>
        </p:txBody>
      </p:sp>
      <p:pic>
        <p:nvPicPr>
          <p:cNvPr descr="image.png" id="969" name="Google Shape;969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47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971" name="Google Shape;971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862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47"/>
          <p:cNvSpPr txBox="1"/>
          <p:nvPr/>
        </p:nvSpPr>
        <p:spPr>
          <a:xfrm>
            <a:off x="476250" y="6472225"/>
            <a:ext cx="1039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052FF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973" name="Google Shape;973;p47"/>
          <p:cNvSpPr txBox="1"/>
          <p:nvPr/>
        </p:nvSpPr>
        <p:spPr>
          <a:xfrm>
            <a:off x="809625" y="343004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Mois 1-2 : Fondations</a:t>
            </a:r>
            <a:endParaRPr/>
          </a:p>
        </p:txBody>
      </p:sp>
      <p:sp>
        <p:nvSpPr>
          <p:cNvPr id="974" name="Google Shape;974;p47"/>
          <p:cNvSpPr txBox="1"/>
          <p:nvPr/>
        </p:nvSpPr>
        <p:spPr>
          <a:xfrm>
            <a:off x="809625" y="3763416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Maîtrise de SQL (Jointures, Agrégations, CTE) et bases solides sur Excel / Power Query.</a:t>
            </a:r>
            <a:endParaRPr/>
          </a:p>
        </p:txBody>
      </p:sp>
      <p:sp>
        <p:nvSpPr>
          <p:cNvPr id="975" name="Google Shape;975;p47"/>
          <p:cNvSpPr txBox="1"/>
          <p:nvPr/>
        </p:nvSpPr>
        <p:spPr>
          <a:xfrm>
            <a:off x="4568725" y="3430041"/>
            <a:ext cx="3207119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Mois 3-4 : Outil BI &amp; Viz</a:t>
            </a:r>
            <a:endParaRPr/>
          </a:p>
        </p:txBody>
      </p:sp>
      <p:sp>
        <p:nvSpPr>
          <p:cNvPr id="976" name="Google Shape;976;p47"/>
          <p:cNvSpPr txBox="1"/>
          <p:nvPr/>
        </p:nvSpPr>
        <p:spPr>
          <a:xfrm>
            <a:off x="4568725" y="3763416"/>
            <a:ext cx="3054399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Apprentissage approfondi de Power BI (DAX) ou Tableau et création de 3 projets concrets.</a:t>
            </a:r>
            <a:endParaRPr/>
          </a:p>
        </p:txBody>
      </p:sp>
      <p:sp>
        <p:nvSpPr>
          <p:cNvPr id="977" name="Google Shape;977;p47"/>
          <p:cNvSpPr txBox="1"/>
          <p:nvPr/>
        </p:nvSpPr>
        <p:spPr>
          <a:xfrm>
            <a:off x="8327975" y="3430041"/>
            <a:ext cx="320696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Golos Text"/>
                <a:ea typeface="Golos Text"/>
                <a:cs typeface="Golos Text"/>
                <a:sym typeface="Golos Text"/>
              </a:rPr>
              <a:t>Mois 5-6 : Certification</a:t>
            </a:r>
            <a:endParaRPr/>
          </a:p>
        </p:txBody>
      </p:sp>
      <p:sp>
        <p:nvSpPr>
          <p:cNvPr id="978" name="Google Shape;978;p47"/>
          <p:cNvSpPr txBox="1"/>
          <p:nvPr/>
        </p:nvSpPr>
        <p:spPr>
          <a:xfrm>
            <a:off x="8327975" y="3763416"/>
            <a:ext cx="305425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Passage de la certification Microsoft PL-300 et publication du portfolio sur GitHub.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3" name="Google Shape;98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4" name="Google Shape;98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54444" y="261937"/>
            <a:ext cx="116130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5" name="Google Shape;98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7687" y="3971925"/>
            <a:ext cx="3476625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6" name="Google Shape;98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76483" y="6443662"/>
            <a:ext cx="103926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7" name="Google Shape;987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6334125"/>
            <a:ext cx="112395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8" name="Google Shape;988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223837"/>
            <a:ext cx="104388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48"/>
          <p:cNvSpPr txBox="1"/>
          <p:nvPr/>
        </p:nvSpPr>
        <p:spPr>
          <a:xfrm>
            <a:off x="5303564" y="300037"/>
            <a:ext cx="158487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Data Where Life Matters</a:t>
            </a:r>
            <a:endParaRPr/>
          </a:p>
        </p:txBody>
      </p:sp>
      <p:pic>
        <p:nvPicPr>
          <p:cNvPr descr="image.png" id="990" name="Google Shape;990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88123" y="2247900"/>
            <a:ext cx="2215753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48"/>
          <p:cNvSpPr txBox="1"/>
          <p:nvPr/>
        </p:nvSpPr>
        <p:spPr>
          <a:xfrm>
            <a:off x="2696203" y="2705100"/>
            <a:ext cx="679944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Merci pour votre Attention !</a:t>
            </a:r>
            <a:endParaRPr/>
          </a:p>
        </p:txBody>
      </p:sp>
      <p:sp>
        <p:nvSpPr>
          <p:cNvPr id="992" name="Google Shape;992;p48"/>
          <p:cNvSpPr txBox="1"/>
          <p:nvPr/>
        </p:nvSpPr>
        <p:spPr>
          <a:xfrm>
            <a:off x="3267075" y="3429000"/>
            <a:ext cx="56578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Prêt à propulser la culture Data-Driven dans votre organisation ?</a:t>
            </a:r>
            <a:endParaRPr/>
          </a:p>
        </p:txBody>
      </p:sp>
      <p:sp>
        <p:nvSpPr>
          <p:cNvPr id="993" name="Google Shape;993;p48"/>
          <p:cNvSpPr txBox="1"/>
          <p:nvPr/>
        </p:nvSpPr>
        <p:spPr>
          <a:xfrm>
            <a:off x="476250" y="6472225"/>
            <a:ext cx="941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0A5FA"/>
                </a:solidFill>
                <a:latin typeface="Golos Text"/>
                <a:ea typeface="Golos Text"/>
                <a:cs typeface="Golos Text"/>
                <a:sym typeface="Golos Text"/>
              </a:rPr>
              <a:t>Ingedata | R&amp;I</a:t>
            </a:r>
            <a:endParaRPr/>
          </a:p>
        </p:txBody>
      </p:sp>
      <p:sp>
        <p:nvSpPr>
          <p:cNvPr id="994" name="Google Shape;994;p48"/>
          <p:cNvSpPr txBox="1"/>
          <p:nvPr/>
        </p:nvSpPr>
        <p:spPr>
          <a:xfrm>
            <a:off x="4748212" y="4171950"/>
            <a:ext cx="2695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Questions &amp; Échanges</a:t>
            </a:r>
            <a:endParaRPr/>
          </a:p>
        </p:txBody>
      </p:sp>
      <p:sp>
        <p:nvSpPr>
          <p:cNvPr id="995" name="Google Shape;995;p48"/>
          <p:cNvSpPr txBox="1"/>
          <p:nvPr/>
        </p:nvSpPr>
        <p:spPr>
          <a:xfrm>
            <a:off x="4748212" y="4419600"/>
            <a:ext cx="2695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Open Sans"/>
                <a:ea typeface="Open Sans"/>
                <a:cs typeface="Open Sans"/>
                <a:sym typeface="Open Sans"/>
              </a:rPr>
              <a:t>Ingedata | R&amp;I — Data Where Life Matters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